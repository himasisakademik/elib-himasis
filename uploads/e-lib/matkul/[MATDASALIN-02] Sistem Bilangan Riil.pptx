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3" r:id="rId3"/>
    <p:sldId id="257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91" r:id="rId24"/>
    <p:sldId id="294" r:id="rId25"/>
    <p:sldId id="295" r:id="rId26"/>
    <p:sldId id="296" r:id="rId27"/>
    <p:sldId id="297" r:id="rId28"/>
    <p:sldId id="292" r:id="rId29"/>
  </p:sldIdLst>
  <p:sldSz cx="12192000" cy="6858000"/>
  <p:notesSz cx="12192000" cy="6858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8649"/>
    <p:restoredTop sz="94753"/>
  </p:normalViewPr>
  <p:slideViewPr>
    <p:cSldViewPr showGuides="1">
      <p:cViewPr varScale="1">
        <p:scale>
          <a:sx n="39" d="100"/>
          <a:sy n="39" d="100"/>
        </p:scale>
        <p:origin x="184" y="16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9053" y="965961"/>
            <a:ext cx="10673892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3.png"/><Relationship Id="rId7" Type="http://schemas.openxmlformats.org/officeDocument/2006/relationships/image" Target="../media/image2.png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970532"/>
            <a:ext cx="10437875" cy="32156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85704" y="1970532"/>
            <a:ext cx="1603248" cy="14477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609600"/>
            <a:ext cx="10438130" cy="1369060"/>
          </a:xfrm>
          <a:custGeom>
            <a:avLst/>
            <a:gdLst/>
            <a:ahLst/>
            <a:cxnLst/>
            <a:rect l="l" t="t" r="r" b="b"/>
            <a:pathLst>
              <a:path w="10438130" h="1369060">
                <a:moveTo>
                  <a:pt x="10437876" y="0"/>
                </a:moveTo>
                <a:lnTo>
                  <a:pt x="0" y="0"/>
                </a:lnTo>
                <a:lnTo>
                  <a:pt x="0" y="1368552"/>
                </a:lnTo>
                <a:lnTo>
                  <a:pt x="10437876" y="1368552"/>
                </a:lnTo>
                <a:lnTo>
                  <a:pt x="10437876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0585704" y="609600"/>
            <a:ext cx="1603375" cy="1369060"/>
          </a:xfrm>
          <a:custGeom>
            <a:avLst/>
            <a:gdLst/>
            <a:ahLst/>
            <a:cxnLst/>
            <a:rect l="l" t="t" r="r" b="b"/>
            <a:pathLst>
              <a:path w="1603375" h="1369060">
                <a:moveTo>
                  <a:pt x="1603248" y="0"/>
                </a:moveTo>
                <a:lnTo>
                  <a:pt x="0" y="0"/>
                </a:lnTo>
                <a:lnTo>
                  <a:pt x="0" y="1368552"/>
                </a:lnTo>
                <a:lnTo>
                  <a:pt x="1603248" y="1368552"/>
                </a:lnTo>
                <a:lnTo>
                  <a:pt x="1603248" y="0"/>
                </a:lnTo>
                <a:close/>
              </a:path>
            </a:pathLst>
          </a:custGeom>
          <a:solidFill>
            <a:srgbClr val="EF93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9053" y="965961"/>
            <a:ext cx="10673892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9053" y="2057857"/>
            <a:ext cx="10781665" cy="2365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Kotak Teks 4"/>
          <p:cNvSpPr txBox="1"/>
          <p:nvPr/>
        </p:nvSpPr>
        <p:spPr>
          <a:xfrm>
            <a:off x="3050381" y="3244334"/>
            <a:ext cx="61007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5400" spc="-5" dirty="0"/>
              <a:t>Sistem</a:t>
            </a:r>
            <a:r>
              <a:rPr lang="id-ID" sz="5400" spc="-30" dirty="0"/>
              <a:t> </a:t>
            </a:r>
            <a:r>
              <a:rPr lang="id-ID" sz="5400" dirty="0"/>
              <a:t>Bilangan</a:t>
            </a:r>
            <a:r>
              <a:rPr lang="id-ID" sz="5400" spc="-60" dirty="0"/>
              <a:t> </a:t>
            </a:r>
            <a:r>
              <a:rPr lang="id-ID" sz="5400" spc="-5" dirty="0"/>
              <a:t>Riil</a:t>
            </a:r>
            <a:endParaRPr lang="id-ID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053" y="965961"/>
            <a:ext cx="26301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Pendahuluan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759053" y="2359913"/>
            <a:ext cx="7241947" cy="27257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  <a:tab pos="3511550" algn="l"/>
              </a:tabLst>
            </a:pP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Sistem</a:t>
            </a:r>
            <a:r>
              <a:rPr sz="2800" spc="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bilangan</a:t>
            </a:r>
            <a:r>
              <a:rPr sz="2800" spc="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riil	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adalah</a:t>
            </a:r>
            <a:r>
              <a:rPr sz="2800" spc="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himpunan</a:t>
            </a:r>
            <a:r>
              <a:rPr sz="2800" spc="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bilangan</a:t>
            </a:r>
            <a:r>
              <a:rPr sz="2800" spc="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riil</a:t>
            </a:r>
            <a:r>
              <a:rPr sz="2800" spc="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yang </a:t>
            </a:r>
            <a:r>
              <a:rPr sz="2800" spc="-8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disertai</a:t>
            </a:r>
            <a:r>
              <a:rPr sz="2800" spc="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operasi</a:t>
            </a:r>
            <a:r>
              <a:rPr sz="2800" spc="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penjumlahan</a:t>
            </a:r>
            <a:r>
              <a:rPr sz="2800" spc="3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dan</a:t>
            </a:r>
            <a:r>
              <a:rPr sz="2800" spc="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perkalian</a:t>
            </a:r>
            <a:r>
              <a:rPr sz="2800" spc="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sehingga </a:t>
            </a:r>
            <a:r>
              <a:rPr sz="28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memenuhi</a:t>
            </a:r>
            <a:r>
              <a:rPr sz="2800" spc="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aksioma</a:t>
            </a:r>
            <a:r>
              <a:rPr sz="2800" spc="4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tertentu.</a:t>
            </a:r>
            <a:endParaRPr sz="2800" dirty="0">
              <a:latin typeface="Trebuchet MS" panose="020B0603020202020204"/>
              <a:cs typeface="Trebuchet MS" panose="020B0603020202020204"/>
            </a:endParaRPr>
          </a:p>
          <a:p>
            <a:pPr marL="241300" indent="-228600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Komponen</a:t>
            </a:r>
            <a:r>
              <a:rPr sz="2800" spc="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bilangan</a:t>
            </a:r>
            <a:r>
              <a:rPr sz="2800" spc="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riil</a:t>
            </a:r>
            <a:r>
              <a:rPr sz="2800" spc="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dapat</a:t>
            </a:r>
            <a:r>
              <a:rPr sz="2800" spc="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digambarkan</a:t>
            </a:r>
            <a:r>
              <a:rPr sz="2800" spc="4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sbb:</a:t>
            </a:r>
            <a:endParaRPr sz="2800" dirty="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869938" y="1981200"/>
            <a:ext cx="4322062" cy="48672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809478" y="998346"/>
            <a:ext cx="265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053" y="965961"/>
            <a:ext cx="26301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Pendahuluan</a:t>
            </a:r>
            <a:endParaRPr spc="-20" dirty="0"/>
          </a:p>
        </p:txBody>
      </p:sp>
      <p:sp>
        <p:nvSpPr>
          <p:cNvPr id="3" name="object 3"/>
          <p:cNvSpPr/>
          <p:nvPr/>
        </p:nvSpPr>
        <p:spPr>
          <a:xfrm>
            <a:off x="1489583" y="4476750"/>
            <a:ext cx="388620" cy="36830"/>
          </a:xfrm>
          <a:custGeom>
            <a:avLst/>
            <a:gdLst/>
            <a:ahLst/>
            <a:cxnLst/>
            <a:rect l="l" t="t" r="r" b="b"/>
            <a:pathLst>
              <a:path w="388619" h="36829">
                <a:moveTo>
                  <a:pt x="388620" y="0"/>
                </a:moveTo>
                <a:lnTo>
                  <a:pt x="0" y="0"/>
                </a:lnTo>
                <a:lnTo>
                  <a:pt x="0" y="36575"/>
                </a:lnTo>
                <a:lnTo>
                  <a:pt x="388620" y="36575"/>
                </a:lnTo>
                <a:lnTo>
                  <a:pt x="388620" y="0"/>
                </a:lnTo>
                <a:close/>
              </a:path>
            </a:pathLst>
          </a:custGeom>
          <a:solidFill>
            <a:srgbClr val="3A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467995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pc="-10" dirty="0"/>
              <a:t>Himpunan</a:t>
            </a:r>
            <a:r>
              <a:rPr spc="30" dirty="0"/>
              <a:t> </a:t>
            </a:r>
            <a:r>
              <a:rPr spc="-10" dirty="0"/>
              <a:t>bilangan</a:t>
            </a:r>
            <a:r>
              <a:rPr spc="20" dirty="0"/>
              <a:t> </a:t>
            </a:r>
            <a:r>
              <a:rPr spc="-5" dirty="0"/>
              <a:t>riil adalah</a:t>
            </a:r>
            <a:r>
              <a:rPr spc="35" dirty="0"/>
              <a:t> </a:t>
            </a:r>
            <a:r>
              <a:rPr spc="-5" dirty="0"/>
              <a:t>sekumpulan</a:t>
            </a:r>
            <a:r>
              <a:rPr spc="10" dirty="0"/>
              <a:t> </a:t>
            </a:r>
            <a:r>
              <a:rPr spc="-10" dirty="0"/>
              <a:t>bilangan</a:t>
            </a:r>
            <a:r>
              <a:rPr spc="15" dirty="0"/>
              <a:t> </a:t>
            </a:r>
            <a:r>
              <a:rPr spc="-10" dirty="0"/>
              <a:t>yang</a:t>
            </a:r>
            <a:r>
              <a:rPr dirty="0"/>
              <a:t> </a:t>
            </a:r>
            <a:r>
              <a:rPr spc="-10" dirty="0"/>
              <a:t>dapat </a:t>
            </a:r>
            <a:r>
              <a:rPr spc="-830" dirty="0"/>
              <a:t> </a:t>
            </a:r>
            <a:r>
              <a:rPr spc="-10" dirty="0"/>
              <a:t>mengukur</a:t>
            </a:r>
            <a:r>
              <a:rPr spc="-5" dirty="0"/>
              <a:t> </a:t>
            </a:r>
            <a:r>
              <a:rPr spc="-10" dirty="0"/>
              <a:t>panjang,</a:t>
            </a:r>
            <a:r>
              <a:rPr spc="20" dirty="0"/>
              <a:t> </a:t>
            </a:r>
            <a:r>
              <a:rPr spc="-10" dirty="0"/>
              <a:t>bersama-sama</a:t>
            </a:r>
            <a:r>
              <a:rPr spc="60" dirty="0"/>
              <a:t> </a:t>
            </a:r>
            <a:r>
              <a:rPr spc="-10" dirty="0"/>
              <a:t>dengan</a:t>
            </a:r>
            <a:r>
              <a:rPr spc="10" dirty="0"/>
              <a:t> </a:t>
            </a:r>
            <a:r>
              <a:rPr spc="-10" dirty="0"/>
              <a:t>negatifnya</a:t>
            </a:r>
            <a:r>
              <a:rPr spc="40" dirty="0"/>
              <a:t> </a:t>
            </a:r>
            <a:r>
              <a:rPr spc="-10" dirty="0"/>
              <a:t>dan</a:t>
            </a:r>
            <a:r>
              <a:rPr spc="5" dirty="0"/>
              <a:t> </a:t>
            </a:r>
            <a:r>
              <a:rPr spc="-10" dirty="0"/>
              <a:t>nol.</a:t>
            </a:r>
            <a:endParaRPr spc="-10" dirty="0"/>
          </a:p>
          <a:p>
            <a:pPr marL="241300" marR="5080" indent="-228600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pc="-10" dirty="0"/>
              <a:t>Himpunan</a:t>
            </a:r>
            <a:r>
              <a:rPr spc="30" dirty="0"/>
              <a:t> </a:t>
            </a:r>
            <a:r>
              <a:rPr spc="-10" dirty="0"/>
              <a:t>bilangan</a:t>
            </a:r>
            <a:r>
              <a:rPr spc="30" dirty="0"/>
              <a:t> </a:t>
            </a:r>
            <a:r>
              <a:rPr spc="-5" dirty="0"/>
              <a:t>rasional</a:t>
            </a:r>
            <a:r>
              <a:rPr spc="20" dirty="0"/>
              <a:t> </a:t>
            </a:r>
            <a:r>
              <a:rPr spc="-10" dirty="0"/>
              <a:t>adalah</a:t>
            </a:r>
            <a:r>
              <a:rPr spc="40" dirty="0"/>
              <a:t> </a:t>
            </a:r>
            <a:r>
              <a:rPr spc="-10" dirty="0"/>
              <a:t>bilangan</a:t>
            </a:r>
            <a:r>
              <a:rPr spc="20" dirty="0"/>
              <a:t> </a:t>
            </a:r>
            <a:r>
              <a:rPr spc="-10" dirty="0"/>
              <a:t>yang</a:t>
            </a:r>
            <a:r>
              <a:rPr spc="5" dirty="0"/>
              <a:t> </a:t>
            </a:r>
            <a:r>
              <a:rPr spc="-10" dirty="0"/>
              <a:t>dapat</a:t>
            </a:r>
            <a:r>
              <a:rPr spc="35" dirty="0"/>
              <a:t> </a:t>
            </a:r>
            <a:r>
              <a:rPr spc="-10" dirty="0"/>
              <a:t>dituliskan </a:t>
            </a:r>
            <a:r>
              <a:rPr spc="-830" dirty="0"/>
              <a:t> </a:t>
            </a:r>
            <a:r>
              <a:rPr spc="-5" dirty="0"/>
              <a:t>dalam</a:t>
            </a:r>
            <a:r>
              <a:rPr dirty="0"/>
              <a:t> </a:t>
            </a:r>
            <a:r>
              <a:rPr spc="-10" dirty="0"/>
              <a:t>bentuk</a:t>
            </a:r>
            <a:endParaRPr spc="-10" dirty="0"/>
          </a:p>
          <a:p>
            <a:pPr marL="730250">
              <a:lnSpc>
                <a:spcPct val="100000"/>
              </a:lnSpc>
              <a:spcBef>
                <a:spcPts val="130"/>
              </a:spcBef>
            </a:pPr>
            <a:r>
              <a:rPr sz="3200" spc="320" dirty="0">
                <a:latin typeface="Cambria Math" panose="02040503050406030204"/>
                <a:cs typeface="Cambria Math" panose="02040503050406030204"/>
              </a:rPr>
              <a:t>𝑚</a:t>
            </a:r>
            <a:endParaRPr sz="3200" dirty="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5049" y="4516577"/>
            <a:ext cx="291465" cy="516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200" spc="440" dirty="0">
                <a:solidFill>
                  <a:srgbClr val="3A3838"/>
                </a:solidFill>
                <a:latin typeface="Cambria Math" panose="02040503050406030204"/>
                <a:cs typeface="Cambria Math" panose="02040503050406030204"/>
              </a:rPr>
              <a:t>𝑛</a:t>
            </a:r>
            <a:endParaRPr sz="3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88132" y="4288282"/>
            <a:ext cx="55289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m,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n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bilangan</a:t>
            </a:r>
            <a:r>
              <a:rPr sz="2800" spc="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bulat,</a:t>
            </a:r>
            <a:r>
              <a:rPr sz="2800" spc="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dengan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n ≠</a:t>
            </a:r>
            <a:r>
              <a:rPr sz="2800" spc="-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0.</a:t>
            </a:r>
            <a:endParaRPr sz="280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9053" y="5044566"/>
            <a:ext cx="1000887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9230" marR="5080" indent="-1771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89865" algn="l"/>
              </a:tabLst>
            </a:pP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Apakah</a:t>
            </a:r>
            <a:r>
              <a:rPr sz="2800" spc="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bilangan-bilangan</a:t>
            </a:r>
            <a:r>
              <a:rPr sz="2800" spc="5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rasional</a:t>
            </a:r>
            <a:r>
              <a:rPr sz="2800" spc="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berfungsi</a:t>
            </a:r>
            <a:r>
              <a:rPr sz="2800" spc="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mengukur</a:t>
            </a:r>
            <a:r>
              <a:rPr sz="28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semua </a:t>
            </a:r>
            <a:r>
              <a:rPr sz="2800" spc="-8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panjang?</a:t>
            </a:r>
            <a:r>
              <a:rPr sz="2800" spc="-3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Tidak.</a:t>
            </a:r>
            <a:r>
              <a:rPr sz="2800" spc="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Fakta</a:t>
            </a:r>
            <a:r>
              <a:rPr sz="2800" spc="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ini</a:t>
            </a:r>
            <a:r>
              <a:rPr sz="28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ditemukan</a:t>
            </a:r>
            <a:r>
              <a:rPr sz="2800" spc="3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oleh</a:t>
            </a:r>
            <a:r>
              <a:rPr sz="2800" spc="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orang</a:t>
            </a:r>
            <a:r>
              <a:rPr sz="2800" spc="-5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4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Yunani</a:t>
            </a:r>
            <a:r>
              <a:rPr sz="2800" spc="-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kuno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beberapa</a:t>
            </a:r>
            <a:r>
              <a:rPr sz="2800" spc="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abad</a:t>
            </a:r>
            <a:r>
              <a:rPr sz="2800" spc="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sebelum</a:t>
            </a:r>
            <a:r>
              <a:rPr sz="28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masehi.</a:t>
            </a:r>
            <a:endParaRPr sz="280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09478" y="998346"/>
            <a:ext cx="265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4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053" y="965961"/>
            <a:ext cx="26301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Pendahuluan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759053" y="2065477"/>
            <a:ext cx="57353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Kita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lihat</a:t>
            </a:r>
            <a:r>
              <a:rPr sz="2800" spc="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sebuah</a:t>
            </a:r>
            <a:r>
              <a:rPr sz="28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segitiga</a:t>
            </a:r>
            <a:r>
              <a:rPr sz="2800" spc="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siku-siku</a:t>
            </a:r>
            <a:endParaRPr sz="28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6424" y="5135117"/>
            <a:ext cx="424180" cy="342900"/>
          </a:xfrm>
          <a:custGeom>
            <a:avLst/>
            <a:gdLst/>
            <a:ahLst/>
            <a:cxnLst/>
            <a:rect l="l" t="t" r="r" b="b"/>
            <a:pathLst>
              <a:path w="424180" h="342900">
                <a:moveTo>
                  <a:pt x="423722" y="0"/>
                </a:moveTo>
                <a:lnTo>
                  <a:pt x="227114" y="0"/>
                </a:lnTo>
                <a:lnTo>
                  <a:pt x="227114" y="634"/>
                </a:lnTo>
                <a:lnTo>
                  <a:pt x="203733" y="634"/>
                </a:lnTo>
                <a:lnTo>
                  <a:pt x="118084" y="296544"/>
                </a:lnTo>
                <a:lnTo>
                  <a:pt x="56870" y="162051"/>
                </a:lnTo>
                <a:lnTo>
                  <a:pt x="0" y="188086"/>
                </a:lnTo>
                <a:lnTo>
                  <a:pt x="5384" y="201040"/>
                </a:lnTo>
                <a:lnTo>
                  <a:pt x="34683" y="188086"/>
                </a:lnTo>
                <a:lnTo>
                  <a:pt x="106464" y="342391"/>
                </a:lnTo>
                <a:lnTo>
                  <a:pt x="123278" y="342391"/>
                </a:lnTo>
                <a:lnTo>
                  <a:pt x="216560" y="23748"/>
                </a:lnTo>
                <a:lnTo>
                  <a:pt x="247942" y="23748"/>
                </a:lnTo>
                <a:lnTo>
                  <a:pt x="247942" y="22859"/>
                </a:lnTo>
                <a:lnTo>
                  <a:pt x="423722" y="22859"/>
                </a:lnTo>
                <a:lnTo>
                  <a:pt x="423722" y="0"/>
                </a:lnTo>
                <a:close/>
              </a:path>
            </a:pathLst>
          </a:custGeom>
          <a:solidFill>
            <a:srgbClr val="3A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59053" y="5027218"/>
            <a:ext cx="10915650" cy="145859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241300" marR="5080" indent="-228600" algn="just">
              <a:lnSpc>
                <a:spcPct val="111000"/>
              </a:lnSpc>
              <a:spcBef>
                <a:spcPts val="150"/>
              </a:spcBef>
              <a:buClr>
                <a:srgbClr val="3A3838"/>
              </a:buClr>
              <a:buFont typeface="Arial MT"/>
              <a:buChar char="•"/>
              <a:tabLst>
                <a:tab pos="474980" algn="l"/>
              </a:tabLst>
            </a:pPr>
            <a:r>
              <a:rPr dirty="0"/>
              <a:t>	</a:t>
            </a:r>
            <a:r>
              <a:rPr sz="2800" spc="-5" dirty="0">
                <a:solidFill>
                  <a:srgbClr val="3A3838"/>
                </a:solidFill>
                <a:latin typeface="Cambria Math" panose="02040503050406030204"/>
                <a:cs typeface="Cambria Math" panose="02040503050406030204"/>
              </a:rPr>
              <a:t>2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merupakan panjang sisi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miring sebuah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segitiga, tetapi bilangan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ini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tidak dapat dituliskan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sebagai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suatu hasil bagi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2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bilangan bulat. </a:t>
            </a:r>
            <a:r>
              <a:rPr sz="2800" spc="-8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Jadi</a:t>
            </a:r>
            <a:r>
              <a:rPr sz="28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bilangan</a:t>
            </a:r>
            <a:r>
              <a:rPr sz="2800" spc="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tersebut</a:t>
            </a:r>
            <a:r>
              <a:rPr sz="2800" spc="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adalah</a:t>
            </a:r>
            <a:r>
              <a:rPr sz="2800" spc="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bilangan</a:t>
            </a:r>
            <a:r>
              <a:rPr sz="2800" spc="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irrasional.</a:t>
            </a:r>
            <a:endParaRPr sz="28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766060" y="2631948"/>
            <a:ext cx="2057400" cy="188975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809478" y="998346"/>
            <a:ext cx="265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5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8775" y="2158745"/>
            <a:ext cx="424180" cy="342900"/>
          </a:xfrm>
          <a:custGeom>
            <a:avLst/>
            <a:gdLst/>
            <a:ahLst/>
            <a:cxnLst/>
            <a:rect l="l" t="t" r="r" b="b"/>
            <a:pathLst>
              <a:path w="424179" h="342900">
                <a:moveTo>
                  <a:pt x="423672" y="0"/>
                </a:moveTo>
                <a:lnTo>
                  <a:pt x="227075" y="0"/>
                </a:lnTo>
                <a:lnTo>
                  <a:pt x="227075" y="634"/>
                </a:lnTo>
                <a:lnTo>
                  <a:pt x="203707" y="634"/>
                </a:lnTo>
                <a:lnTo>
                  <a:pt x="117982" y="296544"/>
                </a:lnTo>
                <a:lnTo>
                  <a:pt x="56769" y="162051"/>
                </a:lnTo>
                <a:lnTo>
                  <a:pt x="0" y="188087"/>
                </a:lnTo>
                <a:lnTo>
                  <a:pt x="5333" y="201040"/>
                </a:lnTo>
                <a:lnTo>
                  <a:pt x="34671" y="188087"/>
                </a:lnTo>
                <a:lnTo>
                  <a:pt x="106425" y="342391"/>
                </a:lnTo>
                <a:lnTo>
                  <a:pt x="123190" y="342391"/>
                </a:lnTo>
                <a:lnTo>
                  <a:pt x="216534" y="23749"/>
                </a:lnTo>
                <a:lnTo>
                  <a:pt x="247903" y="23749"/>
                </a:lnTo>
                <a:lnTo>
                  <a:pt x="247903" y="22859"/>
                </a:lnTo>
                <a:lnTo>
                  <a:pt x="423672" y="22859"/>
                </a:lnTo>
                <a:lnTo>
                  <a:pt x="423672" y="0"/>
                </a:lnTo>
                <a:close/>
              </a:path>
            </a:pathLst>
          </a:custGeom>
          <a:solidFill>
            <a:srgbClr val="3A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644763" y="2154173"/>
            <a:ext cx="424180" cy="342900"/>
          </a:xfrm>
          <a:custGeom>
            <a:avLst/>
            <a:gdLst/>
            <a:ahLst/>
            <a:cxnLst/>
            <a:rect l="l" t="t" r="r" b="b"/>
            <a:pathLst>
              <a:path w="424179" h="342900">
                <a:moveTo>
                  <a:pt x="423671" y="0"/>
                </a:moveTo>
                <a:lnTo>
                  <a:pt x="227075" y="0"/>
                </a:lnTo>
                <a:lnTo>
                  <a:pt x="227075" y="635"/>
                </a:lnTo>
                <a:lnTo>
                  <a:pt x="203707" y="635"/>
                </a:lnTo>
                <a:lnTo>
                  <a:pt x="117982" y="296545"/>
                </a:lnTo>
                <a:lnTo>
                  <a:pt x="56768" y="162051"/>
                </a:lnTo>
                <a:lnTo>
                  <a:pt x="0" y="188087"/>
                </a:lnTo>
                <a:lnTo>
                  <a:pt x="5333" y="201040"/>
                </a:lnTo>
                <a:lnTo>
                  <a:pt x="34670" y="188087"/>
                </a:lnTo>
                <a:lnTo>
                  <a:pt x="106425" y="342391"/>
                </a:lnTo>
                <a:lnTo>
                  <a:pt x="123189" y="342391"/>
                </a:lnTo>
                <a:lnTo>
                  <a:pt x="216534" y="23749"/>
                </a:lnTo>
                <a:lnTo>
                  <a:pt x="247903" y="23749"/>
                </a:lnTo>
                <a:lnTo>
                  <a:pt x="247903" y="22860"/>
                </a:lnTo>
                <a:lnTo>
                  <a:pt x="423671" y="22860"/>
                </a:lnTo>
                <a:lnTo>
                  <a:pt x="423671" y="0"/>
                </a:lnTo>
                <a:close/>
              </a:path>
            </a:pathLst>
          </a:custGeom>
          <a:solidFill>
            <a:srgbClr val="3A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16585" y="2520885"/>
            <a:ext cx="10958830" cy="2982868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00"/>
              </a:spcBef>
              <a:buFont typeface="Arial MT"/>
              <a:buChar char="•"/>
              <a:tabLst>
                <a:tab pos="241300" algn="l"/>
                <a:tab pos="7447280" algn="l"/>
                <a:tab pos="8113395" algn="l"/>
              </a:tabLst>
            </a:pP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Contoh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bilangan</a:t>
            </a:r>
            <a:r>
              <a:rPr sz="2800" spc="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irrasional</a:t>
            </a:r>
            <a:r>
              <a:rPr sz="2800" spc="4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yang</a:t>
            </a:r>
            <a:r>
              <a:rPr sz="2800" spc="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lain</a:t>
            </a:r>
            <a:r>
              <a:rPr sz="2800" spc="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adalah	</a:t>
            </a:r>
            <a:r>
              <a:rPr sz="2800" spc="-5" dirty="0">
                <a:solidFill>
                  <a:srgbClr val="3A3838"/>
                </a:solidFill>
                <a:latin typeface="Cambria Math" panose="02040503050406030204"/>
                <a:cs typeface="Cambria Math" panose="02040503050406030204"/>
              </a:rPr>
              <a:t>3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,	</a:t>
            </a:r>
            <a:r>
              <a:rPr sz="2800" spc="-5" dirty="0">
                <a:solidFill>
                  <a:srgbClr val="3A3838"/>
                </a:solidFill>
                <a:latin typeface="Cambria Math" panose="02040503050406030204"/>
                <a:cs typeface="Cambria Math" panose="02040503050406030204"/>
              </a:rPr>
              <a:t>5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,</a:t>
            </a:r>
            <a:r>
              <a:rPr sz="2800" spc="-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Symbol" panose="05050102010706020507"/>
                <a:cs typeface="Symbol" panose="05050102010706020507"/>
              </a:rPr>
              <a:t></a:t>
            </a:r>
            <a:r>
              <a:rPr sz="2800" spc="125" dirty="0">
                <a:solidFill>
                  <a:srgbClr val="3A383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dan</a:t>
            </a:r>
            <a:r>
              <a:rPr sz="2800" spc="-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lain-lain</a:t>
            </a:r>
            <a:endParaRPr sz="2800" dirty="0">
              <a:latin typeface="Trebuchet MS" panose="020B0603020202020204"/>
              <a:cs typeface="Trebuchet MS" panose="020B0603020202020204"/>
            </a:endParaRPr>
          </a:p>
          <a:p>
            <a:pPr marL="241300" marR="5080" indent="-228600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Secara</a:t>
            </a:r>
            <a:r>
              <a:rPr sz="2800" spc="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geometri,</a:t>
            </a:r>
            <a:r>
              <a:rPr sz="2800" spc="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sistem</a:t>
            </a:r>
            <a:r>
              <a:rPr sz="2800" spc="3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bilangan</a:t>
            </a:r>
            <a:r>
              <a:rPr sz="2800" spc="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riil</a:t>
            </a:r>
            <a:r>
              <a:rPr sz="28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digambarkan</a:t>
            </a:r>
            <a:r>
              <a:rPr sz="2800" spc="5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pada</a:t>
            </a:r>
            <a:r>
              <a:rPr sz="2800" spc="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suatu</a:t>
            </a:r>
            <a:r>
              <a:rPr sz="2800" spc="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garis </a:t>
            </a:r>
            <a:r>
              <a:rPr sz="2800" spc="-8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bilangan.</a:t>
            </a:r>
            <a:endParaRPr sz="2800" dirty="0">
              <a:latin typeface="Trebuchet MS" panose="020B0603020202020204"/>
              <a:cs typeface="Trebuchet MS" panose="020B0603020202020204"/>
            </a:endParaRPr>
          </a:p>
          <a:p>
            <a:pPr marL="241300" marR="1281430" indent="-228600">
              <a:lnSpc>
                <a:spcPct val="100000"/>
              </a:lnSpc>
              <a:spcBef>
                <a:spcPts val="99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Dari</a:t>
            </a:r>
            <a:r>
              <a:rPr sz="2800" spc="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garis</a:t>
            </a:r>
            <a:r>
              <a:rPr sz="28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bilangan</a:t>
            </a:r>
            <a:r>
              <a:rPr sz="2800" spc="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tersebut,</a:t>
            </a:r>
            <a:r>
              <a:rPr sz="2800" spc="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muncul</a:t>
            </a:r>
            <a:r>
              <a:rPr sz="2800" spc="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suatu</a:t>
            </a:r>
            <a:r>
              <a:rPr sz="2800" spc="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yang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dinamakan </a:t>
            </a:r>
            <a:r>
              <a:rPr sz="2800" spc="-8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interval.</a:t>
            </a:r>
            <a:r>
              <a:rPr sz="2800" spc="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Interval</a:t>
            </a:r>
            <a:r>
              <a:rPr sz="2800" spc="-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yaitu</a:t>
            </a:r>
            <a:r>
              <a:rPr sz="2800" spc="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suatu</a:t>
            </a:r>
            <a:r>
              <a:rPr sz="2800" spc="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himpunan</a:t>
            </a:r>
            <a:r>
              <a:rPr sz="2800" spc="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bagian</a:t>
            </a:r>
            <a:r>
              <a:rPr sz="2800" spc="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dari</a:t>
            </a:r>
            <a:r>
              <a:rPr sz="2800" spc="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R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yang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memenuhi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pertidaksamaan</a:t>
            </a:r>
            <a:r>
              <a:rPr sz="2800" spc="5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 err="1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tertentu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.</a:t>
            </a:r>
            <a:endParaRPr sz="280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59053" y="965961"/>
            <a:ext cx="103162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62845" algn="l"/>
              </a:tabLst>
            </a:pPr>
            <a:r>
              <a:rPr spc="-170" dirty="0"/>
              <a:t>P</a:t>
            </a:r>
            <a:r>
              <a:rPr spc="-5" dirty="0"/>
              <a:t>e</a:t>
            </a:r>
            <a:r>
              <a:rPr spc="5" dirty="0"/>
              <a:t>n</a:t>
            </a:r>
            <a:r>
              <a:rPr spc="-5" dirty="0"/>
              <a:t>da</a:t>
            </a:r>
            <a:r>
              <a:rPr spc="10" dirty="0"/>
              <a:t>h</a:t>
            </a:r>
            <a:r>
              <a:rPr spc="-5" dirty="0"/>
              <a:t>ulu</a:t>
            </a:r>
            <a:r>
              <a:rPr spc="5" dirty="0"/>
              <a:t>a</a:t>
            </a:r>
            <a:r>
              <a:rPr dirty="0"/>
              <a:t>n	</a:t>
            </a:r>
            <a:r>
              <a:rPr sz="5400" baseline="-4000" dirty="0"/>
              <a:t>6</a:t>
            </a:r>
            <a:endParaRPr sz="5400" baseline="-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053" y="965961"/>
            <a:ext cx="26301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Pendahuluan</a:t>
            </a:r>
            <a:endParaRPr spc="-2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9600" y="2590800"/>
            <a:ext cx="5122164" cy="40462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809478" y="998346"/>
            <a:ext cx="265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7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" name="Kotak Teks 5"/>
          <p:cNvSpPr txBox="1"/>
          <p:nvPr/>
        </p:nvSpPr>
        <p:spPr>
          <a:xfrm>
            <a:off x="457200" y="2221468"/>
            <a:ext cx="868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Definisi</a:t>
            </a:r>
            <a:r>
              <a:rPr lang="id-ID" sz="1800" spc="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lang="id-ID" sz="1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interval,</a:t>
            </a:r>
            <a:r>
              <a:rPr lang="id-ID" sz="1800" spc="4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lang="id-ID" sz="1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notasi</a:t>
            </a:r>
            <a:r>
              <a:rPr lang="id-ID" sz="1800" spc="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lang="id-ID" sz="1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dan</a:t>
            </a:r>
            <a:r>
              <a:rPr lang="id-ID" sz="1800" spc="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lang="id-ID" sz="1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gambarnya</a:t>
            </a:r>
            <a:r>
              <a:rPr lang="id-ID" sz="1800" spc="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lang="id-ID" sz="1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adalah</a:t>
            </a:r>
            <a:r>
              <a:rPr lang="id-ID" sz="1800" spc="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lang="id-ID" sz="1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sebagai</a:t>
            </a:r>
            <a:r>
              <a:rPr lang="id-ID" sz="1800" spc="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lang="id-ID" sz="1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berikut:</a:t>
            </a:r>
            <a:endParaRPr lang="id-ID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053" y="965961"/>
            <a:ext cx="32600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Pertidaksamaan</a:t>
            </a:r>
            <a:endParaRPr spc="-15" dirty="0"/>
          </a:p>
        </p:txBody>
      </p:sp>
      <p:sp>
        <p:nvSpPr>
          <p:cNvPr id="3" name="object 3"/>
          <p:cNvSpPr/>
          <p:nvPr/>
        </p:nvSpPr>
        <p:spPr>
          <a:xfrm>
            <a:off x="937018" y="4154423"/>
            <a:ext cx="561340" cy="22860"/>
          </a:xfrm>
          <a:custGeom>
            <a:avLst/>
            <a:gdLst/>
            <a:ahLst/>
            <a:cxnLst/>
            <a:rect l="l" t="t" r="r" b="b"/>
            <a:pathLst>
              <a:path w="561340" h="22860">
                <a:moveTo>
                  <a:pt x="560832" y="0"/>
                </a:moveTo>
                <a:lnTo>
                  <a:pt x="0" y="0"/>
                </a:lnTo>
                <a:lnTo>
                  <a:pt x="0" y="22859"/>
                </a:lnTo>
                <a:lnTo>
                  <a:pt x="560832" y="22859"/>
                </a:lnTo>
                <a:lnTo>
                  <a:pt x="560832" y="0"/>
                </a:lnTo>
                <a:close/>
              </a:path>
            </a:pathLst>
          </a:custGeom>
          <a:solidFill>
            <a:srgbClr val="3A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95601" y="4154423"/>
            <a:ext cx="568960" cy="22860"/>
          </a:xfrm>
          <a:custGeom>
            <a:avLst/>
            <a:gdLst/>
            <a:ahLst/>
            <a:cxnLst/>
            <a:rect l="l" t="t" r="r" b="b"/>
            <a:pathLst>
              <a:path w="568960" h="22860">
                <a:moveTo>
                  <a:pt x="568451" y="0"/>
                </a:moveTo>
                <a:lnTo>
                  <a:pt x="0" y="0"/>
                </a:lnTo>
                <a:lnTo>
                  <a:pt x="0" y="22859"/>
                </a:lnTo>
                <a:lnTo>
                  <a:pt x="568451" y="22859"/>
                </a:lnTo>
                <a:lnTo>
                  <a:pt x="568451" y="0"/>
                </a:lnTo>
                <a:close/>
              </a:path>
            </a:pathLst>
          </a:custGeom>
          <a:solidFill>
            <a:srgbClr val="3A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41655" y="2216023"/>
            <a:ext cx="11045825" cy="3296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5300" marR="30480" indent="-45783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"/>
              <a:tabLst>
                <a:tab pos="495300" algn="l"/>
                <a:tab pos="495300" algn="l"/>
              </a:tabLst>
            </a:pPr>
            <a:r>
              <a:rPr sz="2800" spc="-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Pertidaksamaan</a:t>
            </a:r>
            <a:r>
              <a:rPr sz="2800" spc="7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satu</a:t>
            </a:r>
            <a:r>
              <a:rPr sz="2800" spc="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variabel</a:t>
            </a:r>
            <a:r>
              <a:rPr sz="2800" spc="3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adalah</a:t>
            </a:r>
            <a:r>
              <a:rPr sz="2800" spc="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suatu</a:t>
            </a:r>
            <a:r>
              <a:rPr sz="2800" spc="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bentuk</a:t>
            </a:r>
            <a:r>
              <a:rPr sz="2800" spc="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aljabar</a:t>
            </a:r>
            <a:r>
              <a:rPr sz="2800" spc="4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dengan </a:t>
            </a:r>
            <a:r>
              <a:rPr sz="2800" spc="-8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satu</a:t>
            </a:r>
            <a:r>
              <a:rPr sz="2800" spc="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variabel</a:t>
            </a:r>
            <a:r>
              <a:rPr sz="2800" spc="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yang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dihubungkan dengan</a:t>
            </a:r>
            <a:r>
              <a:rPr sz="2800" spc="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relasi</a:t>
            </a:r>
            <a:r>
              <a:rPr sz="2800" spc="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urutan.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495300" indent="-457835">
              <a:lnSpc>
                <a:spcPct val="100000"/>
              </a:lnSpc>
              <a:spcBef>
                <a:spcPts val="1200"/>
              </a:spcBef>
              <a:buFont typeface="Wingdings" panose="05000000000000000000"/>
              <a:buChar char=""/>
              <a:tabLst>
                <a:tab pos="495300" algn="l"/>
                <a:tab pos="495300" algn="l"/>
              </a:tabLst>
            </a:pP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Bentuk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umum</a:t>
            </a:r>
            <a:r>
              <a:rPr sz="28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pertidaksamaan: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499745">
              <a:lnSpc>
                <a:spcPct val="100000"/>
              </a:lnSpc>
              <a:spcBef>
                <a:spcPts val="335"/>
              </a:spcBef>
            </a:pPr>
            <a:r>
              <a:rPr sz="2050" spc="60" dirty="0">
                <a:solidFill>
                  <a:srgbClr val="3A3838"/>
                </a:solidFill>
                <a:latin typeface="Cambria Math" panose="02040503050406030204"/>
                <a:cs typeface="Cambria Math" panose="02040503050406030204"/>
              </a:rPr>
              <a:t>𝐴(𝑥)</a:t>
            </a:r>
            <a:r>
              <a:rPr sz="2050" spc="380" dirty="0">
                <a:solidFill>
                  <a:srgbClr val="3A3838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4200" spc="-7" baseline="-330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&lt;</a:t>
            </a:r>
            <a:r>
              <a:rPr sz="4200" spc="-82" baseline="-330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050" spc="60" dirty="0">
                <a:solidFill>
                  <a:srgbClr val="3A3838"/>
                </a:solidFill>
                <a:latin typeface="Cambria Math" panose="02040503050406030204"/>
                <a:cs typeface="Cambria Math" panose="02040503050406030204"/>
              </a:rPr>
              <a:t>𝐷(𝑥)</a:t>
            </a:r>
            <a:endParaRPr sz="2050">
              <a:latin typeface="Cambria Math" panose="02040503050406030204"/>
              <a:cs typeface="Cambria Math" panose="02040503050406030204"/>
            </a:endParaRPr>
          </a:p>
          <a:p>
            <a:pPr marL="495300">
              <a:lnSpc>
                <a:spcPct val="100000"/>
              </a:lnSpc>
              <a:spcBef>
                <a:spcPts val="445"/>
              </a:spcBef>
              <a:tabLst>
                <a:tab pos="1461135" algn="l"/>
              </a:tabLst>
            </a:pPr>
            <a:r>
              <a:rPr sz="2050" spc="65" dirty="0">
                <a:solidFill>
                  <a:srgbClr val="3A3838"/>
                </a:solidFill>
                <a:latin typeface="Cambria Math" panose="02040503050406030204"/>
                <a:cs typeface="Cambria Math" panose="02040503050406030204"/>
              </a:rPr>
              <a:t>𝐵(𝑥)	𝐸(𝑥)</a:t>
            </a:r>
            <a:endParaRPr sz="2050">
              <a:latin typeface="Cambria Math" panose="02040503050406030204"/>
              <a:cs typeface="Cambria Math" panose="02040503050406030204"/>
            </a:endParaRPr>
          </a:p>
          <a:p>
            <a:pPr marL="495300">
              <a:lnSpc>
                <a:spcPct val="100000"/>
              </a:lnSpc>
              <a:spcBef>
                <a:spcPts val="1155"/>
              </a:spcBef>
            </a:pP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dengan</a:t>
            </a:r>
            <a:r>
              <a:rPr sz="2800" spc="-15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A(x),</a:t>
            </a:r>
            <a:r>
              <a:rPr sz="2800" spc="-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B(x),</a:t>
            </a:r>
            <a:r>
              <a:rPr sz="2800" spc="-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D(x),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E(x)</a:t>
            </a:r>
            <a:r>
              <a:rPr sz="2800" spc="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adalah</a:t>
            </a:r>
            <a:r>
              <a:rPr sz="2800" spc="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suku</a:t>
            </a:r>
            <a:r>
              <a:rPr sz="2800" spc="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banyak</a:t>
            </a:r>
            <a:r>
              <a:rPr sz="2800" spc="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(polinom)</a:t>
            </a:r>
            <a:r>
              <a:rPr sz="2800" spc="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dan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495300">
              <a:lnSpc>
                <a:spcPct val="100000"/>
              </a:lnSpc>
            </a:pP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B(x)</a:t>
            </a:r>
            <a:r>
              <a:rPr sz="2800" spc="-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≠</a:t>
            </a:r>
            <a:r>
              <a:rPr sz="2800" spc="-3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0,</a:t>
            </a:r>
            <a:r>
              <a:rPr sz="2800" spc="-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E(x)</a:t>
            </a:r>
            <a:r>
              <a:rPr sz="2800" spc="-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≠</a:t>
            </a:r>
            <a:r>
              <a:rPr sz="2800" spc="-3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0</a:t>
            </a:r>
            <a:endParaRPr sz="28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09478" y="998346"/>
            <a:ext cx="265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9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053" y="965961"/>
            <a:ext cx="32600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Pertidaksamaan</a:t>
            </a:r>
            <a:endParaRPr spc="-15" dirty="0"/>
          </a:p>
        </p:txBody>
      </p:sp>
      <p:sp>
        <p:nvSpPr>
          <p:cNvPr id="3" name="object 3"/>
          <p:cNvSpPr txBox="1"/>
          <p:nvPr/>
        </p:nvSpPr>
        <p:spPr>
          <a:xfrm>
            <a:off x="467055" y="2172969"/>
            <a:ext cx="10568305" cy="1884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83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"/>
              <a:tabLst>
                <a:tab pos="469900" algn="l"/>
                <a:tab pos="469900" algn="l"/>
              </a:tabLst>
            </a:pP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Menyelesaikan</a:t>
            </a:r>
            <a:r>
              <a:rPr sz="2800" spc="4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suatu</a:t>
            </a:r>
            <a:r>
              <a:rPr sz="2800" spc="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pertidaksamaan</a:t>
            </a:r>
            <a:r>
              <a:rPr sz="2800" spc="5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adalah</a:t>
            </a:r>
            <a:r>
              <a:rPr sz="2800" spc="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mencari</a:t>
            </a:r>
            <a:r>
              <a:rPr sz="2800" spc="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semua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himpunan</a:t>
            </a:r>
            <a:r>
              <a:rPr sz="2800" spc="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bilangan</a:t>
            </a:r>
            <a:r>
              <a:rPr sz="2800" spc="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riil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yang</a:t>
            </a:r>
            <a:r>
              <a:rPr sz="2800" spc="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membuat</a:t>
            </a:r>
            <a:r>
              <a:rPr sz="2800" spc="3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pertidaksamaan</a:t>
            </a:r>
            <a:r>
              <a:rPr sz="2800" spc="5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berlaku.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469900" indent="-457835">
              <a:lnSpc>
                <a:spcPct val="100000"/>
              </a:lnSpc>
              <a:spcBef>
                <a:spcPts val="600"/>
              </a:spcBef>
              <a:buFont typeface="Wingdings" panose="05000000000000000000"/>
              <a:buChar char=""/>
              <a:tabLst>
                <a:tab pos="469900" algn="l"/>
                <a:tab pos="469900" algn="l"/>
              </a:tabLst>
            </a:pP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Cara</a:t>
            </a:r>
            <a:r>
              <a:rPr sz="2800" spc="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menyelesaikan</a:t>
            </a:r>
            <a:r>
              <a:rPr sz="2800" spc="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pertidaksamaan: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927100" lvl="1" indent="-457835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927735" algn="l"/>
              </a:tabLst>
            </a:pP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Bentuk</a:t>
            </a:r>
            <a:r>
              <a:rPr sz="28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pertidaksamaan</a:t>
            </a:r>
            <a:r>
              <a:rPr sz="2800" spc="4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diubah</a:t>
            </a:r>
            <a:r>
              <a:rPr sz="2800" spc="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menjadi:</a:t>
            </a:r>
            <a:endParaRPr sz="28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8605" y="4556252"/>
            <a:ext cx="723900" cy="29209"/>
          </a:xfrm>
          <a:custGeom>
            <a:avLst/>
            <a:gdLst/>
            <a:ahLst/>
            <a:cxnLst/>
            <a:rect l="l" t="t" r="r" b="b"/>
            <a:pathLst>
              <a:path w="723900" h="29210">
                <a:moveTo>
                  <a:pt x="723900" y="0"/>
                </a:moveTo>
                <a:lnTo>
                  <a:pt x="0" y="0"/>
                </a:lnTo>
                <a:lnTo>
                  <a:pt x="0" y="28956"/>
                </a:lnTo>
                <a:lnTo>
                  <a:pt x="723900" y="28956"/>
                </a:lnTo>
                <a:lnTo>
                  <a:pt x="723900" y="0"/>
                </a:lnTo>
                <a:close/>
              </a:path>
            </a:pathLst>
          </a:custGeom>
          <a:solidFill>
            <a:srgbClr val="3A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279904" y="4334383"/>
            <a:ext cx="36137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891540" algn="l"/>
              </a:tabLst>
            </a:pPr>
            <a:r>
              <a:rPr sz="3900" spc="150" baseline="45000" dirty="0">
                <a:solidFill>
                  <a:srgbClr val="3A3838"/>
                </a:solidFill>
                <a:latin typeface="Cambria Math" panose="02040503050406030204"/>
                <a:cs typeface="Cambria Math" panose="02040503050406030204"/>
              </a:rPr>
              <a:t>𝑃(𝑥)	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&lt;</a:t>
            </a:r>
            <a:r>
              <a:rPr sz="2800" spc="-3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0</a:t>
            </a:r>
            <a:r>
              <a:rPr sz="2800" spc="2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dengan</a:t>
            </a:r>
            <a:r>
              <a:rPr sz="2800" spc="-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cara:</a:t>
            </a:r>
            <a:endParaRPr sz="28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63472" y="4511141"/>
            <a:ext cx="10484485" cy="144399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944880">
              <a:lnSpc>
                <a:spcPct val="100000"/>
              </a:lnSpc>
              <a:spcBef>
                <a:spcPts val="715"/>
              </a:spcBef>
            </a:pPr>
            <a:r>
              <a:rPr sz="2600" spc="100" dirty="0">
                <a:solidFill>
                  <a:srgbClr val="3A3838"/>
                </a:solidFill>
                <a:latin typeface="Cambria Math" panose="02040503050406030204"/>
                <a:cs typeface="Cambria Math" panose="02040503050406030204"/>
              </a:rPr>
              <a:t>𝑄(𝑥)</a:t>
            </a:r>
            <a:endParaRPr sz="2600">
              <a:latin typeface="Cambria Math" panose="02040503050406030204"/>
              <a:cs typeface="Cambria Math" panose="02040503050406030204"/>
            </a:endParaRPr>
          </a:p>
          <a:p>
            <a:pPr marL="375285" indent="-363220">
              <a:lnSpc>
                <a:spcPct val="100000"/>
              </a:lnSpc>
              <a:spcBef>
                <a:spcPts val="590"/>
              </a:spcBef>
              <a:buFont typeface="Courier New" panose="02070309020205020404"/>
              <a:buChar char="o"/>
              <a:tabLst>
                <a:tab pos="375920" algn="l"/>
              </a:tabLst>
            </a:pPr>
            <a:r>
              <a:rPr sz="2600" spc="-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Ruas</a:t>
            </a:r>
            <a:r>
              <a:rPr sz="2600" spc="-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kiri</a:t>
            </a:r>
            <a:r>
              <a:rPr sz="2600" spc="-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atau</a:t>
            </a:r>
            <a:r>
              <a:rPr sz="2600" spc="-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ruas</a:t>
            </a:r>
            <a:r>
              <a:rPr sz="26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kanan</a:t>
            </a:r>
            <a:r>
              <a:rPr sz="26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dinolkan</a:t>
            </a:r>
            <a:endParaRPr sz="2600">
              <a:latin typeface="Trebuchet MS" panose="020B0603020202020204"/>
              <a:cs typeface="Trebuchet MS" panose="020B0603020202020204"/>
            </a:endParaRPr>
          </a:p>
          <a:p>
            <a:pPr marL="375285" indent="-363220">
              <a:lnSpc>
                <a:spcPct val="100000"/>
              </a:lnSpc>
              <a:spcBef>
                <a:spcPts val="600"/>
              </a:spcBef>
              <a:buFont typeface="Courier New" panose="02070309020205020404"/>
              <a:buChar char="o"/>
              <a:tabLst>
                <a:tab pos="375920" algn="l"/>
              </a:tabLst>
            </a:pPr>
            <a:r>
              <a:rPr sz="26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Menyamakan</a:t>
            </a:r>
            <a:r>
              <a:rPr sz="2600" spc="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penyebut</a:t>
            </a:r>
            <a:r>
              <a:rPr sz="2600" spc="-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dan</a:t>
            </a:r>
            <a:r>
              <a:rPr sz="2600" spc="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6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menyederhanakan bentuk pembilangnya</a:t>
            </a:r>
            <a:endParaRPr sz="2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09478" y="998346"/>
            <a:ext cx="5041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10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053" y="965961"/>
            <a:ext cx="32600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Pertidaksamaan</a:t>
            </a:r>
            <a:endParaRPr spc="-15" dirty="0"/>
          </a:p>
        </p:txBody>
      </p:sp>
      <p:sp>
        <p:nvSpPr>
          <p:cNvPr id="3" name="object 3"/>
          <p:cNvSpPr txBox="1"/>
          <p:nvPr/>
        </p:nvSpPr>
        <p:spPr>
          <a:xfrm>
            <a:off x="437794" y="2172969"/>
            <a:ext cx="11296650" cy="2738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4975" marR="5080" indent="-434975">
              <a:lnSpc>
                <a:spcPct val="100000"/>
              </a:lnSpc>
              <a:spcBef>
                <a:spcPts val="95"/>
              </a:spcBef>
              <a:buAutoNum type="arabicPeriod" startAt="2"/>
              <a:tabLst>
                <a:tab pos="434975" algn="l"/>
              </a:tabLst>
            </a:pP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Dicari</a:t>
            </a:r>
            <a:r>
              <a:rPr sz="2800" spc="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titik-titik</a:t>
            </a:r>
            <a:r>
              <a:rPr sz="2800" spc="6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pemecah</a:t>
            </a:r>
            <a:r>
              <a:rPr sz="2800" spc="3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dari</a:t>
            </a:r>
            <a:r>
              <a:rPr sz="2800" spc="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pembilang</a:t>
            </a:r>
            <a:r>
              <a:rPr sz="2800" spc="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dan</a:t>
            </a:r>
            <a:r>
              <a:rPr sz="2800" spc="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penyebut</a:t>
            </a:r>
            <a:r>
              <a:rPr sz="2800" spc="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dengan</a:t>
            </a:r>
            <a:r>
              <a:rPr sz="2800" spc="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cara </a:t>
            </a:r>
            <a:r>
              <a:rPr sz="2800" spc="-8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P(x)</a:t>
            </a:r>
            <a:r>
              <a:rPr sz="2800" spc="-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dan</a:t>
            </a:r>
            <a:r>
              <a:rPr sz="28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Q(x)</a:t>
            </a:r>
            <a:r>
              <a:rPr sz="28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diuraikan</a:t>
            </a:r>
            <a:r>
              <a:rPr sz="2800" spc="3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menjadi</a:t>
            </a:r>
            <a:r>
              <a:rPr sz="2800" spc="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faktor-faktor</a:t>
            </a:r>
            <a:r>
              <a:rPr sz="2800" spc="3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linier</a:t>
            </a:r>
            <a:r>
              <a:rPr sz="2800" spc="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dan/</a:t>
            </a:r>
            <a:r>
              <a:rPr sz="2800" spc="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atau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kuadrat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434975" marR="588010" indent="-434975">
              <a:lnSpc>
                <a:spcPct val="100000"/>
              </a:lnSpc>
              <a:spcBef>
                <a:spcPts val="1205"/>
              </a:spcBef>
              <a:buAutoNum type="arabicPeriod" startAt="2"/>
              <a:tabLst>
                <a:tab pos="434975" algn="l"/>
              </a:tabLst>
            </a:pP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Gambarkan</a:t>
            </a:r>
            <a:r>
              <a:rPr sz="2800" spc="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titik-titik</a:t>
            </a:r>
            <a:r>
              <a:rPr sz="2800" spc="5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pemecah</a:t>
            </a:r>
            <a:r>
              <a:rPr sz="2800" spc="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tersebut</a:t>
            </a:r>
            <a:r>
              <a:rPr sz="2800" spc="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pada</a:t>
            </a:r>
            <a:r>
              <a:rPr sz="2800" spc="5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garis</a:t>
            </a:r>
            <a:r>
              <a:rPr sz="2800" spc="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bilangan,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kemudian</a:t>
            </a:r>
            <a:r>
              <a:rPr sz="2800" spc="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tentukan</a:t>
            </a:r>
            <a:r>
              <a:rPr sz="2800" spc="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tanda</a:t>
            </a:r>
            <a:r>
              <a:rPr sz="2800" spc="4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(+,</a:t>
            </a:r>
            <a:r>
              <a:rPr sz="28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-)</a:t>
            </a:r>
            <a:r>
              <a:rPr sz="2800" spc="-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pertidaksamaan</a:t>
            </a:r>
            <a:r>
              <a:rPr sz="2800" spc="6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di</a:t>
            </a:r>
            <a:r>
              <a:rPr sz="28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setiap</a:t>
            </a:r>
            <a:r>
              <a:rPr sz="2800" spc="3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selang </a:t>
            </a:r>
            <a:r>
              <a:rPr sz="2800" spc="-8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bagian</a:t>
            </a:r>
            <a:r>
              <a:rPr sz="2800" spc="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yang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muncul</a:t>
            </a:r>
            <a:endParaRPr sz="28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09478" y="998346"/>
            <a:ext cx="5041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11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053" y="965961"/>
            <a:ext cx="92125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Contoh:</a:t>
            </a:r>
            <a:r>
              <a:rPr spc="-15" dirty="0"/>
              <a:t> </a:t>
            </a:r>
            <a:r>
              <a:rPr spc="-5" dirty="0"/>
              <a:t>Menentukan</a:t>
            </a:r>
            <a:r>
              <a:rPr spc="-55" dirty="0"/>
              <a:t> </a:t>
            </a:r>
            <a:r>
              <a:rPr spc="-5" dirty="0"/>
              <a:t>Himpunan</a:t>
            </a:r>
            <a:r>
              <a:rPr spc="-40" dirty="0"/>
              <a:t> </a:t>
            </a:r>
            <a:r>
              <a:rPr spc="-15" dirty="0"/>
              <a:t>Penyelesaian</a:t>
            </a:r>
            <a:endParaRPr spc="-15" dirty="0"/>
          </a:p>
        </p:txBody>
      </p:sp>
      <p:sp>
        <p:nvSpPr>
          <p:cNvPr id="3" name="object 3"/>
          <p:cNvSpPr txBox="1"/>
          <p:nvPr/>
        </p:nvSpPr>
        <p:spPr>
          <a:xfrm>
            <a:off x="437794" y="2172970"/>
            <a:ext cx="3463925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  <a:tabLst>
                <a:tab pos="913765" algn="l"/>
              </a:tabLst>
            </a:pPr>
            <a:r>
              <a:rPr lang="en-US"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1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)	-2</a:t>
            </a:r>
            <a:r>
              <a:rPr sz="3200" spc="-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&lt;</a:t>
            </a:r>
            <a:r>
              <a:rPr sz="3200" spc="-3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6</a:t>
            </a:r>
            <a:r>
              <a:rPr sz="32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-</a:t>
            </a:r>
            <a:r>
              <a:rPr sz="3200" spc="-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4</a:t>
            </a:r>
            <a:r>
              <a:rPr sz="3200" i="1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x</a:t>
            </a:r>
            <a:r>
              <a:rPr sz="3200" i="1" spc="-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Symbol" panose="05050102010706020507"/>
                <a:cs typeface="Symbol" panose="05050102010706020507"/>
              </a:rPr>
              <a:t></a:t>
            </a:r>
            <a:r>
              <a:rPr sz="3200" spc="155" dirty="0">
                <a:solidFill>
                  <a:srgbClr val="3A383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8</a:t>
            </a:r>
            <a:endParaRPr sz="3200" dirty="0">
              <a:latin typeface="Trebuchet MS" panose="020B0603020202020204"/>
              <a:cs typeface="Trebuchet MS" panose="020B0603020202020204"/>
            </a:endParaRPr>
          </a:p>
          <a:p>
            <a:pPr marL="88265" algn="ctr">
              <a:lnSpc>
                <a:spcPct val="100000"/>
              </a:lnSpc>
            </a:pPr>
            <a:r>
              <a:rPr sz="3200" dirty="0">
                <a:solidFill>
                  <a:srgbClr val="3A3838"/>
                </a:solidFill>
                <a:latin typeface="Symbol" panose="05050102010706020507"/>
                <a:cs typeface="Symbol" panose="05050102010706020507"/>
              </a:rPr>
              <a:t></a:t>
            </a:r>
            <a:r>
              <a:rPr sz="3200" spc="140" dirty="0">
                <a:solidFill>
                  <a:srgbClr val="3A383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-8</a:t>
            </a:r>
            <a:r>
              <a:rPr sz="3200" spc="-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&lt;</a:t>
            </a:r>
            <a:r>
              <a:rPr sz="3200" spc="-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-4</a:t>
            </a:r>
            <a:r>
              <a:rPr sz="3200" i="1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x</a:t>
            </a:r>
            <a:r>
              <a:rPr sz="3200" i="1" spc="-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Symbol" panose="05050102010706020507"/>
                <a:cs typeface="Symbol" panose="05050102010706020507"/>
              </a:rPr>
              <a:t></a:t>
            </a:r>
            <a:r>
              <a:rPr sz="3200" spc="150" dirty="0">
                <a:solidFill>
                  <a:srgbClr val="3A383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2</a:t>
            </a:r>
            <a:endParaRPr sz="3200" dirty="0">
              <a:latin typeface="Trebuchet MS" panose="020B0603020202020204"/>
              <a:cs typeface="Trebuchet MS" panose="020B0603020202020204"/>
            </a:endParaRPr>
          </a:p>
          <a:p>
            <a:pPr marR="52705" algn="ctr">
              <a:lnSpc>
                <a:spcPct val="100000"/>
              </a:lnSpc>
            </a:pPr>
            <a:r>
              <a:rPr sz="3200" spc="5" dirty="0">
                <a:solidFill>
                  <a:srgbClr val="3A3838"/>
                </a:solidFill>
                <a:latin typeface="Symbol" panose="05050102010706020507"/>
                <a:cs typeface="Symbol" panose="05050102010706020507"/>
              </a:rPr>
              <a:t></a:t>
            </a:r>
            <a:r>
              <a:rPr sz="3200" spc="130" dirty="0">
                <a:solidFill>
                  <a:srgbClr val="3A383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8</a:t>
            </a:r>
            <a:r>
              <a:rPr sz="3200" spc="-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&gt;</a:t>
            </a:r>
            <a:r>
              <a:rPr sz="3200" spc="-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4</a:t>
            </a:r>
            <a:r>
              <a:rPr sz="3200" i="1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x</a:t>
            </a:r>
            <a:r>
              <a:rPr sz="3200" i="1" spc="-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Symbol" panose="05050102010706020507"/>
                <a:cs typeface="Symbol" panose="05050102010706020507"/>
              </a:rPr>
              <a:t></a:t>
            </a:r>
            <a:r>
              <a:rPr sz="3200" spc="140" dirty="0">
                <a:solidFill>
                  <a:srgbClr val="3A383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-2</a:t>
            </a:r>
            <a:endParaRPr sz="3200" dirty="0">
              <a:latin typeface="Trebuchet MS" panose="020B0603020202020204"/>
              <a:cs typeface="Trebuchet MS" panose="020B0603020202020204"/>
            </a:endParaRPr>
          </a:p>
          <a:p>
            <a:pPr marR="52705" algn="ctr">
              <a:lnSpc>
                <a:spcPct val="100000"/>
              </a:lnSpc>
            </a:pPr>
            <a:r>
              <a:rPr sz="3200" dirty="0">
                <a:solidFill>
                  <a:srgbClr val="3A3838"/>
                </a:solidFill>
                <a:latin typeface="Symbol" panose="05050102010706020507"/>
                <a:cs typeface="Symbol" panose="05050102010706020507"/>
              </a:rPr>
              <a:t></a:t>
            </a:r>
            <a:r>
              <a:rPr sz="3200" spc="140" dirty="0">
                <a:solidFill>
                  <a:srgbClr val="3A383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-2</a:t>
            </a:r>
            <a:r>
              <a:rPr sz="3200" spc="-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Symbol" panose="05050102010706020507"/>
                <a:cs typeface="Symbol" panose="05050102010706020507"/>
              </a:rPr>
              <a:t></a:t>
            </a:r>
            <a:r>
              <a:rPr sz="3200" spc="150" dirty="0">
                <a:solidFill>
                  <a:srgbClr val="3A383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4</a:t>
            </a:r>
            <a:r>
              <a:rPr sz="3200" i="1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x</a:t>
            </a:r>
            <a:r>
              <a:rPr sz="3200" i="1" spc="-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&lt;</a:t>
            </a:r>
            <a:r>
              <a:rPr sz="3200" spc="-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8</a:t>
            </a:r>
            <a:endParaRPr sz="320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9913" y="4526102"/>
            <a:ext cx="198120" cy="3829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spc="50" dirty="0">
                <a:solidFill>
                  <a:srgbClr val="3A3838"/>
                </a:solidFill>
                <a:latin typeface="Cambria Math" panose="02040503050406030204"/>
                <a:cs typeface="Cambria Math" panose="02040503050406030204"/>
              </a:rPr>
              <a:t>2</a:t>
            </a:r>
            <a:endParaRPr sz="23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9594" y="4212463"/>
            <a:ext cx="22866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3A3838"/>
                </a:solidFill>
                <a:latin typeface="Symbol" panose="05050102010706020507"/>
                <a:cs typeface="Symbol" panose="05050102010706020507"/>
              </a:rPr>
              <a:t></a:t>
            </a:r>
            <a:r>
              <a:rPr sz="3200" spc="140" dirty="0">
                <a:solidFill>
                  <a:srgbClr val="3A383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-</a:t>
            </a:r>
            <a:r>
              <a:rPr sz="3525" u="heavy" spc="30" baseline="44000" dirty="0">
                <a:solidFill>
                  <a:srgbClr val="3A3838"/>
                </a:solidFill>
                <a:uFill>
                  <a:solidFill>
                    <a:srgbClr val="3A3838"/>
                  </a:solidFill>
                </a:uFill>
                <a:latin typeface="Cambria Math" panose="02040503050406030204"/>
                <a:cs typeface="Cambria Math" panose="02040503050406030204"/>
              </a:rPr>
              <a:t>1</a:t>
            </a:r>
            <a:r>
              <a:rPr sz="3525" spc="637" baseline="44000" dirty="0">
                <a:solidFill>
                  <a:srgbClr val="3A3838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3200" dirty="0">
                <a:solidFill>
                  <a:srgbClr val="3A3838"/>
                </a:solidFill>
                <a:latin typeface="Symbol" panose="05050102010706020507"/>
                <a:cs typeface="Symbol" panose="05050102010706020507"/>
              </a:rPr>
              <a:t></a:t>
            </a:r>
            <a:r>
              <a:rPr sz="3200" spc="160" dirty="0">
                <a:solidFill>
                  <a:srgbClr val="3A383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x</a:t>
            </a:r>
            <a:r>
              <a:rPr sz="3200" spc="-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&lt;</a:t>
            </a:r>
            <a:r>
              <a:rPr sz="3200" spc="-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2</a:t>
            </a:r>
            <a:endParaRPr sz="3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21942" y="5679490"/>
            <a:ext cx="172720" cy="26034"/>
          </a:xfrm>
          <a:custGeom>
            <a:avLst/>
            <a:gdLst/>
            <a:ahLst/>
            <a:cxnLst/>
            <a:rect l="l" t="t" r="r" b="b"/>
            <a:pathLst>
              <a:path w="172719" h="26035">
                <a:moveTo>
                  <a:pt x="172212" y="0"/>
                </a:moveTo>
                <a:lnTo>
                  <a:pt x="0" y="0"/>
                </a:lnTo>
                <a:lnTo>
                  <a:pt x="0" y="25907"/>
                </a:lnTo>
                <a:lnTo>
                  <a:pt x="172212" y="25907"/>
                </a:lnTo>
                <a:lnTo>
                  <a:pt x="172212" y="0"/>
                </a:lnTo>
                <a:close/>
              </a:path>
            </a:pathLst>
          </a:custGeom>
          <a:solidFill>
            <a:srgbClr val="3A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809369" y="5703214"/>
            <a:ext cx="197485" cy="382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spc="50" dirty="0">
                <a:solidFill>
                  <a:srgbClr val="3A3838"/>
                </a:solidFill>
                <a:latin typeface="Cambria Math" panose="02040503050406030204"/>
                <a:cs typeface="Cambria Math" panose="02040503050406030204"/>
              </a:rPr>
              <a:t>2</a:t>
            </a:r>
            <a:endParaRPr sz="23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2394" y="5389270"/>
            <a:ext cx="23768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Hp</a:t>
            </a:r>
            <a:r>
              <a:rPr sz="3200" spc="-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=</a:t>
            </a:r>
            <a:r>
              <a:rPr sz="3200" spc="-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[-</a:t>
            </a:r>
            <a:r>
              <a:rPr sz="3200" spc="-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525" spc="75" baseline="44000" dirty="0">
                <a:solidFill>
                  <a:srgbClr val="3A3838"/>
                </a:solidFill>
                <a:latin typeface="Cambria Math" panose="02040503050406030204"/>
                <a:cs typeface="Cambria Math" panose="02040503050406030204"/>
              </a:rPr>
              <a:t>1</a:t>
            </a:r>
            <a:r>
              <a:rPr sz="3525" spc="644" baseline="44000" dirty="0">
                <a:solidFill>
                  <a:srgbClr val="3A3838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,</a:t>
            </a:r>
            <a:r>
              <a:rPr sz="3200" spc="-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2)</a:t>
            </a:r>
            <a:endParaRPr sz="32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9" name="object 9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102608" y="4213864"/>
            <a:ext cx="3052015" cy="90372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809478" y="998346"/>
            <a:ext cx="5041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13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52847" y="4776342"/>
            <a:ext cx="109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 panose="020B0603020202020204"/>
                <a:cs typeface="Trebuchet MS" panose="020B0603020202020204"/>
              </a:rPr>
              <a:t>-</a:t>
            </a:r>
            <a:endParaRPr sz="18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053" y="965961"/>
            <a:ext cx="92125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Contoh:</a:t>
            </a:r>
            <a:r>
              <a:rPr spc="-15" dirty="0"/>
              <a:t> </a:t>
            </a:r>
            <a:r>
              <a:rPr spc="-5" dirty="0"/>
              <a:t>Menentukan</a:t>
            </a:r>
            <a:r>
              <a:rPr spc="-55" dirty="0"/>
              <a:t> </a:t>
            </a:r>
            <a:r>
              <a:rPr spc="-5" dirty="0"/>
              <a:t>Himpunan</a:t>
            </a:r>
            <a:r>
              <a:rPr spc="-40" dirty="0"/>
              <a:t> </a:t>
            </a:r>
            <a:r>
              <a:rPr spc="-15" dirty="0"/>
              <a:t>Penyelesaian</a:t>
            </a:r>
            <a:endParaRPr spc="-15" dirty="0"/>
          </a:p>
        </p:txBody>
      </p:sp>
      <p:sp>
        <p:nvSpPr>
          <p:cNvPr id="3" name="object 3"/>
          <p:cNvSpPr txBox="1"/>
          <p:nvPr/>
        </p:nvSpPr>
        <p:spPr>
          <a:xfrm>
            <a:off x="331012" y="2056638"/>
            <a:ext cx="3666490" cy="1003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940435" algn="ctr">
              <a:lnSpc>
                <a:spcPct val="100000"/>
              </a:lnSpc>
              <a:spcBef>
                <a:spcPts val="105"/>
              </a:spcBef>
            </a:pPr>
            <a:r>
              <a:rPr lang="en-US"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2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)</a:t>
            </a:r>
            <a:r>
              <a:rPr sz="3200" spc="-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2x</a:t>
            </a:r>
            <a:r>
              <a:rPr sz="3150" baseline="250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2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-5x-3</a:t>
            </a:r>
            <a:r>
              <a:rPr sz="3200" spc="-5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&lt;</a:t>
            </a:r>
            <a:r>
              <a:rPr sz="3200" spc="-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0</a:t>
            </a:r>
            <a:endParaRPr sz="3200" dirty="0">
              <a:latin typeface="Trebuchet MS" panose="020B0603020202020204"/>
              <a:cs typeface="Trebuchet MS" panose="020B0603020202020204"/>
            </a:endParaRPr>
          </a:p>
          <a:p>
            <a:pPr marL="457200" algn="ctr">
              <a:lnSpc>
                <a:spcPct val="100000"/>
              </a:lnSpc>
              <a:spcBef>
                <a:spcPts val="10"/>
              </a:spcBef>
            </a:pPr>
            <a:r>
              <a:rPr sz="3200" spc="20" dirty="0">
                <a:solidFill>
                  <a:srgbClr val="3A3838"/>
                </a:solidFill>
                <a:latin typeface="Symbol" panose="05050102010706020507"/>
                <a:cs typeface="Symbol" panose="05050102010706020507"/>
              </a:rPr>
              <a:t></a:t>
            </a:r>
            <a:r>
              <a:rPr sz="3200" spc="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(2x+1)(</a:t>
            </a:r>
            <a:r>
              <a:rPr sz="3200" i="1" spc="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x-</a:t>
            </a:r>
            <a:r>
              <a:rPr sz="3200" spc="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3)</a:t>
            </a:r>
            <a:r>
              <a:rPr sz="3200" spc="-7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&lt;</a:t>
            </a:r>
            <a:r>
              <a:rPr sz="3200" spc="-3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0</a:t>
            </a:r>
            <a:endParaRPr sz="320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81753" y="3900551"/>
            <a:ext cx="172720" cy="26034"/>
          </a:xfrm>
          <a:custGeom>
            <a:avLst/>
            <a:gdLst/>
            <a:ahLst/>
            <a:cxnLst/>
            <a:rect l="l" t="t" r="r" b="b"/>
            <a:pathLst>
              <a:path w="172720" h="26035">
                <a:moveTo>
                  <a:pt x="172212" y="0"/>
                </a:moveTo>
                <a:lnTo>
                  <a:pt x="0" y="0"/>
                </a:lnTo>
                <a:lnTo>
                  <a:pt x="0" y="25907"/>
                </a:lnTo>
                <a:lnTo>
                  <a:pt x="172212" y="25907"/>
                </a:lnTo>
                <a:lnTo>
                  <a:pt x="172212" y="0"/>
                </a:lnTo>
                <a:close/>
              </a:path>
            </a:pathLst>
          </a:custGeom>
          <a:solidFill>
            <a:srgbClr val="3A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869560" y="3923487"/>
            <a:ext cx="198120" cy="3829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spc="50" dirty="0">
                <a:solidFill>
                  <a:srgbClr val="3A3838"/>
                </a:solidFill>
                <a:latin typeface="Cambria Math" panose="02040503050406030204"/>
                <a:cs typeface="Cambria Math" panose="02040503050406030204"/>
              </a:rPr>
              <a:t>2</a:t>
            </a:r>
            <a:endParaRPr sz="23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1012" y="3609543"/>
            <a:ext cx="63004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00" spc="-13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T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iti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k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14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em</a:t>
            </a:r>
            <a:r>
              <a:rPr sz="3200" spc="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e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ca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h</a:t>
            </a:r>
            <a:r>
              <a:rPr sz="32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(TP)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:</a:t>
            </a:r>
            <a:r>
              <a:rPr sz="3200" spc="-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x</a:t>
            </a:r>
            <a:r>
              <a:rPr sz="3200" spc="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=</a:t>
            </a:r>
            <a:r>
              <a:rPr sz="3200" dirty="0">
                <a:solidFill>
                  <a:srgbClr val="3A3838"/>
                </a:solidFill>
                <a:latin typeface="Cambria Math" panose="02040503050406030204"/>
                <a:cs typeface="Cambria Math" panose="02040503050406030204"/>
              </a:rPr>
              <a:t>−</a:t>
            </a:r>
            <a:r>
              <a:rPr sz="3200" spc="-185" dirty="0">
                <a:solidFill>
                  <a:srgbClr val="3A3838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3525" spc="75" baseline="44000" dirty="0">
                <a:solidFill>
                  <a:srgbClr val="3A3838"/>
                </a:solidFill>
                <a:latin typeface="Cambria Math" panose="02040503050406030204"/>
                <a:cs typeface="Cambria Math" panose="02040503050406030204"/>
              </a:rPr>
              <a:t>1</a:t>
            </a:r>
            <a:r>
              <a:rPr sz="3525" baseline="44000" dirty="0">
                <a:solidFill>
                  <a:srgbClr val="3A3838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3525" spc="-127" baseline="44000" dirty="0">
                <a:solidFill>
                  <a:srgbClr val="3A3838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da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n</a:t>
            </a:r>
            <a:r>
              <a:rPr sz="3200" spc="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x=3</a:t>
            </a:r>
            <a:endParaRPr sz="3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32229" y="6052439"/>
            <a:ext cx="172720" cy="26034"/>
          </a:xfrm>
          <a:custGeom>
            <a:avLst/>
            <a:gdLst/>
            <a:ahLst/>
            <a:cxnLst/>
            <a:rect l="l" t="t" r="r" b="b"/>
            <a:pathLst>
              <a:path w="172719" h="26035">
                <a:moveTo>
                  <a:pt x="172212" y="0"/>
                </a:moveTo>
                <a:lnTo>
                  <a:pt x="0" y="0"/>
                </a:lnTo>
                <a:lnTo>
                  <a:pt x="0" y="25908"/>
                </a:lnTo>
                <a:lnTo>
                  <a:pt x="172212" y="25908"/>
                </a:lnTo>
                <a:lnTo>
                  <a:pt x="172212" y="0"/>
                </a:lnTo>
                <a:close/>
              </a:path>
            </a:pathLst>
          </a:custGeom>
          <a:solidFill>
            <a:srgbClr val="3A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819782" y="6076289"/>
            <a:ext cx="197485" cy="382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spc="50" dirty="0">
                <a:solidFill>
                  <a:srgbClr val="3A3838"/>
                </a:solidFill>
                <a:latin typeface="Cambria Math" panose="02040503050406030204"/>
                <a:cs typeface="Cambria Math" panose="02040503050406030204"/>
              </a:rPr>
              <a:t>2</a:t>
            </a:r>
            <a:endParaRPr sz="23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1012" y="5762345"/>
            <a:ext cx="22244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H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</a:t>
            </a:r>
            <a:r>
              <a:rPr sz="3200" spc="-5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=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(</a:t>
            </a:r>
            <a:r>
              <a:rPr sz="3200" dirty="0">
                <a:solidFill>
                  <a:srgbClr val="3A3838"/>
                </a:solidFill>
                <a:latin typeface="Cambria Math" panose="02040503050406030204"/>
                <a:cs typeface="Cambria Math" panose="02040503050406030204"/>
              </a:rPr>
              <a:t>−</a:t>
            </a:r>
            <a:r>
              <a:rPr sz="3200" spc="-185" dirty="0">
                <a:solidFill>
                  <a:srgbClr val="3A3838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3525" spc="75" baseline="44000" dirty="0">
                <a:solidFill>
                  <a:srgbClr val="3A3838"/>
                </a:solidFill>
                <a:latin typeface="Cambria Math" panose="02040503050406030204"/>
                <a:cs typeface="Cambria Math" panose="02040503050406030204"/>
              </a:rPr>
              <a:t>1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,3)</a:t>
            </a:r>
            <a:endParaRPr sz="32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10" name="object 10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028444" y="4546091"/>
            <a:ext cx="3459479" cy="95242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809478" y="998346"/>
            <a:ext cx="5041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14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9053" y="965961"/>
            <a:ext cx="92125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Contoh:</a:t>
            </a:r>
            <a:r>
              <a:rPr sz="3600" spc="-1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6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Menentukan</a:t>
            </a:r>
            <a:r>
              <a:rPr sz="3600" spc="-5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6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Himpunan</a:t>
            </a:r>
            <a:r>
              <a:rPr sz="3600" spc="-4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600" spc="-1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Penyelesaian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9053" y="2257755"/>
            <a:ext cx="3879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3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)</a:t>
            </a:r>
            <a:endParaRPr sz="3200" dirty="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370075" y="2369849"/>
            <a:ext cx="7120297" cy="423973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809478" y="998346"/>
            <a:ext cx="5041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15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053" y="965961"/>
            <a:ext cx="92125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Contoh:</a:t>
            </a:r>
            <a:r>
              <a:rPr spc="-15" dirty="0"/>
              <a:t> </a:t>
            </a:r>
            <a:r>
              <a:rPr spc="-5" dirty="0"/>
              <a:t>Menentukan</a:t>
            </a:r>
            <a:r>
              <a:rPr spc="-55" dirty="0"/>
              <a:t> </a:t>
            </a:r>
            <a:r>
              <a:rPr spc="-5" dirty="0"/>
              <a:t>Himpunan</a:t>
            </a:r>
            <a:r>
              <a:rPr spc="-40" dirty="0"/>
              <a:t> </a:t>
            </a:r>
            <a:r>
              <a:rPr spc="-15" dirty="0"/>
              <a:t>Penyelesaian</a:t>
            </a:r>
            <a:endParaRPr spc="-1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99516" y="2237351"/>
            <a:ext cx="6838207" cy="43111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809478" y="998346"/>
            <a:ext cx="5041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16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9053" y="965961"/>
            <a:ext cx="92125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Contoh:</a:t>
            </a:r>
            <a:r>
              <a:rPr sz="3600" spc="-1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6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Menentukan</a:t>
            </a:r>
            <a:r>
              <a:rPr sz="3600" spc="-5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6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Himpunan</a:t>
            </a:r>
            <a:r>
              <a:rPr sz="3600" spc="-4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600" spc="-1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Penyelesaian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9053" y="2210816"/>
            <a:ext cx="3886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4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)</a:t>
            </a:r>
            <a:endParaRPr sz="3200" dirty="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67967" y="2189988"/>
            <a:ext cx="4977765" cy="4294505"/>
            <a:chOff x="1267967" y="2189988"/>
            <a:chExt cx="4977765" cy="4294505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7967" y="2189988"/>
              <a:ext cx="2343050" cy="10163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7967" y="3226419"/>
              <a:ext cx="4977707" cy="325803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0809478" y="998346"/>
            <a:ext cx="5041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18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053" y="965961"/>
            <a:ext cx="92125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Contoh:</a:t>
            </a:r>
            <a:r>
              <a:rPr spc="-15" dirty="0"/>
              <a:t> </a:t>
            </a:r>
            <a:r>
              <a:rPr spc="-5" dirty="0"/>
              <a:t>Menentukan</a:t>
            </a:r>
            <a:r>
              <a:rPr spc="-55" dirty="0"/>
              <a:t> </a:t>
            </a:r>
            <a:r>
              <a:rPr spc="-5" dirty="0"/>
              <a:t>Himpunan</a:t>
            </a:r>
            <a:r>
              <a:rPr spc="-40" dirty="0"/>
              <a:t> </a:t>
            </a:r>
            <a:r>
              <a:rPr spc="-15" dirty="0"/>
              <a:t>Penyelesaian</a:t>
            </a:r>
            <a:endParaRPr spc="-15" dirty="0"/>
          </a:p>
        </p:txBody>
      </p:sp>
      <p:sp>
        <p:nvSpPr>
          <p:cNvPr id="3" name="object 3"/>
          <p:cNvSpPr txBox="1"/>
          <p:nvPr/>
        </p:nvSpPr>
        <p:spPr>
          <a:xfrm>
            <a:off x="865428" y="2358389"/>
            <a:ext cx="9225915" cy="2129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5424805" algn="l"/>
              </a:tabLst>
            </a:pP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Untuk</a:t>
            </a:r>
            <a:r>
              <a:rPr sz="3200" spc="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pembilang	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mempunyai 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nilai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diskriminan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(D)&lt;0,</a:t>
            </a:r>
            <a:r>
              <a:rPr sz="32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sehingga</a:t>
            </a:r>
            <a:r>
              <a:rPr sz="3200" spc="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nilainya</a:t>
            </a:r>
            <a:r>
              <a:rPr sz="3200" spc="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selalu</a:t>
            </a:r>
            <a:r>
              <a:rPr sz="3200" spc="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positif.</a:t>
            </a:r>
            <a:endParaRPr sz="32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Jadi</a:t>
            </a:r>
            <a:r>
              <a:rPr sz="3200" spc="-7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TP</a:t>
            </a:r>
            <a:r>
              <a:rPr sz="3200" spc="-8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:</a:t>
            </a:r>
            <a:r>
              <a:rPr sz="3200" spc="-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2,-3.</a:t>
            </a:r>
            <a:endParaRPr sz="32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200" spc="-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Pembilang</a:t>
            </a:r>
            <a:r>
              <a:rPr sz="3200" spc="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tidak</a:t>
            </a:r>
            <a:r>
              <a:rPr sz="3200" spc="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menghasilkan</a:t>
            </a:r>
            <a:r>
              <a:rPr sz="3200" spc="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titik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pemecah</a:t>
            </a:r>
            <a:endParaRPr sz="32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069079" y="2333253"/>
            <a:ext cx="2100861" cy="5392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0016" y="4754879"/>
            <a:ext cx="5037743" cy="92506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809478" y="998346"/>
            <a:ext cx="5041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19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44294" y="5857747"/>
            <a:ext cx="33642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rebuchet MS" panose="020B0603020202020204"/>
                <a:cs typeface="Trebuchet MS" panose="020B0603020202020204"/>
              </a:rPr>
              <a:t>HP</a:t>
            </a:r>
            <a:r>
              <a:rPr sz="2800" spc="-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latin typeface="Trebuchet MS" panose="020B0603020202020204"/>
                <a:cs typeface="Trebuchet MS" panose="020B0603020202020204"/>
              </a:rPr>
              <a:t>=</a:t>
            </a:r>
            <a:r>
              <a:rPr sz="2800" spc="-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800" dirty="0">
                <a:latin typeface="Trebuchet MS" panose="020B0603020202020204"/>
                <a:cs typeface="Trebuchet MS" panose="020B0603020202020204"/>
              </a:rPr>
              <a:t>(-</a:t>
            </a:r>
            <a:r>
              <a:rPr sz="2800" dirty="0">
                <a:latin typeface="Symbol" panose="05050102010706020507"/>
                <a:cs typeface="Symbol" panose="05050102010706020507"/>
              </a:rPr>
              <a:t></a:t>
            </a:r>
            <a:r>
              <a:rPr sz="2800" dirty="0">
                <a:latin typeface="Trebuchet MS" panose="020B0603020202020204"/>
                <a:cs typeface="Trebuchet MS" panose="020B0603020202020204"/>
              </a:rPr>
              <a:t>,</a:t>
            </a:r>
            <a:r>
              <a:rPr sz="2800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latin typeface="Trebuchet MS" panose="020B0603020202020204"/>
                <a:cs typeface="Trebuchet MS" panose="020B0603020202020204"/>
              </a:rPr>
              <a:t>-3)</a:t>
            </a:r>
            <a:r>
              <a:rPr sz="2800" spc="-3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latin typeface="Symbol" panose="05050102010706020507"/>
                <a:cs typeface="Symbol" panose="05050102010706020507"/>
              </a:rPr>
              <a:t></a:t>
            </a:r>
            <a:r>
              <a:rPr sz="2800" spc="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rebuchet MS" panose="020B0603020202020204"/>
                <a:cs typeface="Trebuchet MS" panose="020B0603020202020204"/>
              </a:rPr>
              <a:t>(2,</a:t>
            </a:r>
            <a:r>
              <a:rPr sz="2800" spc="-5" dirty="0">
                <a:latin typeface="Symbol" panose="05050102010706020507"/>
                <a:cs typeface="Symbol" panose="05050102010706020507"/>
              </a:rPr>
              <a:t></a:t>
            </a:r>
            <a:r>
              <a:rPr sz="2800" spc="-5" dirty="0">
                <a:latin typeface="Trebuchet MS" panose="020B0603020202020204"/>
                <a:cs typeface="Trebuchet MS" panose="020B0603020202020204"/>
              </a:rPr>
              <a:t>)</a:t>
            </a:r>
            <a:endParaRPr sz="28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053" y="965961"/>
            <a:ext cx="5836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Pertidaksamaan</a:t>
            </a:r>
            <a:r>
              <a:rPr spc="-50" dirty="0"/>
              <a:t> </a:t>
            </a:r>
            <a:r>
              <a:rPr spc="-5" dirty="0"/>
              <a:t>nilai</a:t>
            </a:r>
            <a:r>
              <a:rPr spc="-40" dirty="0"/>
              <a:t> </a:t>
            </a:r>
            <a:r>
              <a:rPr spc="-5" dirty="0"/>
              <a:t>mutlak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865428" y="2358389"/>
            <a:ext cx="9752965" cy="20535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marR="5080" indent="-45720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"/>
              <a:tabLst>
                <a:tab pos="469265" algn="l"/>
                <a:tab pos="469900" algn="l"/>
              </a:tabLst>
            </a:pPr>
            <a:r>
              <a:rPr sz="3200" spc="-5" dirty="0">
                <a:latin typeface="Trebuchet MS" panose="020B0603020202020204"/>
                <a:cs typeface="Trebuchet MS" panose="020B0603020202020204"/>
              </a:rPr>
              <a:t>Nilai </a:t>
            </a:r>
            <a:r>
              <a:rPr sz="3200" dirty="0">
                <a:latin typeface="Trebuchet MS" panose="020B0603020202020204"/>
                <a:cs typeface="Trebuchet MS" panose="020B0603020202020204"/>
              </a:rPr>
              <a:t>mutlak </a:t>
            </a:r>
            <a:r>
              <a:rPr sz="3200" i="1" dirty="0">
                <a:latin typeface="Trebuchet MS" panose="020B0603020202020204"/>
                <a:cs typeface="Trebuchet MS" panose="020B0603020202020204"/>
              </a:rPr>
              <a:t>x </a:t>
            </a:r>
            <a:r>
              <a:rPr sz="3200" spc="-5" dirty="0">
                <a:latin typeface="Trebuchet MS" panose="020B0603020202020204"/>
                <a:cs typeface="Trebuchet MS" panose="020B0603020202020204"/>
              </a:rPr>
              <a:t>(|</a:t>
            </a:r>
            <a:r>
              <a:rPr sz="3200" i="1" spc="-5" dirty="0">
                <a:latin typeface="Trebuchet MS" panose="020B0603020202020204"/>
                <a:cs typeface="Trebuchet MS" panose="020B0603020202020204"/>
              </a:rPr>
              <a:t>x</a:t>
            </a:r>
            <a:r>
              <a:rPr sz="3200" spc="-5" dirty="0">
                <a:latin typeface="Trebuchet MS" panose="020B0603020202020204"/>
                <a:cs typeface="Trebuchet MS" panose="020B0603020202020204"/>
              </a:rPr>
              <a:t>|) </a:t>
            </a:r>
            <a:r>
              <a:rPr sz="3200" dirty="0">
                <a:latin typeface="Trebuchet MS" panose="020B0603020202020204"/>
                <a:cs typeface="Trebuchet MS" panose="020B0603020202020204"/>
              </a:rPr>
              <a:t>didefinisikan sebagai jarak </a:t>
            </a:r>
            <a:r>
              <a:rPr sz="3200" i="1" dirty="0">
                <a:latin typeface="Trebuchet MS" panose="020B0603020202020204"/>
                <a:cs typeface="Trebuchet MS" panose="020B0603020202020204"/>
              </a:rPr>
              <a:t>x </a:t>
            </a:r>
            <a:r>
              <a:rPr sz="3200" i="1" spc="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" dirty="0">
                <a:latin typeface="Trebuchet MS" panose="020B0603020202020204"/>
                <a:cs typeface="Trebuchet MS" panose="020B0603020202020204"/>
              </a:rPr>
              <a:t>dari</a:t>
            </a:r>
            <a:r>
              <a:rPr sz="3200" spc="1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" dirty="0">
                <a:latin typeface="Trebuchet MS" panose="020B0603020202020204"/>
                <a:cs typeface="Trebuchet MS" panose="020B0603020202020204"/>
              </a:rPr>
              <a:t>titik</a:t>
            </a:r>
            <a:r>
              <a:rPr sz="3200" spc="1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" dirty="0">
                <a:latin typeface="Trebuchet MS" panose="020B0603020202020204"/>
                <a:cs typeface="Trebuchet MS" panose="020B0603020202020204"/>
              </a:rPr>
              <a:t>pusat</a:t>
            </a:r>
            <a:r>
              <a:rPr sz="3200" spc="1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" dirty="0">
                <a:latin typeface="Trebuchet MS" panose="020B0603020202020204"/>
                <a:cs typeface="Trebuchet MS" panose="020B0603020202020204"/>
              </a:rPr>
              <a:t>pada</a:t>
            </a:r>
            <a:r>
              <a:rPr sz="3200" spc="2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latin typeface="Trebuchet MS" panose="020B0603020202020204"/>
                <a:cs typeface="Trebuchet MS" panose="020B0603020202020204"/>
              </a:rPr>
              <a:t>garis</a:t>
            </a:r>
            <a:r>
              <a:rPr sz="3200" spc="1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" dirty="0">
                <a:latin typeface="Trebuchet MS" panose="020B0603020202020204"/>
                <a:cs typeface="Trebuchet MS" panose="020B0603020202020204"/>
              </a:rPr>
              <a:t>bilangan,</a:t>
            </a:r>
            <a:r>
              <a:rPr sz="3200" spc="1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latin typeface="Trebuchet MS" panose="020B0603020202020204"/>
                <a:cs typeface="Trebuchet MS" panose="020B0603020202020204"/>
              </a:rPr>
              <a:t>sehingga</a:t>
            </a:r>
            <a:r>
              <a:rPr sz="3200" spc="1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latin typeface="Trebuchet MS" panose="020B0603020202020204"/>
                <a:cs typeface="Trebuchet MS" panose="020B0603020202020204"/>
              </a:rPr>
              <a:t>jarak </a:t>
            </a:r>
            <a:r>
              <a:rPr sz="3200" spc="-95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latin typeface="Trebuchet MS" panose="020B0603020202020204"/>
                <a:cs typeface="Trebuchet MS" panose="020B0603020202020204"/>
              </a:rPr>
              <a:t>selalu</a:t>
            </a:r>
            <a:r>
              <a:rPr sz="3200" spc="1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" dirty="0">
                <a:latin typeface="Trebuchet MS" panose="020B0603020202020204"/>
                <a:cs typeface="Trebuchet MS" panose="020B0603020202020204"/>
              </a:rPr>
              <a:t>bernilai</a:t>
            </a:r>
            <a:r>
              <a:rPr sz="3200" spc="1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" dirty="0">
                <a:latin typeface="Trebuchet MS" panose="020B0603020202020204"/>
                <a:cs typeface="Trebuchet MS" panose="020B0603020202020204"/>
              </a:rPr>
              <a:t>positif.</a:t>
            </a:r>
            <a:endParaRPr sz="3200">
              <a:latin typeface="Trebuchet MS" panose="020B0603020202020204"/>
              <a:cs typeface="Trebuchet MS" panose="020B0603020202020204"/>
            </a:endParaRPr>
          </a:p>
          <a:p>
            <a:pPr marL="469265" indent="-457200">
              <a:lnSpc>
                <a:spcPct val="100000"/>
              </a:lnSpc>
              <a:spcBef>
                <a:spcPts val="600"/>
              </a:spcBef>
              <a:buFont typeface="Wingdings" panose="05000000000000000000"/>
              <a:buChar char=""/>
              <a:tabLst>
                <a:tab pos="469265" algn="l"/>
                <a:tab pos="469900" algn="l"/>
              </a:tabLst>
            </a:pPr>
            <a:r>
              <a:rPr sz="3200" spc="-5" dirty="0">
                <a:latin typeface="Trebuchet MS" panose="020B0603020202020204"/>
                <a:cs typeface="Trebuchet MS" panose="020B0603020202020204"/>
              </a:rPr>
              <a:t>Definisi</a:t>
            </a:r>
            <a:r>
              <a:rPr sz="3200" spc="-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" dirty="0">
                <a:latin typeface="Trebuchet MS" panose="020B0603020202020204"/>
                <a:cs typeface="Trebuchet MS" panose="020B0603020202020204"/>
              </a:rPr>
              <a:t>nilai</a:t>
            </a:r>
            <a:r>
              <a:rPr sz="3200" spc="-1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latin typeface="Trebuchet MS" panose="020B0603020202020204"/>
                <a:cs typeface="Trebuchet MS" panose="020B0603020202020204"/>
              </a:rPr>
              <a:t>mutlak:</a:t>
            </a:r>
            <a:endParaRPr sz="32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639567" y="4617720"/>
            <a:ext cx="2909424" cy="117633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809478" y="998346"/>
            <a:ext cx="5041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20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053" y="965961"/>
            <a:ext cx="5836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Pertidaksamaan</a:t>
            </a:r>
            <a:r>
              <a:rPr spc="-50" dirty="0"/>
              <a:t> </a:t>
            </a:r>
            <a:r>
              <a:rPr spc="-5" dirty="0"/>
              <a:t>nilai</a:t>
            </a:r>
            <a:r>
              <a:rPr spc="-40" dirty="0"/>
              <a:t> </a:t>
            </a:r>
            <a:r>
              <a:rPr spc="-5" dirty="0"/>
              <a:t>mutlak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875182" y="2134870"/>
            <a:ext cx="381190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"/>
              <a:tabLst>
                <a:tab pos="469265" algn="l"/>
                <a:tab pos="469900" algn="l"/>
              </a:tabLst>
            </a:pPr>
            <a:r>
              <a:rPr sz="3200" dirty="0">
                <a:latin typeface="Trebuchet MS" panose="020B0603020202020204"/>
                <a:cs typeface="Trebuchet MS" panose="020B0603020202020204"/>
              </a:rPr>
              <a:t>Sifat-sifat</a:t>
            </a:r>
            <a:r>
              <a:rPr sz="320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latin typeface="Trebuchet MS" panose="020B0603020202020204"/>
                <a:cs typeface="Trebuchet MS" panose="020B0603020202020204"/>
              </a:rPr>
              <a:t>mutlak:</a:t>
            </a:r>
            <a:endParaRPr sz="32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77824" y="2699060"/>
            <a:ext cx="5868546" cy="405530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809478" y="998346"/>
            <a:ext cx="5041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21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053" y="965961"/>
            <a:ext cx="92125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Contoh:</a:t>
            </a:r>
            <a:r>
              <a:rPr spc="-15" dirty="0"/>
              <a:t> </a:t>
            </a:r>
            <a:r>
              <a:rPr spc="-5" dirty="0"/>
              <a:t>Menentukan</a:t>
            </a:r>
            <a:r>
              <a:rPr spc="-55" dirty="0"/>
              <a:t> </a:t>
            </a:r>
            <a:r>
              <a:rPr spc="-5" dirty="0"/>
              <a:t>Himpunan</a:t>
            </a:r>
            <a:r>
              <a:rPr spc="-40" dirty="0"/>
              <a:t> </a:t>
            </a:r>
            <a:r>
              <a:rPr spc="-15" dirty="0"/>
              <a:t>Penyelesaian</a:t>
            </a:r>
            <a:endParaRPr spc="-15" dirty="0"/>
          </a:p>
        </p:txBody>
      </p:sp>
      <p:sp>
        <p:nvSpPr>
          <p:cNvPr id="3" name="object 3"/>
          <p:cNvSpPr txBox="1"/>
          <p:nvPr/>
        </p:nvSpPr>
        <p:spPr>
          <a:xfrm>
            <a:off x="875182" y="2136393"/>
            <a:ext cx="527812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"/>
              <a:tabLst>
                <a:tab pos="469265" algn="l"/>
                <a:tab pos="469900" algn="l"/>
              </a:tabLst>
            </a:pPr>
            <a:r>
              <a:rPr sz="2800" spc="-10" dirty="0">
                <a:latin typeface="Trebuchet MS" panose="020B0603020202020204"/>
                <a:cs typeface="Trebuchet MS" panose="020B0603020202020204"/>
              </a:rPr>
              <a:t>Contoh: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tabLst>
                <a:tab pos="527685" algn="l"/>
              </a:tabLst>
            </a:pPr>
            <a:r>
              <a:rPr sz="2800" spc="-5" dirty="0">
                <a:latin typeface="Trebuchet MS" panose="020B0603020202020204"/>
                <a:cs typeface="Trebuchet MS" panose="020B0603020202020204"/>
              </a:rPr>
              <a:t>1.	|2x</a:t>
            </a:r>
            <a:r>
              <a:rPr sz="2800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latin typeface="Trebuchet MS" panose="020B0603020202020204"/>
                <a:cs typeface="Trebuchet MS" panose="020B0603020202020204"/>
              </a:rPr>
              <a:t>–</a:t>
            </a:r>
            <a:r>
              <a:rPr sz="2800" spc="-3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latin typeface="Trebuchet MS" panose="020B0603020202020204"/>
                <a:cs typeface="Trebuchet MS" panose="020B0603020202020204"/>
              </a:rPr>
              <a:t>5|</a:t>
            </a:r>
            <a:r>
              <a:rPr sz="2800" spc="-2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latin typeface="Trebuchet MS" panose="020B0603020202020204"/>
                <a:cs typeface="Trebuchet MS" panose="020B0603020202020204"/>
              </a:rPr>
              <a:t>&lt;</a:t>
            </a:r>
            <a:r>
              <a:rPr sz="2800" spc="-2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latin typeface="Trebuchet MS" panose="020B0603020202020204"/>
                <a:cs typeface="Trebuchet MS" panose="020B0603020202020204"/>
              </a:rPr>
              <a:t>3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-30" dirty="0">
                <a:latin typeface="Trebuchet MS" panose="020B0603020202020204"/>
                <a:cs typeface="Trebuchet MS" panose="020B0603020202020204"/>
              </a:rPr>
              <a:t>Kita</a:t>
            </a:r>
            <a:r>
              <a:rPr sz="280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latin typeface="Trebuchet MS" panose="020B0603020202020204"/>
                <a:cs typeface="Trebuchet MS" panose="020B0603020202020204"/>
              </a:rPr>
              <a:t>bisa</a:t>
            </a:r>
            <a:r>
              <a:rPr sz="2800" spc="1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latin typeface="Trebuchet MS" panose="020B0603020202020204"/>
                <a:cs typeface="Trebuchet MS" panose="020B0603020202020204"/>
              </a:rPr>
              <a:t>menggunakan</a:t>
            </a:r>
            <a:r>
              <a:rPr sz="2800" spc="-5" dirty="0">
                <a:latin typeface="Trebuchet MS" panose="020B0603020202020204"/>
                <a:cs typeface="Trebuchet MS" panose="020B0603020202020204"/>
              </a:rPr>
              <a:t> sifat</a:t>
            </a:r>
            <a:r>
              <a:rPr sz="2800" spc="2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latin typeface="Trebuchet MS" panose="020B0603020202020204"/>
                <a:cs typeface="Trebuchet MS" panose="020B0603020202020204"/>
              </a:rPr>
              <a:t>ke-2</a:t>
            </a:r>
            <a:endParaRPr sz="28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05255" y="3499128"/>
            <a:ext cx="7982425" cy="272628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809478" y="998346"/>
            <a:ext cx="5041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22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053" y="965961"/>
            <a:ext cx="92125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Contoh:</a:t>
            </a:r>
            <a:r>
              <a:rPr spc="-15" dirty="0"/>
              <a:t> </a:t>
            </a:r>
            <a:r>
              <a:rPr spc="-5" dirty="0"/>
              <a:t>Menentukan</a:t>
            </a:r>
            <a:r>
              <a:rPr spc="-55" dirty="0"/>
              <a:t> </a:t>
            </a:r>
            <a:r>
              <a:rPr spc="-5" dirty="0"/>
              <a:t>Himpunan</a:t>
            </a:r>
            <a:r>
              <a:rPr spc="-40" dirty="0"/>
              <a:t> </a:t>
            </a:r>
            <a:r>
              <a:rPr spc="-15" dirty="0"/>
              <a:t>Penyelesaian</a:t>
            </a:r>
            <a:endParaRPr spc="-1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79704" y="6015233"/>
            <a:ext cx="4012021" cy="4737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1996" y="4262632"/>
            <a:ext cx="4326258" cy="165963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809478" y="998346"/>
            <a:ext cx="5041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23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3854" y="1911620"/>
            <a:ext cx="8834120" cy="3994150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35"/>
              </a:spcBef>
            </a:pP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2.</a:t>
            </a:r>
            <a:r>
              <a:rPr sz="2800" spc="-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|2x</a:t>
            </a:r>
            <a:r>
              <a:rPr sz="2800" spc="-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–</a:t>
            </a:r>
            <a:r>
              <a:rPr sz="2800" spc="-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5|</a:t>
            </a:r>
            <a:r>
              <a:rPr sz="2800" spc="-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&lt;</a:t>
            </a:r>
            <a:r>
              <a:rPr sz="2800" spc="-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3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38100" marR="30480">
              <a:lnSpc>
                <a:spcPct val="110000"/>
              </a:lnSpc>
              <a:spcBef>
                <a:spcPts val="1000"/>
              </a:spcBef>
            </a:pPr>
            <a:r>
              <a:rPr sz="2800" spc="-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Kita</a:t>
            </a:r>
            <a:r>
              <a:rPr sz="2800" spc="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bisa</a:t>
            </a:r>
            <a:r>
              <a:rPr sz="2800" spc="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juga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menggunakan</a:t>
            </a:r>
            <a:r>
              <a:rPr sz="2800" spc="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sifat</a:t>
            </a:r>
            <a:r>
              <a:rPr sz="2800" spc="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ke-4,</a:t>
            </a:r>
            <a:r>
              <a:rPr sz="2800" spc="-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karena</a:t>
            </a:r>
            <a:r>
              <a:rPr sz="2800" spc="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ruas</a:t>
            </a:r>
            <a:r>
              <a:rPr sz="28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kiri </a:t>
            </a:r>
            <a:r>
              <a:rPr sz="2800" spc="-8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maupun</a:t>
            </a:r>
            <a:r>
              <a:rPr sz="2800" spc="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kanan</a:t>
            </a:r>
            <a:r>
              <a:rPr sz="28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keduanya</a:t>
            </a:r>
            <a:r>
              <a:rPr sz="2800" spc="2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positif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R="5316220" algn="ctr">
              <a:lnSpc>
                <a:spcPct val="100000"/>
              </a:lnSpc>
              <a:spcBef>
                <a:spcPts val="875"/>
              </a:spcBef>
            </a:pPr>
            <a:r>
              <a:rPr sz="2400" spc="-5" dirty="0">
                <a:latin typeface="Cambria Math" panose="02040503050406030204"/>
                <a:cs typeface="Cambria Math" panose="02040503050406030204"/>
              </a:rPr>
              <a:t>(2𝑥</a:t>
            </a:r>
            <a:r>
              <a:rPr sz="2400" spc="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5)</a:t>
            </a:r>
            <a:r>
              <a:rPr sz="2625" spc="44" baseline="29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&lt;</a:t>
            </a:r>
            <a:r>
              <a:rPr sz="2400" spc="1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9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marR="5317490" algn="ctr">
              <a:lnSpc>
                <a:spcPct val="100000"/>
              </a:lnSpc>
              <a:spcBef>
                <a:spcPts val="5"/>
              </a:spcBef>
            </a:pPr>
            <a:r>
              <a:rPr sz="2400" spc="50" dirty="0">
                <a:latin typeface="Cambria Math" panose="02040503050406030204"/>
                <a:cs typeface="Cambria Math" panose="02040503050406030204"/>
              </a:rPr>
              <a:t>4𝑥</a:t>
            </a:r>
            <a:r>
              <a:rPr sz="2625" spc="75" baseline="29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625" spc="337" baseline="29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-5" dirty="0">
                <a:latin typeface="Cambria Math" panose="02040503050406030204"/>
                <a:cs typeface="Cambria Math" panose="02040503050406030204"/>
              </a:rPr>
              <a:t> 20𝑥</a:t>
            </a:r>
            <a:r>
              <a:rPr sz="2400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25</a:t>
            </a:r>
            <a:r>
              <a:rPr sz="2400" spc="1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&lt;</a:t>
            </a:r>
            <a:r>
              <a:rPr sz="2400" spc="1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9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marR="5316220" algn="ctr">
              <a:lnSpc>
                <a:spcPct val="100000"/>
              </a:lnSpc>
            </a:pPr>
            <a:r>
              <a:rPr sz="2400" spc="55" dirty="0">
                <a:latin typeface="Cambria Math" panose="02040503050406030204"/>
                <a:cs typeface="Cambria Math" panose="02040503050406030204"/>
              </a:rPr>
              <a:t>4𝑥</a:t>
            </a:r>
            <a:r>
              <a:rPr sz="2625" spc="82" baseline="29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625" spc="337" baseline="29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20𝑥</a:t>
            </a:r>
            <a:r>
              <a:rPr sz="2400" spc="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25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9</a:t>
            </a:r>
            <a:r>
              <a:rPr sz="2400" spc="1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&lt;</a:t>
            </a:r>
            <a:r>
              <a:rPr sz="2400" spc="1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0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marR="5317490" algn="ctr">
              <a:lnSpc>
                <a:spcPct val="100000"/>
              </a:lnSpc>
            </a:pPr>
            <a:r>
              <a:rPr sz="2400" spc="55" dirty="0">
                <a:latin typeface="Cambria Math" panose="02040503050406030204"/>
                <a:cs typeface="Cambria Math" panose="02040503050406030204"/>
              </a:rPr>
              <a:t>4𝑥</a:t>
            </a:r>
            <a:r>
              <a:rPr sz="2625" spc="82" baseline="29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625" spc="337" baseline="29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" dirty="0">
                <a:latin typeface="Cambria Math" panose="02040503050406030204"/>
                <a:cs typeface="Cambria Math" panose="02040503050406030204"/>
              </a:rPr>
              <a:t>20𝑥</a:t>
            </a:r>
            <a:r>
              <a:rPr sz="2400" spc="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16</a:t>
            </a:r>
            <a:r>
              <a:rPr sz="2400" spc="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&lt;</a:t>
            </a:r>
            <a:r>
              <a:rPr sz="2400" spc="1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0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marL="431165" marR="5747385" algn="ctr">
              <a:lnSpc>
                <a:spcPct val="100000"/>
              </a:lnSpc>
            </a:pPr>
            <a:r>
              <a:rPr sz="2400" spc="55" dirty="0">
                <a:latin typeface="Cambria Math" panose="02040503050406030204"/>
                <a:cs typeface="Cambria Math" panose="02040503050406030204"/>
              </a:rPr>
              <a:t>2𝑥</a:t>
            </a:r>
            <a:r>
              <a:rPr sz="2625" spc="82" baseline="29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625" spc="89" baseline="29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− 10𝑥 + 8 &lt; 0 </a:t>
            </a:r>
            <a:r>
              <a:rPr sz="24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" dirty="0">
                <a:latin typeface="Cambria Math" panose="02040503050406030204"/>
                <a:cs typeface="Cambria Math" panose="02040503050406030204"/>
              </a:rPr>
              <a:t>(2𝑥</a:t>
            </a:r>
            <a:r>
              <a:rPr sz="2400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" dirty="0">
                <a:latin typeface="Cambria Math" panose="02040503050406030204"/>
                <a:cs typeface="Cambria Math" panose="02040503050406030204"/>
              </a:rPr>
              <a:t>2)(𝑥</a:t>
            </a:r>
            <a:r>
              <a:rPr sz="2400" spc="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4)</a:t>
            </a:r>
            <a:r>
              <a:rPr sz="2400" spc="1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&lt;</a:t>
            </a:r>
            <a:r>
              <a:rPr sz="2400" spc="1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0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053" y="965961"/>
            <a:ext cx="92125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Contoh:</a:t>
            </a:r>
            <a:r>
              <a:rPr spc="-15" dirty="0"/>
              <a:t> </a:t>
            </a:r>
            <a:r>
              <a:rPr spc="-5" dirty="0"/>
              <a:t>Menentukan</a:t>
            </a:r>
            <a:r>
              <a:rPr spc="-55" dirty="0"/>
              <a:t> </a:t>
            </a:r>
            <a:r>
              <a:rPr spc="-5" dirty="0"/>
              <a:t>Himpunan</a:t>
            </a:r>
            <a:r>
              <a:rPr spc="-40" dirty="0"/>
              <a:t> </a:t>
            </a:r>
            <a:r>
              <a:rPr spc="-15" dirty="0"/>
              <a:t>Penyelesaian</a:t>
            </a:r>
            <a:endParaRPr spc="-15" dirty="0"/>
          </a:p>
        </p:txBody>
      </p:sp>
      <p:sp>
        <p:nvSpPr>
          <p:cNvPr id="3" name="object 3"/>
          <p:cNvSpPr txBox="1"/>
          <p:nvPr/>
        </p:nvSpPr>
        <p:spPr>
          <a:xfrm>
            <a:off x="689254" y="1911620"/>
            <a:ext cx="5278120" cy="1218565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3.</a:t>
            </a:r>
            <a:r>
              <a:rPr sz="2800" spc="-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|2x</a:t>
            </a:r>
            <a:r>
              <a:rPr sz="2800" spc="-3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+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3|</a:t>
            </a:r>
            <a:r>
              <a:rPr sz="2800" spc="-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Symbol" panose="05050102010706020507"/>
                <a:cs typeface="Symbol" panose="05050102010706020507"/>
              </a:rPr>
              <a:t></a:t>
            </a:r>
            <a:r>
              <a:rPr sz="2800" spc="114" dirty="0">
                <a:solidFill>
                  <a:srgbClr val="3A383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|4x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+</a:t>
            </a:r>
            <a:r>
              <a:rPr sz="2800" spc="-4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5|</a:t>
            </a:r>
            <a:endParaRPr sz="28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2800" spc="-3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Kita</a:t>
            </a:r>
            <a:r>
              <a:rPr sz="28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bisa</a:t>
            </a:r>
            <a:r>
              <a:rPr sz="2800" spc="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menggunakan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sifat</a:t>
            </a:r>
            <a:r>
              <a:rPr sz="2800" spc="2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ke-4</a:t>
            </a:r>
            <a:endParaRPr sz="28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11123" y="3128772"/>
            <a:ext cx="5302517" cy="100583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809478" y="998346"/>
            <a:ext cx="5041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24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03946" y="6330188"/>
            <a:ext cx="17589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45" dirty="0">
                <a:latin typeface="Cambria Math" panose="02040503050406030204"/>
                <a:cs typeface="Cambria Math" panose="02040503050406030204"/>
              </a:rPr>
              <a:t>3</a:t>
            </a:r>
            <a:endParaRPr sz="20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56502" y="6055867"/>
            <a:ext cx="19030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rebuchet MS" panose="020B0603020202020204"/>
                <a:cs typeface="Trebuchet MS" panose="020B0603020202020204"/>
              </a:rPr>
              <a:t>TP</a:t>
            </a:r>
            <a:r>
              <a:rPr sz="2800" spc="-6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latin typeface="Trebuchet MS" panose="020B0603020202020204"/>
                <a:cs typeface="Trebuchet MS" panose="020B0603020202020204"/>
              </a:rPr>
              <a:t>=</a:t>
            </a:r>
            <a:r>
              <a:rPr sz="2800" spc="-1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800" spc="-1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075" u="heavy" spc="75" baseline="45000" dirty="0">
                <a:uFill>
                  <a:solidFill>
                    <a:srgbClr val="000000"/>
                  </a:solidFill>
                </a:uFill>
                <a:latin typeface="Cambria Math" panose="02040503050406030204"/>
                <a:cs typeface="Cambria Math" panose="02040503050406030204"/>
              </a:rPr>
              <a:t>4</a:t>
            </a:r>
            <a:r>
              <a:rPr sz="2800" spc="-5" dirty="0">
                <a:latin typeface="Trebuchet MS" panose="020B0603020202020204"/>
                <a:cs typeface="Trebuchet MS" panose="020B0603020202020204"/>
              </a:rPr>
              <a:t>,</a:t>
            </a:r>
            <a:r>
              <a:rPr sz="2800" spc="-1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2800" spc="-5" dirty="0">
                <a:latin typeface="Trebuchet MS" panose="020B0603020202020204"/>
                <a:cs typeface="Trebuchet MS" panose="020B0603020202020204"/>
              </a:rPr>
              <a:t>-1</a:t>
            </a:r>
            <a:endParaRPr sz="28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8219" y="4188967"/>
            <a:ext cx="5965825" cy="2007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Symbol" panose="05050102010706020507"/>
                <a:cs typeface="Symbol" panose="05050102010706020507"/>
              </a:rPr>
              <a:t></a:t>
            </a: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60" dirty="0">
                <a:latin typeface="Cambria Math" panose="02040503050406030204"/>
                <a:cs typeface="Cambria Math" panose="02040503050406030204"/>
              </a:rPr>
              <a:t>4𝑥</a:t>
            </a:r>
            <a:r>
              <a:rPr sz="2850" spc="89" baseline="28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850" spc="382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− </a:t>
            </a:r>
            <a:r>
              <a:rPr sz="2600" spc="45" dirty="0">
                <a:latin typeface="Cambria Math" panose="02040503050406030204"/>
                <a:cs typeface="Cambria Math" panose="02040503050406030204"/>
              </a:rPr>
              <a:t>16𝑥</a:t>
            </a:r>
            <a:r>
              <a:rPr sz="2850" spc="67" baseline="28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850" spc="397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600" spc="-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spc="-5" dirty="0">
                <a:latin typeface="Cambria Math" panose="02040503050406030204"/>
                <a:cs typeface="Cambria Math" panose="02040503050406030204"/>
              </a:rPr>
              <a:t>12𝑥</a:t>
            </a:r>
            <a:r>
              <a:rPr sz="2600" spc="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600" spc="-5" dirty="0">
                <a:latin typeface="Cambria Math" panose="02040503050406030204"/>
                <a:cs typeface="Cambria Math" panose="02040503050406030204"/>
              </a:rPr>
              <a:t> 40𝑥</a:t>
            </a:r>
            <a:r>
              <a:rPr sz="2600" spc="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600" spc="-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9</a:t>
            </a:r>
            <a:r>
              <a:rPr sz="260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− </a:t>
            </a:r>
            <a:r>
              <a:rPr sz="2600" spc="-5" dirty="0">
                <a:latin typeface="Cambria Math" panose="02040503050406030204"/>
                <a:cs typeface="Cambria Math" panose="02040503050406030204"/>
              </a:rPr>
              <a:t>25</a:t>
            </a:r>
            <a:r>
              <a:rPr sz="2600" spc="1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≥</a:t>
            </a:r>
            <a:r>
              <a:rPr sz="2600" spc="1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0</a:t>
            </a:r>
            <a:endParaRPr sz="2600">
              <a:latin typeface="Cambria Math" panose="02040503050406030204"/>
              <a:cs typeface="Cambria Math" panose="02040503050406030204"/>
            </a:endParaRPr>
          </a:p>
          <a:p>
            <a:pPr algn="ctr">
              <a:lnSpc>
                <a:spcPct val="100000"/>
              </a:lnSpc>
            </a:pPr>
            <a:r>
              <a:rPr sz="2600" spc="5" dirty="0">
                <a:latin typeface="Symbol" panose="05050102010706020507"/>
                <a:cs typeface="Symbol" panose="05050102010706020507"/>
              </a:rPr>
              <a:t></a:t>
            </a:r>
            <a:r>
              <a:rPr sz="26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600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spc="45" dirty="0">
                <a:latin typeface="Cambria Math" panose="02040503050406030204"/>
                <a:cs typeface="Cambria Math" panose="02040503050406030204"/>
              </a:rPr>
              <a:t>12𝑥</a:t>
            </a:r>
            <a:r>
              <a:rPr sz="2850" spc="67" baseline="28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850" spc="375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60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28𝑥</a:t>
            </a:r>
            <a:r>
              <a:rPr sz="2600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600" spc="-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16</a:t>
            </a:r>
            <a:r>
              <a:rPr sz="2600" spc="1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≥</a:t>
            </a:r>
            <a:r>
              <a:rPr sz="2600" spc="1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0</a:t>
            </a:r>
            <a:endParaRPr sz="2600">
              <a:latin typeface="Cambria Math" panose="02040503050406030204"/>
              <a:cs typeface="Cambria Math" panose="02040503050406030204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  <a:tabLst>
                <a:tab pos="490855" algn="l"/>
              </a:tabLst>
            </a:pPr>
            <a:r>
              <a:rPr sz="2600" dirty="0">
                <a:latin typeface="Symbol" panose="05050102010706020507"/>
                <a:cs typeface="Symbol" panose="05050102010706020507"/>
              </a:rPr>
              <a:t>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00" spc="45" dirty="0">
                <a:latin typeface="Cambria Math" panose="02040503050406030204"/>
                <a:cs typeface="Cambria Math" panose="02040503050406030204"/>
              </a:rPr>
              <a:t>−3𝑥</a:t>
            </a:r>
            <a:r>
              <a:rPr sz="2850" spc="67" baseline="28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850" spc="367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spc="-5" dirty="0">
                <a:latin typeface="Cambria Math" panose="02040503050406030204"/>
                <a:cs typeface="Cambria Math" panose="02040503050406030204"/>
              </a:rPr>
              <a:t>−7𝑥</a:t>
            </a:r>
            <a:r>
              <a:rPr sz="2600" spc="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600" spc="-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2600" spc="1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≥</a:t>
            </a:r>
            <a:r>
              <a:rPr sz="2600" spc="1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0</a:t>
            </a:r>
            <a:endParaRPr sz="2600">
              <a:latin typeface="Cambria Math" panose="02040503050406030204"/>
              <a:cs typeface="Cambria Math" panose="02040503050406030204"/>
            </a:endParaRPr>
          </a:p>
          <a:p>
            <a:pPr marL="1532890" marR="1525270" algn="ctr">
              <a:lnSpc>
                <a:spcPct val="100000"/>
              </a:lnSpc>
            </a:pPr>
            <a:r>
              <a:rPr sz="2600" dirty="0">
                <a:latin typeface="Symbol" panose="05050102010706020507"/>
                <a:cs typeface="Symbol" panose="05050102010706020507"/>
              </a:rPr>
              <a:t></a:t>
            </a: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60" dirty="0">
                <a:latin typeface="Cambria Math" panose="02040503050406030204"/>
                <a:cs typeface="Cambria Math" panose="02040503050406030204"/>
              </a:rPr>
              <a:t>3𝑥</a:t>
            </a:r>
            <a:r>
              <a:rPr sz="2850" spc="89" baseline="28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850" spc="375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600" spc="-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spc="-5" dirty="0">
                <a:latin typeface="Cambria Math" panose="02040503050406030204"/>
                <a:cs typeface="Cambria Math" panose="02040503050406030204"/>
              </a:rPr>
              <a:t>7𝑥</a:t>
            </a:r>
            <a:r>
              <a:rPr sz="2600" spc="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600" spc="-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2600" spc="1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≤</a:t>
            </a:r>
            <a:r>
              <a:rPr sz="2600" spc="1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0 </a:t>
            </a:r>
            <a:r>
              <a:rPr sz="2600" spc="-5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spc="-5" dirty="0">
                <a:latin typeface="Cambria Math" panose="02040503050406030204"/>
                <a:cs typeface="Cambria Math" panose="02040503050406030204"/>
              </a:rPr>
              <a:t>(3𝑥</a:t>
            </a:r>
            <a:r>
              <a:rPr sz="2600" spc="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600" spc="-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spc="-5" dirty="0">
                <a:latin typeface="Cambria Math" panose="02040503050406030204"/>
                <a:cs typeface="Cambria Math" panose="02040503050406030204"/>
              </a:rPr>
              <a:t>4)(𝑥</a:t>
            </a:r>
            <a:r>
              <a:rPr sz="2600" spc="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600" spc="-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1)</a:t>
            </a:r>
            <a:r>
              <a:rPr sz="2600" spc="1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≤</a:t>
            </a:r>
            <a:r>
              <a:rPr sz="2600" spc="1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00" dirty="0">
                <a:latin typeface="Cambria Math" panose="02040503050406030204"/>
                <a:cs typeface="Cambria Math" panose="02040503050406030204"/>
              </a:rPr>
              <a:t>0</a:t>
            </a:r>
            <a:endParaRPr sz="2600">
              <a:latin typeface="Cambria Math" panose="02040503050406030204"/>
              <a:cs typeface="Cambria Math" panose="02040503050406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053" y="965961"/>
            <a:ext cx="92125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Contoh:</a:t>
            </a:r>
            <a:r>
              <a:rPr spc="-15" dirty="0"/>
              <a:t> </a:t>
            </a:r>
            <a:r>
              <a:rPr spc="-5" dirty="0"/>
              <a:t>Menentukan</a:t>
            </a:r>
            <a:r>
              <a:rPr spc="-55" dirty="0"/>
              <a:t> </a:t>
            </a:r>
            <a:r>
              <a:rPr spc="-5" dirty="0"/>
              <a:t>Himpunan</a:t>
            </a:r>
            <a:r>
              <a:rPr spc="-40" dirty="0"/>
              <a:t> </a:t>
            </a:r>
            <a:r>
              <a:rPr spc="-15" dirty="0"/>
              <a:t>Penyelesaian</a:t>
            </a:r>
            <a:endParaRPr spc="-15" dirty="0"/>
          </a:p>
        </p:txBody>
      </p:sp>
      <p:grpSp>
        <p:nvGrpSpPr>
          <p:cNvPr id="3" name="object 3"/>
          <p:cNvGrpSpPr/>
          <p:nvPr/>
        </p:nvGrpSpPr>
        <p:grpSpPr>
          <a:xfrm>
            <a:off x="534669" y="2044954"/>
            <a:ext cx="9766300" cy="3612515"/>
            <a:chOff x="534669" y="2044954"/>
            <a:chExt cx="9766300" cy="3612515"/>
          </a:xfrm>
        </p:grpSpPr>
        <p:sp>
          <p:nvSpPr>
            <p:cNvPr id="4" name="object 4"/>
            <p:cNvSpPr/>
            <p:nvPr/>
          </p:nvSpPr>
          <p:spPr>
            <a:xfrm>
              <a:off x="541019" y="2051304"/>
              <a:ext cx="9753600" cy="3599815"/>
            </a:xfrm>
            <a:custGeom>
              <a:avLst/>
              <a:gdLst/>
              <a:ahLst/>
              <a:cxnLst/>
              <a:rect l="l" t="t" r="r" b="b"/>
              <a:pathLst>
                <a:path w="9753600" h="3599815">
                  <a:moveTo>
                    <a:pt x="9753600" y="0"/>
                  </a:moveTo>
                  <a:lnTo>
                    <a:pt x="0" y="0"/>
                  </a:lnTo>
                  <a:lnTo>
                    <a:pt x="0" y="3599688"/>
                  </a:lnTo>
                  <a:lnTo>
                    <a:pt x="9753600" y="3599688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41019" y="2051304"/>
              <a:ext cx="9753600" cy="3599815"/>
            </a:xfrm>
            <a:custGeom>
              <a:avLst/>
              <a:gdLst/>
              <a:ahLst/>
              <a:cxnLst/>
              <a:rect l="l" t="t" r="r" b="b"/>
              <a:pathLst>
                <a:path w="9753600" h="3599815">
                  <a:moveTo>
                    <a:pt x="0" y="3599688"/>
                  </a:moveTo>
                  <a:lnTo>
                    <a:pt x="9753600" y="3599688"/>
                  </a:lnTo>
                  <a:lnTo>
                    <a:pt x="9753600" y="0"/>
                  </a:lnTo>
                  <a:lnTo>
                    <a:pt x="0" y="0"/>
                  </a:lnTo>
                  <a:lnTo>
                    <a:pt x="0" y="3599688"/>
                  </a:lnTo>
                  <a:close/>
                </a:path>
              </a:pathLst>
            </a:custGeom>
            <a:ln w="12699">
              <a:solidFill>
                <a:srgbClr val="C1B56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632155" y="2080336"/>
            <a:ext cx="63620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Jika</a:t>
            </a:r>
            <a:r>
              <a:rPr sz="3200" spc="-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digambar</a:t>
            </a:r>
            <a:r>
              <a:rPr sz="3200" spc="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pada</a:t>
            </a:r>
            <a:r>
              <a:rPr sz="3200" spc="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garis 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bilangan:</a:t>
            </a:r>
            <a:endParaRPr sz="320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69619" y="2747772"/>
            <a:ext cx="4922520" cy="2428875"/>
            <a:chOff x="769619" y="2747772"/>
            <a:chExt cx="4922520" cy="2428875"/>
          </a:xfrm>
        </p:grpSpPr>
        <p:pic>
          <p:nvPicPr>
            <p:cNvPr id="8" name="object 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69619" y="2747772"/>
              <a:ext cx="4922392" cy="144627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318003" y="2945892"/>
              <a:ext cx="1191895" cy="0"/>
            </a:xfrm>
            <a:custGeom>
              <a:avLst/>
              <a:gdLst/>
              <a:ahLst/>
              <a:cxnLst/>
              <a:rect l="l" t="t" r="r" b="b"/>
              <a:pathLst>
                <a:path w="1191895">
                  <a:moveTo>
                    <a:pt x="0" y="0"/>
                  </a:moveTo>
                  <a:lnTo>
                    <a:pt x="1191513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34796" y="2747771"/>
              <a:ext cx="4023360" cy="268605"/>
            </a:xfrm>
            <a:custGeom>
              <a:avLst/>
              <a:gdLst/>
              <a:ahLst/>
              <a:cxnLst/>
              <a:rect l="l" t="t" r="r" b="b"/>
              <a:pathLst>
                <a:path w="4023360" h="268605">
                  <a:moveTo>
                    <a:pt x="1283208" y="101854"/>
                  </a:moveTo>
                  <a:lnTo>
                    <a:pt x="1280591" y="88887"/>
                  </a:lnTo>
                  <a:lnTo>
                    <a:pt x="1273467" y="78320"/>
                  </a:lnTo>
                  <a:lnTo>
                    <a:pt x="1262900" y="71196"/>
                  </a:lnTo>
                  <a:lnTo>
                    <a:pt x="1249934" y="68580"/>
                  </a:lnTo>
                  <a:lnTo>
                    <a:pt x="33274" y="68580"/>
                  </a:lnTo>
                  <a:lnTo>
                    <a:pt x="20320" y="71196"/>
                  </a:lnTo>
                  <a:lnTo>
                    <a:pt x="9740" y="78320"/>
                  </a:lnTo>
                  <a:lnTo>
                    <a:pt x="2603" y="88887"/>
                  </a:lnTo>
                  <a:lnTo>
                    <a:pt x="0" y="101854"/>
                  </a:lnTo>
                  <a:lnTo>
                    <a:pt x="0" y="234950"/>
                  </a:lnTo>
                  <a:lnTo>
                    <a:pt x="2603" y="247929"/>
                  </a:lnTo>
                  <a:lnTo>
                    <a:pt x="9740" y="258495"/>
                  </a:lnTo>
                  <a:lnTo>
                    <a:pt x="20320" y="265620"/>
                  </a:lnTo>
                  <a:lnTo>
                    <a:pt x="33274" y="268224"/>
                  </a:lnTo>
                  <a:lnTo>
                    <a:pt x="1249934" y="268224"/>
                  </a:lnTo>
                  <a:lnTo>
                    <a:pt x="1262900" y="265620"/>
                  </a:lnTo>
                  <a:lnTo>
                    <a:pt x="1273467" y="258495"/>
                  </a:lnTo>
                  <a:lnTo>
                    <a:pt x="1280591" y="247929"/>
                  </a:lnTo>
                  <a:lnTo>
                    <a:pt x="1283208" y="234950"/>
                  </a:lnTo>
                  <a:lnTo>
                    <a:pt x="1283208" y="101854"/>
                  </a:lnTo>
                  <a:close/>
                </a:path>
                <a:path w="4023360" h="268605">
                  <a:moveTo>
                    <a:pt x="4023360" y="33020"/>
                  </a:moveTo>
                  <a:lnTo>
                    <a:pt x="4020769" y="20154"/>
                  </a:lnTo>
                  <a:lnTo>
                    <a:pt x="4013708" y="9652"/>
                  </a:lnTo>
                  <a:lnTo>
                    <a:pt x="4003205" y="2590"/>
                  </a:lnTo>
                  <a:lnTo>
                    <a:pt x="3990340" y="0"/>
                  </a:lnTo>
                  <a:lnTo>
                    <a:pt x="2415032" y="0"/>
                  </a:lnTo>
                  <a:lnTo>
                    <a:pt x="2402154" y="2590"/>
                  </a:lnTo>
                  <a:lnTo>
                    <a:pt x="2391664" y="9652"/>
                  </a:lnTo>
                  <a:lnTo>
                    <a:pt x="2384590" y="20154"/>
                  </a:lnTo>
                  <a:lnTo>
                    <a:pt x="2382012" y="33020"/>
                  </a:lnTo>
                  <a:lnTo>
                    <a:pt x="2382012" y="165100"/>
                  </a:lnTo>
                  <a:lnTo>
                    <a:pt x="2384590" y="177977"/>
                  </a:lnTo>
                  <a:lnTo>
                    <a:pt x="2391651" y="188468"/>
                  </a:lnTo>
                  <a:lnTo>
                    <a:pt x="2402154" y="195541"/>
                  </a:lnTo>
                  <a:lnTo>
                    <a:pt x="2415032" y="198120"/>
                  </a:lnTo>
                  <a:lnTo>
                    <a:pt x="3990340" y="198120"/>
                  </a:lnTo>
                  <a:lnTo>
                    <a:pt x="4003205" y="195541"/>
                  </a:lnTo>
                  <a:lnTo>
                    <a:pt x="4013708" y="188480"/>
                  </a:lnTo>
                  <a:lnTo>
                    <a:pt x="4020769" y="177977"/>
                  </a:lnTo>
                  <a:lnTo>
                    <a:pt x="4023360" y="165100"/>
                  </a:lnTo>
                  <a:lnTo>
                    <a:pt x="4023360" y="330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114423" y="4508499"/>
              <a:ext cx="1498600" cy="668020"/>
            </a:xfrm>
            <a:custGeom>
              <a:avLst/>
              <a:gdLst/>
              <a:ahLst/>
              <a:cxnLst/>
              <a:rect l="l" t="t" r="r" b="b"/>
              <a:pathLst>
                <a:path w="1498600" h="668020">
                  <a:moveTo>
                    <a:pt x="94488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0" y="650240"/>
                  </a:lnTo>
                  <a:lnTo>
                    <a:pt x="0" y="668020"/>
                  </a:lnTo>
                  <a:lnTo>
                    <a:pt x="94488" y="668020"/>
                  </a:lnTo>
                  <a:lnTo>
                    <a:pt x="94488" y="650240"/>
                  </a:lnTo>
                  <a:lnTo>
                    <a:pt x="36703" y="650240"/>
                  </a:lnTo>
                  <a:lnTo>
                    <a:pt x="36703" y="17780"/>
                  </a:lnTo>
                  <a:lnTo>
                    <a:pt x="94488" y="17780"/>
                  </a:lnTo>
                  <a:lnTo>
                    <a:pt x="94488" y="0"/>
                  </a:lnTo>
                  <a:close/>
                </a:path>
                <a:path w="1498600" h="668020">
                  <a:moveTo>
                    <a:pt x="646684" y="322072"/>
                  </a:moveTo>
                  <a:lnTo>
                    <a:pt x="474472" y="322072"/>
                  </a:lnTo>
                  <a:lnTo>
                    <a:pt x="474472" y="347980"/>
                  </a:lnTo>
                  <a:lnTo>
                    <a:pt x="646684" y="347980"/>
                  </a:lnTo>
                  <a:lnTo>
                    <a:pt x="646684" y="322072"/>
                  </a:lnTo>
                  <a:close/>
                </a:path>
                <a:path w="1498600" h="668020">
                  <a:moveTo>
                    <a:pt x="1498600" y="0"/>
                  </a:moveTo>
                  <a:lnTo>
                    <a:pt x="1403985" y="0"/>
                  </a:lnTo>
                  <a:lnTo>
                    <a:pt x="1403985" y="17780"/>
                  </a:lnTo>
                  <a:lnTo>
                    <a:pt x="1461770" y="17780"/>
                  </a:lnTo>
                  <a:lnTo>
                    <a:pt x="1461770" y="650240"/>
                  </a:lnTo>
                  <a:lnTo>
                    <a:pt x="1403985" y="650240"/>
                  </a:lnTo>
                  <a:lnTo>
                    <a:pt x="1403985" y="668020"/>
                  </a:lnTo>
                  <a:lnTo>
                    <a:pt x="1498600" y="668020"/>
                  </a:lnTo>
                  <a:lnTo>
                    <a:pt x="1498600" y="650240"/>
                  </a:lnTo>
                  <a:lnTo>
                    <a:pt x="1498600" y="17780"/>
                  </a:lnTo>
                  <a:lnTo>
                    <a:pt x="1498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0809478" y="998346"/>
            <a:ext cx="5041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25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89276" y="4854321"/>
            <a:ext cx="184785" cy="382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2350" spc="50" dirty="0">
                <a:latin typeface="Cambria Math" panose="02040503050406030204"/>
                <a:cs typeface="Cambria Math" panose="02040503050406030204"/>
              </a:rPr>
              <a:t>3</a:t>
            </a:r>
            <a:endParaRPr sz="23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00531" y="4539818"/>
            <a:ext cx="24472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  <a:tabLst>
                <a:tab pos="1118235" algn="l"/>
              </a:tabLst>
            </a:pPr>
            <a:r>
              <a:rPr sz="3200" spc="-5" dirty="0">
                <a:latin typeface="Trebuchet MS" panose="020B0603020202020204"/>
                <a:cs typeface="Trebuchet MS" panose="020B0603020202020204"/>
              </a:rPr>
              <a:t>H</a:t>
            </a:r>
            <a:r>
              <a:rPr sz="3200" dirty="0">
                <a:latin typeface="Trebuchet MS" panose="020B0603020202020204"/>
                <a:cs typeface="Trebuchet MS" panose="020B0603020202020204"/>
              </a:rPr>
              <a:t>P</a:t>
            </a:r>
            <a:r>
              <a:rPr sz="320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latin typeface="Trebuchet MS" panose="020B0603020202020204"/>
                <a:cs typeface="Trebuchet MS" panose="020B0603020202020204"/>
              </a:rPr>
              <a:t>=	</a:t>
            </a:r>
            <a:r>
              <a:rPr sz="32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3200" spc="-18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525" spc="75" baseline="44000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3525" spc="15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200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3200" spc="-1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200" spc="-1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3200" dirty="0">
                <a:latin typeface="Cambria Math" panose="02040503050406030204"/>
                <a:cs typeface="Cambria Math" panose="02040503050406030204"/>
              </a:rPr>
              <a:t>1</a:t>
            </a:r>
            <a:endParaRPr sz="3200">
              <a:latin typeface="Cambria Math" panose="02040503050406030204"/>
              <a:cs typeface="Cambria Math" panose="02040503050406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9053" y="965961"/>
            <a:ext cx="1550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Latihan</a:t>
            </a:r>
            <a:endParaRPr sz="360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9254" y="2072716"/>
            <a:ext cx="91617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Cari</a:t>
            </a:r>
            <a:r>
              <a:rPr sz="3200" spc="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himpunan</a:t>
            </a:r>
            <a:r>
              <a:rPr sz="3200" spc="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penyelesaian</a:t>
            </a:r>
            <a:r>
              <a:rPr sz="3200" spc="1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dari</a:t>
            </a:r>
            <a:r>
              <a:rPr sz="3200" spc="15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solidFill>
                  <a:srgbClr val="3A3838"/>
                </a:solidFill>
                <a:latin typeface="Trebuchet MS" panose="020B0603020202020204"/>
                <a:cs typeface="Trebuchet MS" panose="020B0603020202020204"/>
              </a:rPr>
              <a:t>pertidaksamaan:</a:t>
            </a:r>
            <a:endParaRPr sz="320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09478" y="998346"/>
            <a:ext cx="5041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36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9" name="Gambar 8" descr="Sebuah gambar berisi teks, Font, struk, putih&#10;&#10;Deskripsi dibuat secara otomatis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54" y="2895599"/>
            <a:ext cx="9161780" cy="299643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>
          <a:xfrm>
            <a:off x="759053" y="965961"/>
            <a:ext cx="10673892" cy="574040"/>
          </a:xfrm>
        </p:spPr>
        <p:txBody>
          <a:bodyPr wrap="square" anchor="ctr">
            <a:normAutofit/>
          </a:bodyPr>
          <a:lstStyle/>
          <a:p>
            <a:r>
              <a:rPr lang="id-ID" dirty="0"/>
              <a:t>Latihan</a:t>
            </a:r>
            <a:endParaRPr lang="id-ID" dirty="0"/>
          </a:p>
        </p:txBody>
      </p:sp>
      <p:pic>
        <p:nvPicPr>
          <p:cNvPr id="5" name="Gambar 4" descr="Sebuah gambar berisi teks, Font, cuplikan layar, putih&#10;&#10;Deskripsi dibuat secara otomatis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053" y="2198950"/>
            <a:ext cx="10673892" cy="341564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>
          <a:xfrm>
            <a:off x="759053" y="965961"/>
            <a:ext cx="10673892" cy="574040"/>
          </a:xfrm>
        </p:spPr>
        <p:txBody>
          <a:bodyPr wrap="square" anchor="ctr">
            <a:normAutofit/>
          </a:bodyPr>
          <a:lstStyle/>
          <a:p>
            <a:r>
              <a:rPr lang="id-ID" dirty="0"/>
              <a:t>Latihan</a:t>
            </a:r>
            <a:endParaRPr lang="id-ID" dirty="0"/>
          </a:p>
        </p:txBody>
      </p:sp>
      <p:pic>
        <p:nvPicPr>
          <p:cNvPr id="5" name="Gambar 4" descr="Sebuah gambar berisi teks, Font, cuplikan layar, putih&#10;&#10;Deskripsi dibuat secara otomatis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09800"/>
            <a:ext cx="10673892" cy="410944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>
          <a:xfrm>
            <a:off x="759053" y="965961"/>
            <a:ext cx="10673892" cy="574040"/>
          </a:xfrm>
        </p:spPr>
        <p:txBody>
          <a:bodyPr wrap="square" anchor="ctr">
            <a:normAutofit/>
          </a:bodyPr>
          <a:lstStyle/>
          <a:p>
            <a:r>
              <a:rPr lang="id-ID" dirty="0"/>
              <a:t>Latihan</a:t>
            </a:r>
            <a:endParaRPr lang="id-ID" dirty="0"/>
          </a:p>
        </p:txBody>
      </p:sp>
      <p:pic>
        <p:nvPicPr>
          <p:cNvPr id="5" name="Gambar 4" descr="Sebuah gambar berisi teks, Font, putih, cuplikan layar&#10;&#10;Deskripsi dibuat secara otomatis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9" r="25814"/>
          <a:stretch>
            <a:fillRect/>
          </a:stretch>
        </p:blipFill>
        <p:spPr>
          <a:xfrm>
            <a:off x="759053" y="1730501"/>
            <a:ext cx="10673892" cy="43525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Latihan</a:t>
            </a:r>
            <a:endParaRPr lang="id-ID" dirty="0"/>
          </a:p>
        </p:txBody>
      </p:sp>
      <p:pic>
        <p:nvPicPr>
          <p:cNvPr id="4" name="Gambar 3" descr="Sebuah gambar berisi teks, Font, cuplikan layar, putih&#10;&#10;Deskripsi dibuat secara otomatis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5" y="2590800"/>
            <a:ext cx="12053120" cy="29654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585704" y="609600"/>
            <a:ext cx="1603375" cy="1506220"/>
            <a:chOff x="10585704" y="609600"/>
            <a:chExt cx="1603375" cy="150622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585704" y="1970532"/>
              <a:ext cx="1603248" cy="14477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585704" y="609600"/>
              <a:ext cx="1603375" cy="1369060"/>
            </a:xfrm>
            <a:custGeom>
              <a:avLst/>
              <a:gdLst/>
              <a:ahLst/>
              <a:cxnLst/>
              <a:rect l="l" t="t" r="r" b="b"/>
              <a:pathLst>
                <a:path w="1603375" h="1369060">
                  <a:moveTo>
                    <a:pt x="1603248" y="0"/>
                  </a:moveTo>
                  <a:lnTo>
                    <a:pt x="0" y="0"/>
                  </a:lnTo>
                  <a:lnTo>
                    <a:pt x="0" y="1368552"/>
                  </a:lnTo>
                  <a:lnTo>
                    <a:pt x="1603248" y="1368552"/>
                  </a:lnTo>
                  <a:lnTo>
                    <a:pt x="1603248" y="0"/>
                  </a:lnTo>
                  <a:close/>
                </a:path>
              </a:pathLst>
            </a:custGeom>
            <a:solidFill>
              <a:srgbClr val="EF931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3884676" y="2816351"/>
            <a:ext cx="4345305" cy="1229995"/>
            <a:chOff x="3884676" y="2816351"/>
            <a:chExt cx="4345305" cy="122999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4676" y="2845307"/>
              <a:ext cx="2505455" cy="11856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22776" y="2857499"/>
              <a:ext cx="2429255" cy="11094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064635" y="2999358"/>
              <a:ext cx="2150110" cy="831215"/>
            </a:xfrm>
            <a:custGeom>
              <a:avLst/>
              <a:gdLst/>
              <a:ahLst/>
              <a:cxnLst/>
              <a:rect l="l" t="t" r="r" b="b"/>
              <a:pathLst>
                <a:path w="2150110" h="831214">
                  <a:moveTo>
                    <a:pt x="2003932" y="393700"/>
                  </a:moveTo>
                  <a:lnTo>
                    <a:pt x="1932686" y="408495"/>
                  </a:lnTo>
                  <a:lnTo>
                    <a:pt x="1875154" y="452246"/>
                  </a:lnTo>
                  <a:lnTo>
                    <a:pt x="1837181" y="517064"/>
                  </a:lnTo>
                  <a:lnTo>
                    <a:pt x="1827827" y="554491"/>
                  </a:lnTo>
                  <a:lnTo>
                    <a:pt x="1824736" y="595121"/>
                  </a:lnTo>
                  <a:lnTo>
                    <a:pt x="1826728" y="628854"/>
                  </a:lnTo>
                  <a:lnTo>
                    <a:pt x="1842952" y="687651"/>
                  </a:lnTo>
                  <a:lnTo>
                    <a:pt x="1874676" y="733065"/>
                  </a:lnTo>
                  <a:lnTo>
                    <a:pt x="1913328" y="756620"/>
                  </a:lnTo>
                  <a:lnTo>
                    <a:pt x="1934844" y="759586"/>
                  </a:lnTo>
                  <a:lnTo>
                    <a:pt x="1962927" y="757166"/>
                  </a:lnTo>
                  <a:lnTo>
                    <a:pt x="2011140" y="738512"/>
                  </a:lnTo>
                  <a:lnTo>
                    <a:pt x="2045985" y="705516"/>
                  </a:lnTo>
                  <a:lnTo>
                    <a:pt x="2058797" y="685418"/>
                  </a:lnTo>
                  <a:lnTo>
                    <a:pt x="2132576" y="685418"/>
                  </a:lnTo>
                  <a:lnTo>
                    <a:pt x="2131026" y="681863"/>
                  </a:lnTo>
                  <a:lnTo>
                    <a:pt x="1961768" y="681863"/>
                  </a:lnTo>
                  <a:lnTo>
                    <a:pt x="1931265" y="676552"/>
                  </a:lnTo>
                  <a:lnTo>
                    <a:pt x="1909476" y="660431"/>
                  </a:lnTo>
                  <a:lnTo>
                    <a:pt x="1896403" y="633499"/>
                  </a:lnTo>
                  <a:lnTo>
                    <a:pt x="1892045" y="595756"/>
                  </a:lnTo>
                  <a:lnTo>
                    <a:pt x="1894012" y="570480"/>
                  </a:lnTo>
                  <a:lnTo>
                    <a:pt x="1909994" y="525069"/>
                  </a:lnTo>
                  <a:lnTo>
                    <a:pt x="1941570" y="488404"/>
                  </a:lnTo>
                  <a:lnTo>
                    <a:pt x="1983166" y="469056"/>
                  </a:lnTo>
                  <a:lnTo>
                    <a:pt x="2007489" y="466598"/>
                  </a:lnTo>
                  <a:lnTo>
                    <a:pt x="2120011" y="466598"/>
                  </a:lnTo>
                  <a:lnTo>
                    <a:pt x="2120011" y="414019"/>
                  </a:lnTo>
                  <a:lnTo>
                    <a:pt x="2119727" y="407162"/>
                  </a:lnTo>
                  <a:lnTo>
                    <a:pt x="2052447" y="407162"/>
                  </a:lnTo>
                  <a:lnTo>
                    <a:pt x="2045080" y="403605"/>
                  </a:lnTo>
                  <a:lnTo>
                    <a:pt x="2010433" y="394005"/>
                  </a:lnTo>
                  <a:lnTo>
                    <a:pt x="2003932" y="393700"/>
                  </a:lnTo>
                  <a:close/>
                </a:path>
                <a:path w="2150110" h="831214">
                  <a:moveTo>
                    <a:pt x="2132576" y="685418"/>
                  </a:moveTo>
                  <a:lnTo>
                    <a:pt x="2058797" y="685418"/>
                  </a:lnTo>
                  <a:lnTo>
                    <a:pt x="2064025" y="703695"/>
                  </a:lnTo>
                  <a:lnTo>
                    <a:pt x="2088261" y="741807"/>
                  </a:lnTo>
                  <a:lnTo>
                    <a:pt x="2130534" y="757916"/>
                  </a:lnTo>
                  <a:lnTo>
                    <a:pt x="2149729" y="759078"/>
                  </a:lnTo>
                  <a:lnTo>
                    <a:pt x="2149729" y="709929"/>
                  </a:lnTo>
                  <a:lnTo>
                    <a:pt x="2136673" y="694818"/>
                  </a:lnTo>
                  <a:lnTo>
                    <a:pt x="2132576" y="685418"/>
                  </a:lnTo>
                  <a:close/>
                </a:path>
                <a:path w="2150110" h="831214">
                  <a:moveTo>
                    <a:pt x="2120011" y="466598"/>
                  </a:moveTo>
                  <a:lnTo>
                    <a:pt x="2012950" y="466598"/>
                  </a:lnTo>
                  <a:lnTo>
                    <a:pt x="2020951" y="467994"/>
                  </a:lnTo>
                  <a:lnTo>
                    <a:pt x="2031491" y="470788"/>
                  </a:lnTo>
                  <a:lnTo>
                    <a:pt x="2037588" y="472313"/>
                  </a:lnTo>
                  <a:lnTo>
                    <a:pt x="2044573" y="474471"/>
                  </a:lnTo>
                  <a:lnTo>
                    <a:pt x="2052447" y="477012"/>
                  </a:lnTo>
                  <a:lnTo>
                    <a:pt x="2052447" y="610996"/>
                  </a:lnTo>
                  <a:lnTo>
                    <a:pt x="2031238" y="642746"/>
                  </a:lnTo>
                  <a:lnTo>
                    <a:pt x="1998027" y="672020"/>
                  </a:lnTo>
                  <a:lnTo>
                    <a:pt x="1961768" y="681863"/>
                  </a:lnTo>
                  <a:lnTo>
                    <a:pt x="2131026" y="681863"/>
                  </a:lnTo>
                  <a:lnTo>
                    <a:pt x="2127392" y="673528"/>
                  </a:lnTo>
                  <a:lnTo>
                    <a:pt x="2121850" y="646118"/>
                  </a:lnTo>
                  <a:lnTo>
                    <a:pt x="2120011" y="612647"/>
                  </a:lnTo>
                  <a:lnTo>
                    <a:pt x="2120011" y="466598"/>
                  </a:lnTo>
                  <a:close/>
                </a:path>
                <a:path w="2150110" h="831214">
                  <a:moveTo>
                    <a:pt x="2099549" y="272668"/>
                  </a:moveTo>
                  <a:lnTo>
                    <a:pt x="1969897" y="272668"/>
                  </a:lnTo>
                  <a:lnTo>
                    <a:pt x="1989075" y="274738"/>
                  </a:lnTo>
                  <a:lnTo>
                    <a:pt x="2005695" y="280939"/>
                  </a:lnTo>
                  <a:lnTo>
                    <a:pt x="2040713" y="324615"/>
                  </a:lnTo>
                  <a:lnTo>
                    <a:pt x="2051155" y="375376"/>
                  </a:lnTo>
                  <a:lnTo>
                    <a:pt x="2052447" y="407162"/>
                  </a:lnTo>
                  <a:lnTo>
                    <a:pt x="2119727" y="407162"/>
                  </a:lnTo>
                  <a:lnTo>
                    <a:pt x="2117711" y="358288"/>
                  </a:lnTo>
                  <a:lnTo>
                    <a:pt x="2110755" y="310594"/>
                  </a:lnTo>
                  <a:lnTo>
                    <a:pt x="2099549" y="272668"/>
                  </a:lnTo>
                  <a:close/>
                </a:path>
                <a:path w="2150110" h="831214">
                  <a:moveTo>
                    <a:pt x="1962023" y="184785"/>
                  </a:moveTo>
                  <a:lnTo>
                    <a:pt x="1914249" y="194161"/>
                  </a:lnTo>
                  <a:lnTo>
                    <a:pt x="1867312" y="219360"/>
                  </a:lnTo>
                  <a:lnTo>
                    <a:pt x="1844548" y="240664"/>
                  </a:lnTo>
                  <a:lnTo>
                    <a:pt x="1851687" y="261110"/>
                  </a:lnTo>
                  <a:lnTo>
                    <a:pt x="1865729" y="302190"/>
                  </a:lnTo>
                  <a:lnTo>
                    <a:pt x="1872868" y="322706"/>
                  </a:lnTo>
                  <a:lnTo>
                    <a:pt x="1891815" y="300976"/>
                  </a:lnTo>
                  <a:lnTo>
                    <a:pt x="1914239" y="285353"/>
                  </a:lnTo>
                  <a:lnTo>
                    <a:pt x="1940234" y="275897"/>
                  </a:lnTo>
                  <a:lnTo>
                    <a:pt x="1969897" y="272668"/>
                  </a:lnTo>
                  <a:lnTo>
                    <a:pt x="2099549" y="272668"/>
                  </a:lnTo>
                  <a:lnTo>
                    <a:pt x="2099061" y="271019"/>
                  </a:lnTo>
                  <a:lnTo>
                    <a:pt x="2071939" y="226325"/>
                  </a:lnTo>
                  <a:lnTo>
                    <a:pt x="2031238" y="197357"/>
                  </a:lnTo>
                  <a:lnTo>
                    <a:pt x="1981267" y="185588"/>
                  </a:lnTo>
                  <a:lnTo>
                    <a:pt x="1962023" y="184785"/>
                  </a:lnTo>
                  <a:close/>
                </a:path>
                <a:path w="2150110" h="831214">
                  <a:moveTo>
                    <a:pt x="222757" y="166115"/>
                  </a:moveTo>
                  <a:lnTo>
                    <a:pt x="152018" y="166115"/>
                  </a:lnTo>
                  <a:lnTo>
                    <a:pt x="152018" y="830833"/>
                  </a:lnTo>
                  <a:lnTo>
                    <a:pt x="186531" y="825674"/>
                  </a:lnTo>
                  <a:lnTo>
                    <a:pt x="222757" y="820801"/>
                  </a:lnTo>
                  <a:lnTo>
                    <a:pt x="222757" y="166115"/>
                  </a:lnTo>
                  <a:close/>
                </a:path>
                <a:path w="2150110" h="831214">
                  <a:moveTo>
                    <a:pt x="512572" y="228980"/>
                  </a:moveTo>
                  <a:lnTo>
                    <a:pt x="447722" y="252634"/>
                  </a:lnTo>
                  <a:lnTo>
                    <a:pt x="418756" y="278165"/>
                  </a:lnTo>
                  <a:lnTo>
                    <a:pt x="391917" y="312681"/>
                  </a:lnTo>
                  <a:lnTo>
                    <a:pt x="371179" y="349795"/>
                  </a:lnTo>
                  <a:lnTo>
                    <a:pt x="355215" y="390891"/>
                  </a:lnTo>
                  <a:lnTo>
                    <a:pt x="343934" y="435944"/>
                  </a:lnTo>
                  <a:lnTo>
                    <a:pt x="337236" y="484934"/>
                  </a:lnTo>
                  <a:lnTo>
                    <a:pt x="335025" y="537844"/>
                  </a:lnTo>
                  <a:lnTo>
                    <a:pt x="338411" y="600106"/>
                  </a:lnTo>
                  <a:lnTo>
                    <a:pt x="348678" y="655034"/>
                  </a:lnTo>
                  <a:lnTo>
                    <a:pt x="365994" y="702579"/>
                  </a:lnTo>
                  <a:lnTo>
                    <a:pt x="390525" y="742695"/>
                  </a:lnTo>
                  <a:lnTo>
                    <a:pt x="417012" y="771261"/>
                  </a:lnTo>
                  <a:lnTo>
                    <a:pt x="477464" y="801864"/>
                  </a:lnTo>
                  <a:lnTo>
                    <a:pt x="511810" y="803782"/>
                  </a:lnTo>
                  <a:lnTo>
                    <a:pt x="536019" y="800631"/>
                  </a:lnTo>
                  <a:lnTo>
                    <a:pt x="580961" y="786566"/>
                  </a:lnTo>
                  <a:lnTo>
                    <a:pt x="616745" y="766323"/>
                  </a:lnTo>
                  <a:lnTo>
                    <a:pt x="649731" y="733551"/>
                  </a:lnTo>
                  <a:lnTo>
                    <a:pt x="644116" y="720089"/>
                  </a:lnTo>
                  <a:lnTo>
                    <a:pt x="524763" y="720089"/>
                  </a:lnTo>
                  <a:lnTo>
                    <a:pt x="500967" y="718976"/>
                  </a:lnTo>
                  <a:lnTo>
                    <a:pt x="459470" y="699319"/>
                  </a:lnTo>
                  <a:lnTo>
                    <a:pt x="426043" y="653413"/>
                  </a:lnTo>
                  <a:lnTo>
                    <a:pt x="408402" y="580066"/>
                  </a:lnTo>
                  <a:lnTo>
                    <a:pt x="406273" y="534415"/>
                  </a:lnTo>
                  <a:lnTo>
                    <a:pt x="569749" y="521943"/>
                  </a:lnTo>
                  <a:lnTo>
                    <a:pt x="678814" y="515112"/>
                  </a:lnTo>
                  <a:lnTo>
                    <a:pt x="681128" y="500971"/>
                  </a:lnTo>
                  <a:lnTo>
                    <a:pt x="682751" y="486187"/>
                  </a:lnTo>
                  <a:lnTo>
                    <a:pt x="683708" y="470785"/>
                  </a:lnTo>
                  <a:lnTo>
                    <a:pt x="683865" y="462788"/>
                  </a:lnTo>
                  <a:lnTo>
                    <a:pt x="408050" y="462788"/>
                  </a:lnTo>
                  <a:lnTo>
                    <a:pt x="411464" y="433728"/>
                  </a:lnTo>
                  <a:lnTo>
                    <a:pt x="427339" y="382135"/>
                  </a:lnTo>
                  <a:lnTo>
                    <a:pt x="456525" y="340016"/>
                  </a:lnTo>
                  <a:lnTo>
                    <a:pt x="494403" y="315803"/>
                  </a:lnTo>
                  <a:lnTo>
                    <a:pt x="515747" y="311530"/>
                  </a:lnTo>
                  <a:lnTo>
                    <a:pt x="653881" y="311530"/>
                  </a:lnTo>
                  <a:lnTo>
                    <a:pt x="639572" y="287274"/>
                  </a:lnTo>
                  <a:lnTo>
                    <a:pt x="614245" y="259770"/>
                  </a:lnTo>
                  <a:lnTo>
                    <a:pt x="584787" y="240791"/>
                  </a:lnTo>
                  <a:lnTo>
                    <a:pt x="550971" y="230481"/>
                  </a:lnTo>
                  <a:lnTo>
                    <a:pt x="512572" y="228980"/>
                  </a:lnTo>
                  <a:close/>
                </a:path>
                <a:path w="2150110" h="831214">
                  <a:moveTo>
                    <a:pt x="621029" y="664463"/>
                  </a:moveTo>
                  <a:lnTo>
                    <a:pt x="600469" y="687121"/>
                  </a:lnTo>
                  <a:lnTo>
                    <a:pt x="577707" y="703992"/>
                  </a:lnTo>
                  <a:lnTo>
                    <a:pt x="552539" y="715006"/>
                  </a:lnTo>
                  <a:lnTo>
                    <a:pt x="524763" y="720089"/>
                  </a:lnTo>
                  <a:lnTo>
                    <a:pt x="644116" y="720089"/>
                  </a:lnTo>
                  <a:lnTo>
                    <a:pt x="628229" y="681724"/>
                  </a:lnTo>
                  <a:lnTo>
                    <a:pt x="621029" y="664463"/>
                  </a:lnTo>
                  <a:close/>
                </a:path>
                <a:path w="2150110" h="831214">
                  <a:moveTo>
                    <a:pt x="653881" y="311530"/>
                  </a:moveTo>
                  <a:lnTo>
                    <a:pt x="515747" y="311530"/>
                  </a:lnTo>
                  <a:lnTo>
                    <a:pt x="538491" y="312681"/>
                  </a:lnTo>
                  <a:lnTo>
                    <a:pt x="558736" y="319500"/>
                  </a:lnTo>
                  <a:lnTo>
                    <a:pt x="591840" y="349795"/>
                  </a:lnTo>
                  <a:lnTo>
                    <a:pt x="610933" y="393207"/>
                  </a:lnTo>
                  <a:lnTo>
                    <a:pt x="617092" y="447420"/>
                  </a:lnTo>
                  <a:lnTo>
                    <a:pt x="564749" y="450857"/>
                  </a:lnTo>
                  <a:lnTo>
                    <a:pt x="408050" y="462788"/>
                  </a:lnTo>
                  <a:lnTo>
                    <a:pt x="683865" y="462788"/>
                  </a:lnTo>
                  <a:lnTo>
                    <a:pt x="684008" y="454533"/>
                  </a:lnTo>
                  <a:lnTo>
                    <a:pt x="681327" y="404538"/>
                  </a:lnTo>
                  <a:lnTo>
                    <a:pt x="673131" y="359790"/>
                  </a:lnTo>
                  <a:lnTo>
                    <a:pt x="659268" y="320663"/>
                  </a:lnTo>
                  <a:lnTo>
                    <a:pt x="653881" y="311530"/>
                  </a:lnTo>
                  <a:close/>
                </a:path>
                <a:path w="2150110" h="831214">
                  <a:moveTo>
                    <a:pt x="396366" y="44830"/>
                  </a:moveTo>
                  <a:lnTo>
                    <a:pt x="291081" y="54405"/>
                  </a:lnTo>
                  <a:lnTo>
                    <a:pt x="232701" y="60517"/>
                  </a:lnTo>
                  <a:lnTo>
                    <a:pt x="174685" y="67671"/>
                  </a:lnTo>
                  <a:lnTo>
                    <a:pt x="120175" y="75984"/>
                  </a:lnTo>
                  <a:lnTo>
                    <a:pt x="72310" y="85574"/>
                  </a:lnTo>
                  <a:lnTo>
                    <a:pt x="34231" y="96560"/>
                  </a:lnTo>
                  <a:lnTo>
                    <a:pt x="0" y="123189"/>
                  </a:lnTo>
                  <a:lnTo>
                    <a:pt x="0" y="216280"/>
                  </a:lnTo>
                  <a:lnTo>
                    <a:pt x="15769" y="199798"/>
                  </a:lnTo>
                  <a:lnTo>
                    <a:pt x="54721" y="185769"/>
                  </a:lnTo>
                  <a:lnTo>
                    <a:pt x="104316" y="174454"/>
                  </a:lnTo>
                  <a:lnTo>
                    <a:pt x="152018" y="166115"/>
                  </a:lnTo>
                  <a:lnTo>
                    <a:pt x="222757" y="166115"/>
                  </a:lnTo>
                  <a:lnTo>
                    <a:pt x="222757" y="156210"/>
                  </a:lnTo>
                  <a:lnTo>
                    <a:pt x="266029" y="150959"/>
                  </a:lnTo>
                  <a:lnTo>
                    <a:pt x="352952" y="141886"/>
                  </a:lnTo>
                  <a:lnTo>
                    <a:pt x="396366" y="137921"/>
                  </a:lnTo>
                  <a:lnTo>
                    <a:pt x="396366" y="44830"/>
                  </a:lnTo>
                  <a:close/>
                </a:path>
                <a:path w="2150110" h="831214">
                  <a:moveTo>
                    <a:pt x="1135506" y="293496"/>
                  </a:moveTo>
                  <a:lnTo>
                    <a:pt x="1068451" y="293496"/>
                  </a:lnTo>
                  <a:lnTo>
                    <a:pt x="1068451" y="764793"/>
                  </a:lnTo>
                  <a:lnTo>
                    <a:pt x="1135506" y="762507"/>
                  </a:lnTo>
                  <a:lnTo>
                    <a:pt x="1135506" y="293496"/>
                  </a:lnTo>
                  <a:close/>
                </a:path>
                <a:path w="2150110" h="831214">
                  <a:moveTo>
                    <a:pt x="1135506" y="208533"/>
                  </a:moveTo>
                  <a:lnTo>
                    <a:pt x="1016253" y="212725"/>
                  </a:lnTo>
                  <a:lnTo>
                    <a:pt x="1016253" y="295401"/>
                  </a:lnTo>
                  <a:lnTo>
                    <a:pt x="1068451" y="293496"/>
                  </a:lnTo>
                  <a:lnTo>
                    <a:pt x="1135506" y="293496"/>
                  </a:lnTo>
                  <a:lnTo>
                    <a:pt x="1135506" y="208533"/>
                  </a:lnTo>
                  <a:close/>
                </a:path>
                <a:path w="2150110" h="831214">
                  <a:moveTo>
                    <a:pt x="1285620" y="204215"/>
                  </a:moveTo>
                  <a:lnTo>
                    <a:pt x="1241932" y="205358"/>
                  </a:lnTo>
                  <a:lnTo>
                    <a:pt x="1241932" y="759332"/>
                  </a:lnTo>
                  <a:lnTo>
                    <a:pt x="1308989" y="757682"/>
                  </a:lnTo>
                  <a:lnTo>
                    <a:pt x="1308989" y="348995"/>
                  </a:lnTo>
                  <a:lnTo>
                    <a:pt x="1314674" y="335412"/>
                  </a:lnTo>
                  <a:lnTo>
                    <a:pt x="1341374" y="298068"/>
                  </a:lnTo>
                  <a:lnTo>
                    <a:pt x="1374074" y="275976"/>
                  </a:lnTo>
                  <a:lnTo>
                    <a:pt x="1384300" y="274319"/>
                  </a:lnTo>
                  <a:lnTo>
                    <a:pt x="1584702" y="274319"/>
                  </a:lnTo>
                  <a:lnTo>
                    <a:pt x="1591030" y="271952"/>
                  </a:lnTo>
                  <a:lnTo>
                    <a:pt x="1602993" y="270382"/>
                  </a:lnTo>
                  <a:lnTo>
                    <a:pt x="1731500" y="270382"/>
                  </a:lnTo>
                  <a:lnTo>
                    <a:pt x="1730728" y="267842"/>
                  </a:lnTo>
                  <a:lnTo>
                    <a:pt x="1307973" y="267842"/>
                  </a:lnTo>
                  <a:lnTo>
                    <a:pt x="1302319" y="251936"/>
                  </a:lnTo>
                  <a:lnTo>
                    <a:pt x="1291203" y="220122"/>
                  </a:lnTo>
                  <a:lnTo>
                    <a:pt x="1285620" y="204215"/>
                  </a:lnTo>
                  <a:close/>
                </a:path>
                <a:path w="2150110" h="831214">
                  <a:moveTo>
                    <a:pt x="1584702" y="274319"/>
                  </a:moveTo>
                  <a:lnTo>
                    <a:pt x="1384300" y="274319"/>
                  </a:lnTo>
                  <a:lnTo>
                    <a:pt x="1400815" y="275455"/>
                  </a:lnTo>
                  <a:lnTo>
                    <a:pt x="1415557" y="279590"/>
                  </a:lnTo>
                  <a:lnTo>
                    <a:pt x="1449347" y="309280"/>
                  </a:lnTo>
                  <a:lnTo>
                    <a:pt x="1461135" y="360679"/>
                  </a:lnTo>
                  <a:lnTo>
                    <a:pt x="1461135" y="754379"/>
                  </a:lnTo>
                  <a:lnTo>
                    <a:pt x="1528317" y="753109"/>
                  </a:lnTo>
                  <a:lnTo>
                    <a:pt x="1528423" y="343106"/>
                  </a:lnTo>
                  <a:lnTo>
                    <a:pt x="1547552" y="304563"/>
                  </a:lnTo>
                  <a:lnTo>
                    <a:pt x="1579483" y="276272"/>
                  </a:lnTo>
                  <a:lnTo>
                    <a:pt x="1584702" y="274319"/>
                  </a:lnTo>
                  <a:close/>
                </a:path>
                <a:path w="2150110" h="831214">
                  <a:moveTo>
                    <a:pt x="1731500" y="270382"/>
                  </a:moveTo>
                  <a:lnTo>
                    <a:pt x="1602993" y="270382"/>
                  </a:lnTo>
                  <a:lnTo>
                    <a:pt x="1636978" y="278145"/>
                  </a:lnTo>
                  <a:lnTo>
                    <a:pt x="1661223" y="302386"/>
                  </a:lnTo>
                  <a:lnTo>
                    <a:pt x="1675753" y="343106"/>
                  </a:lnTo>
                  <a:lnTo>
                    <a:pt x="1680590" y="400303"/>
                  </a:lnTo>
                  <a:lnTo>
                    <a:pt x="1680590" y="751077"/>
                  </a:lnTo>
                  <a:lnTo>
                    <a:pt x="1747901" y="750315"/>
                  </a:lnTo>
                  <a:lnTo>
                    <a:pt x="1747901" y="379983"/>
                  </a:lnTo>
                  <a:lnTo>
                    <a:pt x="1745932" y="336534"/>
                  </a:lnTo>
                  <a:lnTo>
                    <a:pt x="1739963" y="298227"/>
                  </a:lnTo>
                  <a:lnTo>
                    <a:pt x="1731500" y="270382"/>
                  </a:lnTo>
                  <a:close/>
                </a:path>
                <a:path w="2150110" h="831214">
                  <a:moveTo>
                    <a:pt x="1405381" y="191135"/>
                  </a:moveTo>
                  <a:lnTo>
                    <a:pt x="1377374" y="196405"/>
                  </a:lnTo>
                  <a:lnTo>
                    <a:pt x="1351914" y="211010"/>
                  </a:lnTo>
                  <a:lnTo>
                    <a:pt x="1328836" y="234854"/>
                  </a:lnTo>
                  <a:lnTo>
                    <a:pt x="1307973" y="267842"/>
                  </a:lnTo>
                  <a:lnTo>
                    <a:pt x="1730728" y="267842"/>
                  </a:lnTo>
                  <a:lnTo>
                    <a:pt x="1729898" y="265112"/>
                  </a:lnTo>
                  <a:lnTo>
                    <a:pt x="1728762" y="262889"/>
                  </a:lnTo>
                  <a:lnTo>
                    <a:pt x="1519174" y="262889"/>
                  </a:lnTo>
                  <a:lnTo>
                    <a:pt x="1499679" y="230997"/>
                  </a:lnTo>
                  <a:lnTo>
                    <a:pt x="1474279" y="208343"/>
                  </a:lnTo>
                  <a:lnTo>
                    <a:pt x="1442878" y="195024"/>
                  </a:lnTo>
                  <a:lnTo>
                    <a:pt x="1405381" y="191135"/>
                  </a:lnTo>
                  <a:close/>
                </a:path>
                <a:path w="2150110" h="831214">
                  <a:moveTo>
                    <a:pt x="1624584" y="187325"/>
                  </a:moveTo>
                  <a:lnTo>
                    <a:pt x="1576899" y="200023"/>
                  </a:lnTo>
                  <a:lnTo>
                    <a:pt x="1535350" y="233632"/>
                  </a:lnTo>
                  <a:lnTo>
                    <a:pt x="1519174" y="262889"/>
                  </a:lnTo>
                  <a:lnTo>
                    <a:pt x="1728762" y="262889"/>
                  </a:lnTo>
                  <a:lnTo>
                    <a:pt x="1697718" y="215221"/>
                  </a:lnTo>
                  <a:lnTo>
                    <a:pt x="1652295" y="190194"/>
                  </a:lnTo>
                  <a:lnTo>
                    <a:pt x="1624584" y="187325"/>
                  </a:lnTo>
                  <a:close/>
                </a:path>
                <a:path w="2150110" h="831214">
                  <a:moveTo>
                    <a:pt x="826769" y="220725"/>
                  </a:moveTo>
                  <a:lnTo>
                    <a:pt x="759460" y="224154"/>
                  </a:lnTo>
                  <a:lnTo>
                    <a:pt x="759460" y="778128"/>
                  </a:lnTo>
                  <a:lnTo>
                    <a:pt x="826769" y="774699"/>
                  </a:lnTo>
                  <a:lnTo>
                    <a:pt x="826769" y="457073"/>
                  </a:lnTo>
                  <a:lnTo>
                    <a:pt x="828361" y="424364"/>
                  </a:lnTo>
                  <a:lnTo>
                    <a:pt x="841450" y="365758"/>
                  </a:lnTo>
                  <a:lnTo>
                    <a:pt x="867273" y="318414"/>
                  </a:lnTo>
                  <a:lnTo>
                    <a:pt x="876081" y="309244"/>
                  </a:lnTo>
                  <a:lnTo>
                    <a:pt x="826769" y="309244"/>
                  </a:lnTo>
                  <a:lnTo>
                    <a:pt x="826769" y="220725"/>
                  </a:lnTo>
                  <a:close/>
                </a:path>
                <a:path w="2150110" h="831214">
                  <a:moveTo>
                    <a:pt x="965829" y="289178"/>
                  </a:moveTo>
                  <a:lnTo>
                    <a:pt x="915797" y="289178"/>
                  </a:lnTo>
                  <a:lnTo>
                    <a:pt x="926808" y="290121"/>
                  </a:lnTo>
                  <a:lnTo>
                    <a:pt x="937783" y="293862"/>
                  </a:lnTo>
                  <a:lnTo>
                    <a:pt x="948783" y="300341"/>
                  </a:lnTo>
                  <a:lnTo>
                    <a:pt x="959865" y="309499"/>
                  </a:lnTo>
                  <a:lnTo>
                    <a:pt x="965829" y="289178"/>
                  </a:lnTo>
                  <a:close/>
                </a:path>
                <a:path w="2150110" h="831214">
                  <a:moveTo>
                    <a:pt x="935863" y="205486"/>
                  </a:moveTo>
                  <a:lnTo>
                    <a:pt x="901975" y="213161"/>
                  </a:lnTo>
                  <a:lnTo>
                    <a:pt x="872601" y="233076"/>
                  </a:lnTo>
                  <a:lnTo>
                    <a:pt x="847584" y="265136"/>
                  </a:lnTo>
                  <a:lnTo>
                    <a:pt x="826769" y="309244"/>
                  </a:lnTo>
                  <a:lnTo>
                    <a:pt x="876081" y="309244"/>
                  </a:lnTo>
                  <a:lnTo>
                    <a:pt x="882348" y="302720"/>
                  </a:lnTo>
                  <a:lnTo>
                    <a:pt x="898495" y="292955"/>
                  </a:lnTo>
                  <a:lnTo>
                    <a:pt x="915797" y="289178"/>
                  </a:lnTo>
                  <a:lnTo>
                    <a:pt x="965829" y="289178"/>
                  </a:lnTo>
                  <a:lnTo>
                    <a:pt x="966950" y="285359"/>
                  </a:lnTo>
                  <a:lnTo>
                    <a:pt x="980975" y="236936"/>
                  </a:lnTo>
                  <a:lnTo>
                    <a:pt x="988060" y="212725"/>
                  </a:lnTo>
                  <a:lnTo>
                    <a:pt x="971938" y="209325"/>
                  </a:lnTo>
                  <a:lnTo>
                    <a:pt x="957865" y="206962"/>
                  </a:lnTo>
                  <a:lnTo>
                    <a:pt x="945840" y="205670"/>
                  </a:lnTo>
                  <a:lnTo>
                    <a:pt x="935863" y="205486"/>
                  </a:lnTo>
                  <a:close/>
                </a:path>
                <a:path w="2150110" h="831214">
                  <a:moveTo>
                    <a:pt x="1105027" y="0"/>
                  </a:moveTo>
                  <a:lnTo>
                    <a:pt x="1070502" y="28096"/>
                  </a:lnTo>
                  <a:lnTo>
                    <a:pt x="1063752" y="61975"/>
                  </a:lnTo>
                  <a:lnTo>
                    <a:pt x="1064515" y="74164"/>
                  </a:lnTo>
                  <a:lnTo>
                    <a:pt x="1082488" y="112271"/>
                  </a:lnTo>
                  <a:lnTo>
                    <a:pt x="1105027" y="121665"/>
                  </a:lnTo>
                  <a:lnTo>
                    <a:pt x="1113365" y="120209"/>
                  </a:lnTo>
                  <a:lnTo>
                    <a:pt x="1143873" y="82772"/>
                  </a:lnTo>
                  <a:lnTo>
                    <a:pt x="1146937" y="59181"/>
                  </a:lnTo>
                  <a:lnTo>
                    <a:pt x="1146173" y="47234"/>
                  </a:lnTo>
                  <a:lnTo>
                    <a:pt x="1128137" y="9322"/>
                  </a:lnTo>
                  <a:lnTo>
                    <a:pt x="1105027" y="0"/>
                  </a:lnTo>
                  <a:close/>
                </a:path>
              </a:pathLst>
            </a:custGeom>
            <a:solidFill>
              <a:srgbClr val="EF93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32220" y="2816351"/>
              <a:ext cx="1897379" cy="122986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70320" y="2828531"/>
              <a:ext cx="1821179" cy="115368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511544" y="2970148"/>
              <a:ext cx="1543050" cy="875030"/>
            </a:xfrm>
            <a:custGeom>
              <a:avLst/>
              <a:gdLst/>
              <a:ahLst/>
              <a:cxnLst/>
              <a:rect l="l" t="t" r="r" b="b"/>
              <a:pathLst>
                <a:path w="1543050" h="875029">
                  <a:moveTo>
                    <a:pt x="654270" y="731646"/>
                  </a:moveTo>
                  <a:lnTo>
                    <a:pt x="581786" y="731646"/>
                  </a:lnTo>
                  <a:lnTo>
                    <a:pt x="586940" y="750117"/>
                  </a:lnTo>
                  <a:lnTo>
                    <a:pt x="610997" y="789051"/>
                  </a:lnTo>
                  <a:lnTo>
                    <a:pt x="653305" y="806713"/>
                  </a:lnTo>
                  <a:lnTo>
                    <a:pt x="672719" y="808608"/>
                  </a:lnTo>
                  <a:lnTo>
                    <a:pt x="672719" y="759459"/>
                  </a:lnTo>
                  <a:lnTo>
                    <a:pt x="659550" y="743795"/>
                  </a:lnTo>
                  <a:lnTo>
                    <a:pt x="654270" y="731646"/>
                  </a:lnTo>
                  <a:close/>
                </a:path>
                <a:path w="1543050" h="875029">
                  <a:moveTo>
                    <a:pt x="526923" y="437896"/>
                  </a:moveTo>
                  <a:lnTo>
                    <a:pt x="455549" y="450246"/>
                  </a:lnTo>
                  <a:lnTo>
                    <a:pt x="397890" y="492125"/>
                  </a:lnTo>
                  <a:lnTo>
                    <a:pt x="359806" y="555625"/>
                  </a:lnTo>
                  <a:lnTo>
                    <a:pt x="350438" y="592709"/>
                  </a:lnTo>
                  <a:lnTo>
                    <a:pt x="347345" y="633222"/>
                  </a:lnTo>
                  <a:lnTo>
                    <a:pt x="349337" y="667043"/>
                  </a:lnTo>
                  <a:lnTo>
                    <a:pt x="365561" y="726447"/>
                  </a:lnTo>
                  <a:lnTo>
                    <a:pt x="397323" y="772955"/>
                  </a:lnTo>
                  <a:lnTo>
                    <a:pt x="436098" y="797756"/>
                  </a:lnTo>
                  <a:lnTo>
                    <a:pt x="457580" y="801369"/>
                  </a:lnTo>
                  <a:lnTo>
                    <a:pt x="496704" y="797994"/>
                  </a:lnTo>
                  <a:lnTo>
                    <a:pt x="530351" y="785225"/>
                  </a:lnTo>
                  <a:lnTo>
                    <a:pt x="558665" y="763097"/>
                  </a:lnTo>
                  <a:lnTo>
                    <a:pt x="581786" y="731646"/>
                  </a:lnTo>
                  <a:lnTo>
                    <a:pt x="654270" y="731646"/>
                  </a:lnTo>
                  <a:lnTo>
                    <a:pt x="651234" y="724662"/>
                  </a:lnTo>
                  <a:lnTo>
                    <a:pt x="484758" y="724662"/>
                  </a:lnTo>
                  <a:lnTo>
                    <a:pt x="454161" y="718278"/>
                  </a:lnTo>
                  <a:lnTo>
                    <a:pt x="432292" y="701405"/>
                  </a:lnTo>
                  <a:lnTo>
                    <a:pt x="419161" y="674030"/>
                  </a:lnTo>
                  <a:lnTo>
                    <a:pt x="414781" y="636142"/>
                  </a:lnTo>
                  <a:lnTo>
                    <a:pt x="416768" y="610919"/>
                  </a:lnTo>
                  <a:lnTo>
                    <a:pt x="432837" y="566044"/>
                  </a:lnTo>
                  <a:lnTo>
                    <a:pt x="464470" y="530478"/>
                  </a:lnTo>
                  <a:lnTo>
                    <a:pt x="506190" y="512603"/>
                  </a:lnTo>
                  <a:lnTo>
                    <a:pt x="530478" y="511048"/>
                  </a:lnTo>
                  <a:lnTo>
                    <a:pt x="642620" y="511048"/>
                  </a:lnTo>
                  <a:lnTo>
                    <a:pt x="642620" y="462406"/>
                  </a:lnTo>
                  <a:lnTo>
                    <a:pt x="642241" y="453136"/>
                  </a:lnTo>
                  <a:lnTo>
                    <a:pt x="575309" y="453136"/>
                  </a:lnTo>
                  <a:lnTo>
                    <a:pt x="562070" y="446754"/>
                  </a:lnTo>
                  <a:lnTo>
                    <a:pt x="549592" y="442087"/>
                  </a:lnTo>
                  <a:lnTo>
                    <a:pt x="537876" y="439134"/>
                  </a:lnTo>
                  <a:lnTo>
                    <a:pt x="526923" y="437896"/>
                  </a:lnTo>
                  <a:close/>
                </a:path>
                <a:path w="1543050" h="875029">
                  <a:moveTo>
                    <a:pt x="642620" y="511048"/>
                  </a:moveTo>
                  <a:lnTo>
                    <a:pt x="530478" y="511048"/>
                  </a:lnTo>
                  <a:lnTo>
                    <a:pt x="538055" y="511929"/>
                  </a:lnTo>
                  <a:lnTo>
                    <a:pt x="548036" y="514191"/>
                  </a:lnTo>
                  <a:lnTo>
                    <a:pt x="560447" y="517834"/>
                  </a:lnTo>
                  <a:lnTo>
                    <a:pt x="575309" y="522859"/>
                  </a:lnTo>
                  <a:lnTo>
                    <a:pt x="575309" y="656844"/>
                  </a:lnTo>
                  <a:lnTo>
                    <a:pt x="554714" y="687103"/>
                  </a:lnTo>
                  <a:lnTo>
                    <a:pt x="532844" y="708517"/>
                  </a:lnTo>
                  <a:lnTo>
                    <a:pt x="509569" y="721048"/>
                  </a:lnTo>
                  <a:lnTo>
                    <a:pt x="484758" y="724662"/>
                  </a:lnTo>
                  <a:lnTo>
                    <a:pt x="651234" y="724662"/>
                  </a:lnTo>
                  <a:lnTo>
                    <a:pt x="650144" y="722153"/>
                  </a:lnTo>
                  <a:lnTo>
                    <a:pt x="644501" y="694559"/>
                  </a:lnTo>
                  <a:lnTo>
                    <a:pt x="642620" y="661034"/>
                  </a:lnTo>
                  <a:lnTo>
                    <a:pt x="642620" y="511048"/>
                  </a:lnTo>
                  <a:close/>
                </a:path>
                <a:path w="1543050" h="875029">
                  <a:moveTo>
                    <a:pt x="620324" y="315722"/>
                  </a:moveTo>
                  <a:lnTo>
                    <a:pt x="492886" y="315722"/>
                  </a:lnTo>
                  <a:lnTo>
                    <a:pt x="528857" y="325334"/>
                  </a:lnTo>
                  <a:lnTo>
                    <a:pt x="554624" y="351472"/>
                  </a:lnTo>
                  <a:lnTo>
                    <a:pt x="570128" y="394088"/>
                  </a:lnTo>
                  <a:lnTo>
                    <a:pt x="575309" y="453136"/>
                  </a:lnTo>
                  <a:lnTo>
                    <a:pt x="642241" y="453136"/>
                  </a:lnTo>
                  <a:lnTo>
                    <a:pt x="640339" y="406511"/>
                  </a:lnTo>
                  <a:lnTo>
                    <a:pt x="633428" y="358521"/>
                  </a:lnTo>
                  <a:lnTo>
                    <a:pt x="621778" y="318531"/>
                  </a:lnTo>
                  <a:lnTo>
                    <a:pt x="620324" y="315722"/>
                  </a:lnTo>
                  <a:close/>
                </a:path>
                <a:path w="1543050" h="875029">
                  <a:moveTo>
                    <a:pt x="485139" y="227584"/>
                  </a:moveTo>
                  <a:lnTo>
                    <a:pt x="437098" y="235317"/>
                  </a:lnTo>
                  <a:lnTo>
                    <a:pt x="390048" y="258937"/>
                  </a:lnTo>
                  <a:lnTo>
                    <a:pt x="367156" y="279400"/>
                  </a:lnTo>
                  <a:lnTo>
                    <a:pt x="374263" y="300110"/>
                  </a:lnTo>
                  <a:lnTo>
                    <a:pt x="388427" y="341675"/>
                  </a:lnTo>
                  <a:lnTo>
                    <a:pt x="395604" y="362458"/>
                  </a:lnTo>
                  <a:lnTo>
                    <a:pt x="414573" y="341350"/>
                  </a:lnTo>
                  <a:lnTo>
                    <a:pt x="437054" y="326469"/>
                  </a:lnTo>
                  <a:lnTo>
                    <a:pt x="463131" y="317898"/>
                  </a:lnTo>
                  <a:lnTo>
                    <a:pt x="492886" y="315722"/>
                  </a:lnTo>
                  <a:lnTo>
                    <a:pt x="620324" y="315722"/>
                  </a:lnTo>
                  <a:lnTo>
                    <a:pt x="605281" y="286638"/>
                  </a:lnTo>
                  <a:lnTo>
                    <a:pt x="583580" y="261909"/>
                  </a:lnTo>
                  <a:lnTo>
                    <a:pt x="556355" y="243776"/>
                  </a:lnTo>
                  <a:lnTo>
                    <a:pt x="523557" y="232310"/>
                  </a:lnTo>
                  <a:lnTo>
                    <a:pt x="485139" y="227584"/>
                  </a:lnTo>
                  <a:close/>
                </a:path>
                <a:path w="1543050" h="875029">
                  <a:moveTo>
                    <a:pt x="1022603" y="263016"/>
                  </a:moveTo>
                  <a:lnTo>
                    <a:pt x="1022603" y="345821"/>
                  </a:lnTo>
                  <a:lnTo>
                    <a:pt x="1074801" y="349250"/>
                  </a:lnTo>
                  <a:lnTo>
                    <a:pt x="1074801" y="820546"/>
                  </a:lnTo>
                  <a:lnTo>
                    <a:pt x="1141729" y="825500"/>
                  </a:lnTo>
                  <a:lnTo>
                    <a:pt x="1141729" y="271525"/>
                  </a:lnTo>
                  <a:lnTo>
                    <a:pt x="1022603" y="263016"/>
                  </a:lnTo>
                  <a:close/>
                </a:path>
                <a:path w="1543050" h="875029">
                  <a:moveTo>
                    <a:pt x="747267" y="675767"/>
                  </a:moveTo>
                  <a:lnTo>
                    <a:pt x="740773" y="700486"/>
                  </a:lnTo>
                  <a:lnTo>
                    <a:pt x="735218" y="721804"/>
                  </a:lnTo>
                  <a:lnTo>
                    <a:pt x="723264" y="767842"/>
                  </a:lnTo>
                  <a:lnTo>
                    <a:pt x="750321" y="787981"/>
                  </a:lnTo>
                  <a:lnTo>
                    <a:pt x="778081" y="802846"/>
                  </a:lnTo>
                  <a:lnTo>
                    <a:pt x="806721" y="812401"/>
                  </a:lnTo>
                  <a:lnTo>
                    <a:pt x="836422" y="816609"/>
                  </a:lnTo>
                  <a:lnTo>
                    <a:pt x="866209" y="815500"/>
                  </a:lnTo>
                  <a:lnTo>
                    <a:pt x="915878" y="797089"/>
                  </a:lnTo>
                  <a:lnTo>
                    <a:pt x="951345" y="757846"/>
                  </a:lnTo>
                  <a:lnTo>
                    <a:pt x="961325" y="733932"/>
                  </a:lnTo>
                  <a:lnTo>
                    <a:pt x="838200" y="733932"/>
                  </a:lnTo>
                  <a:lnTo>
                    <a:pt x="819562" y="729595"/>
                  </a:lnTo>
                  <a:lnTo>
                    <a:pt x="798258" y="718375"/>
                  </a:lnTo>
                  <a:lnTo>
                    <a:pt x="774191" y="700393"/>
                  </a:lnTo>
                  <a:lnTo>
                    <a:pt x="747267" y="675767"/>
                  </a:lnTo>
                  <a:close/>
                </a:path>
                <a:path w="1543050" h="875029">
                  <a:moveTo>
                    <a:pt x="849122" y="242570"/>
                  </a:moveTo>
                  <a:lnTo>
                    <a:pt x="799369" y="249761"/>
                  </a:lnTo>
                  <a:lnTo>
                    <a:pt x="760095" y="276478"/>
                  </a:lnTo>
                  <a:lnTo>
                    <a:pt x="734329" y="321087"/>
                  </a:lnTo>
                  <a:lnTo>
                    <a:pt x="725804" y="381508"/>
                  </a:lnTo>
                  <a:lnTo>
                    <a:pt x="726164" y="394535"/>
                  </a:lnTo>
                  <a:lnTo>
                    <a:pt x="735034" y="442662"/>
                  </a:lnTo>
                  <a:lnTo>
                    <a:pt x="755776" y="485667"/>
                  </a:lnTo>
                  <a:lnTo>
                    <a:pt x="787457" y="522599"/>
                  </a:lnTo>
                  <a:lnTo>
                    <a:pt x="818767" y="547764"/>
                  </a:lnTo>
                  <a:lnTo>
                    <a:pt x="840231" y="563372"/>
                  </a:lnTo>
                  <a:lnTo>
                    <a:pt x="866622" y="585126"/>
                  </a:lnTo>
                  <a:lnTo>
                    <a:pt x="885428" y="608726"/>
                  </a:lnTo>
                  <a:lnTo>
                    <a:pt x="896685" y="633970"/>
                  </a:lnTo>
                  <a:lnTo>
                    <a:pt x="900429" y="660653"/>
                  </a:lnTo>
                  <a:lnTo>
                    <a:pt x="896493" y="693945"/>
                  </a:lnTo>
                  <a:lnTo>
                    <a:pt x="884745" y="717248"/>
                  </a:lnTo>
                  <a:lnTo>
                    <a:pt x="865282" y="730573"/>
                  </a:lnTo>
                  <a:lnTo>
                    <a:pt x="838200" y="733932"/>
                  </a:lnTo>
                  <a:lnTo>
                    <a:pt x="961325" y="733932"/>
                  </a:lnTo>
                  <a:lnTo>
                    <a:pt x="962405" y="731345"/>
                  </a:lnTo>
                  <a:lnTo>
                    <a:pt x="968990" y="700486"/>
                  </a:lnTo>
                  <a:lnTo>
                    <a:pt x="971169" y="665352"/>
                  </a:lnTo>
                  <a:lnTo>
                    <a:pt x="969944" y="637976"/>
                  </a:lnTo>
                  <a:lnTo>
                    <a:pt x="959971" y="589986"/>
                  </a:lnTo>
                  <a:lnTo>
                    <a:pt x="939484" y="550501"/>
                  </a:lnTo>
                  <a:lnTo>
                    <a:pt x="907293" y="514996"/>
                  </a:lnTo>
                  <a:lnTo>
                    <a:pt x="874422" y="489969"/>
                  </a:lnTo>
                  <a:lnTo>
                    <a:pt x="850491" y="472563"/>
                  </a:lnTo>
                  <a:lnTo>
                    <a:pt x="820118" y="447742"/>
                  </a:lnTo>
                  <a:lnTo>
                    <a:pt x="799163" y="406316"/>
                  </a:lnTo>
                  <a:lnTo>
                    <a:pt x="796544" y="381126"/>
                  </a:lnTo>
                  <a:lnTo>
                    <a:pt x="797591" y="369056"/>
                  </a:lnTo>
                  <a:lnTo>
                    <a:pt x="822142" y="333325"/>
                  </a:lnTo>
                  <a:lnTo>
                    <a:pt x="854075" y="325627"/>
                  </a:lnTo>
                  <a:lnTo>
                    <a:pt x="945304" y="325627"/>
                  </a:lnTo>
                  <a:lnTo>
                    <a:pt x="948737" y="309135"/>
                  </a:lnTo>
                  <a:lnTo>
                    <a:pt x="953515" y="286638"/>
                  </a:lnTo>
                  <a:lnTo>
                    <a:pt x="923309" y="268323"/>
                  </a:lnTo>
                  <a:lnTo>
                    <a:pt x="895794" y="254793"/>
                  </a:lnTo>
                  <a:lnTo>
                    <a:pt x="871041" y="246169"/>
                  </a:lnTo>
                  <a:lnTo>
                    <a:pt x="849122" y="242570"/>
                  </a:lnTo>
                  <a:close/>
                </a:path>
                <a:path w="1543050" h="875029">
                  <a:moveTo>
                    <a:pt x="945304" y="325627"/>
                  </a:moveTo>
                  <a:lnTo>
                    <a:pt x="854075" y="325627"/>
                  </a:lnTo>
                  <a:lnTo>
                    <a:pt x="874067" y="329638"/>
                  </a:lnTo>
                  <a:lnTo>
                    <a:pt x="894191" y="339518"/>
                  </a:lnTo>
                  <a:lnTo>
                    <a:pt x="914386" y="355185"/>
                  </a:lnTo>
                  <a:lnTo>
                    <a:pt x="934592" y="376554"/>
                  </a:lnTo>
                  <a:lnTo>
                    <a:pt x="939371" y="354129"/>
                  </a:lnTo>
                  <a:lnTo>
                    <a:pt x="945304" y="325627"/>
                  </a:lnTo>
                  <a:close/>
                </a:path>
                <a:path w="1543050" h="875029">
                  <a:moveTo>
                    <a:pt x="1111503" y="59689"/>
                  </a:moveTo>
                  <a:lnTo>
                    <a:pt x="1076906" y="84038"/>
                  </a:lnTo>
                  <a:lnTo>
                    <a:pt x="1070102" y="117221"/>
                  </a:lnTo>
                  <a:lnTo>
                    <a:pt x="1070865" y="129482"/>
                  </a:lnTo>
                  <a:lnTo>
                    <a:pt x="1088876" y="169548"/>
                  </a:lnTo>
                  <a:lnTo>
                    <a:pt x="1111503" y="181228"/>
                  </a:lnTo>
                  <a:lnTo>
                    <a:pt x="1119675" y="180752"/>
                  </a:lnTo>
                  <a:lnTo>
                    <a:pt x="1150143" y="146621"/>
                  </a:lnTo>
                  <a:lnTo>
                    <a:pt x="1153286" y="123443"/>
                  </a:lnTo>
                  <a:lnTo>
                    <a:pt x="1152501" y="111367"/>
                  </a:lnTo>
                  <a:lnTo>
                    <a:pt x="1134256" y="71441"/>
                  </a:lnTo>
                  <a:lnTo>
                    <a:pt x="1111503" y="59689"/>
                  </a:lnTo>
                  <a:close/>
                </a:path>
                <a:path w="1543050" h="875029">
                  <a:moveTo>
                    <a:pt x="1515744" y="369268"/>
                  </a:moveTo>
                  <a:lnTo>
                    <a:pt x="1388338" y="369268"/>
                  </a:lnTo>
                  <a:lnTo>
                    <a:pt x="1400809" y="369442"/>
                  </a:lnTo>
                  <a:lnTo>
                    <a:pt x="1418278" y="374126"/>
                  </a:lnTo>
                  <a:lnTo>
                    <a:pt x="1456944" y="413130"/>
                  </a:lnTo>
                  <a:lnTo>
                    <a:pt x="1473438" y="458073"/>
                  </a:lnTo>
                  <a:lnTo>
                    <a:pt x="1479169" y="514350"/>
                  </a:lnTo>
                  <a:lnTo>
                    <a:pt x="1479169" y="862583"/>
                  </a:lnTo>
                  <a:lnTo>
                    <a:pt x="1496290" y="865510"/>
                  </a:lnTo>
                  <a:lnTo>
                    <a:pt x="1512601" y="868568"/>
                  </a:lnTo>
                  <a:lnTo>
                    <a:pt x="1528103" y="871745"/>
                  </a:lnTo>
                  <a:lnTo>
                    <a:pt x="1542796" y="875030"/>
                  </a:lnTo>
                  <a:lnTo>
                    <a:pt x="1542796" y="526923"/>
                  </a:lnTo>
                  <a:lnTo>
                    <a:pt x="1541238" y="478843"/>
                  </a:lnTo>
                  <a:lnTo>
                    <a:pt x="1536144" y="435181"/>
                  </a:lnTo>
                  <a:lnTo>
                    <a:pt x="1526862" y="396160"/>
                  </a:lnTo>
                  <a:lnTo>
                    <a:pt x="1515744" y="369268"/>
                  </a:lnTo>
                  <a:close/>
                </a:path>
                <a:path w="1543050" h="875029">
                  <a:moveTo>
                    <a:pt x="1248282" y="53339"/>
                  </a:moveTo>
                  <a:lnTo>
                    <a:pt x="1248282" y="834517"/>
                  </a:lnTo>
                  <a:lnTo>
                    <a:pt x="1314830" y="840994"/>
                  </a:lnTo>
                  <a:lnTo>
                    <a:pt x="1314830" y="429260"/>
                  </a:lnTo>
                  <a:lnTo>
                    <a:pt x="1322169" y="416488"/>
                  </a:lnTo>
                  <a:lnTo>
                    <a:pt x="1352423" y="384555"/>
                  </a:lnTo>
                  <a:lnTo>
                    <a:pt x="1388338" y="369268"/>
                  </a:lnTo>
                  <a:lnTo>
                    <a:pt x="1515744" y="369268"/>
                  </a:lnTo>
                  <a:lnTo>
                    <a:pt x="1512824" y="362203"/>
                  </a:lnTo>
                  <a:lnTo>
                    <a:pt x="1503543" y="348106"/>
                  </a:lnTo>
                  <a:lnTo>
                    <a:pt x="1314830" y="348106"/>
                  </a:lnTo>
                  <a:lnTo>
                    <a:pt x="1314830" y="59943"/>
                  </a:lnTo>
                  <a:lnTo>
                    <a:pt x="1248282" y="53339"/>
                  </a:lnTo>
                  <a:close/>
                </a:path>
                <a:path w="1543050" h="875029">
                  <a:moveTo>
                    <a:pt x="1403336" y="288430"/>
                  </a:moveTo>
                  <a:lnTo>
                    <a:pt x="1357883" y="301878"/>
                  </a:lnTo>
                  <a:lnTo>
                    <a:pt x="1322647" y="334222"/>
                  </a:lnTo>
                  <a:lnTo>
                    <a:pt x="1314830" y="348106"/>
                  </a:lnTo>
                  <a:lnTo>
                    <a:pt x="1503543" y="348106"/>
                  </a:lnTo>
                  <a:lnTo>
                    <a:pt x="1471596" y="311546"/>
                  </a:lnTo>
                  <a:lnTo>
                    <a:pt x="1419225" y="289178"/>
                  </a:lnTo>
                  <a:lnTo>
                    <a:pt x="1403336" y="288430"/>
                  </a:lnTo>
                  <a:close/>
                </a:path>
                <a:path w="1543050" h="875029">
                  <a:moveTo>
                    <a:pt x="198385" y="505713"/>
                  </a:moveTo>
                  <a:lnTo>
                    <a:pt x="126237" y="505713"/>
                  </a:lnTo>
                  <a:lnTo>
                    <a:pt x="146308" y="552252"/>
                  </a:lnTo>
                  <a:lnTo>
                    <a:pt x="166195" y="598875"/>
                  </a:lnTo>
                  <a:lnTo>
                    <a:pt x="205787" y="692206"/>
                  </a:lnTo>
                  <a:lnTo>
                    <a:pt x="225674" y="738829"/>
                  </a:lnTo>
                  <a:lnTo>
                    <a:pt x="245745" y="785368"/>
                  </a:lnTo>
                  <a:lnTo>
                    <a:pt x="318897" y="787145"/>
                  </a:lnTo>
                  <a:lnTo>
                    <a:pt x="297422" y="737668"/>
                  </a:lnTo>
                  <a:lnTo>
                    <a:pt x="276159" y="688105"/>
                  </a:lnTo>
                  <a:lnTo>
                    <a:pt x="212790" y="539271"/>
                  </a:lnTo>
                  <a:lnTo>
                    <a:pt x="198385" y="505713"/>
                  </a:lnTo>
                  <a:close/>
                </a:path>
                <a:path w="1543050" h="875029">
                  <a:moveTo>
                    <a:pt x="0" y="0"/>
                  </a:moveTo>
                  <a:lnTo>
                    <a:pt x="0" y="781050"/>
                  </a:lnTo>
                  <a:lnTo>
                    <a:pt x="67436" y="782065"/>
                  </a:lnTo>
                  <a:lnTo>
                    <a:pt x="67436" y="593216"/>
                  </a:lnTo>
                  <a:lnTo>
                    <a:pt x="82232" y="571400"/>
                  </a:lnTo>
                  <a:lnTo>
                    <a:pt x="111442" y="527530"/>
                  </a:lnTo>
                  <a:lnTo>
                    <a:pt x="126237" y="505713"/>
                  </a:lnTo>
                  <a:lnTo>
                    <a:pt x="198385" y="505713"/>
                  </a:lnTo>
                  <a:lnTo>
                    <a:pt x="191527" y="489739"/>
                  </a:lnTo>
                  <a:lnTo>
                    <a:pt x="189750" y="485648"/>
                  </a:lnTo>
                  <a:lnTo>
                    <a:pt x="67436" y="485648"/>
                  </a:lnTo>
                  <a:lnTo>
                    <a:pt x="67436" y="888"/>
                  </a:lnTo>
                  <a:lnTo>
                    <a:pt x="0" y="0"/>
                  </a:lnTo>
                  <a:close/>
                </a:path>
                <a:path w="1543050" h="875029">
                  <a:moveTo>
                    <a:pt x="212851" y="230759"/>
                  </a:moveTo>
                  <a:lnTo>
                    <a:pt x="188428" y="273037"/>
                  </a:lnTo>
                  <a:lnTo>
                    <a:pt x="164210" y="315529"/>
                  </a:lnTo>
                  <a:lnTo>
                    <a:pt x="91860" y="443210"/>
                  </a:lnTo>
                  <a:lnTo>
                    <a:pt x="67436" y="485648"/>
                  </a:lnTo>
                  <a:lnTo>
                    <a:pt x="189750" y="485648"/>
                  </a:lnTo>
                  <a:lnTo>
                    <a:pt x="170052" y="440309"/>
                  </a:lnTo>
                  <a:lnTo>
                    <a:pt x="194556" y="398864"/>
                  </a:lnTo>
                  <a:lnTo>
                    <a:pt x="242986" y="315496"/>
                  </a:lnTo>
                  <a:lnTo>
                    <a:pt x="267215" y="273920"/>
                  </a:lnTo>
                  <a:lnTo>
                    <a:pt x="291719" y="232537"/>
                  </a:lnTo>
                  <a:lnTo>
                    <a:pt x="212851" y="230759"/>
                  </a:lnTo>
                  <a:close/>
                </a:path>
              </a:pathLst>
            </a:custGeom>
            <a:solidFill>
              <a:srgbClr val="EF931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0809478" y="998346"/>
            <a:ext cx="5041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37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3703</Words>
  <Application>WPS Presentation</Application>
  <PresentationFormat>Layar Lebar</PresentationFormat>
  <Paragraphs>210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1" baseType="lpstr">
      <vt:lpstr>Arial</vt:lpstr>
      <vt:lpstr>SimSun</vt:lpstr>
      <vt:lpstr>Wingdings</vt:lpstr>
      <vt:lpstr>Trebuchet MS</vt:lpstr>
      <vt:lpstr>Arial MT</vt:lpstr>
      <vt:lpstr>Cambria Math</vt:lpstr>
      <vt:lpstr>Symbol</vt:lpstr>
      <vt:lpstr>Times New Roman</vt:lpstr>
      <vt:lpstr>Wingdings</vt:lpstr>
      <vt:lpstr>Courier New</vt:lpstr>
      <vt:lpstr>Calibri</vt:lpstr>
      <vt:lpstr>Microsoft YaHei</vt:lpstr>
      <vt:lpstr>Arial Unicode MS</vt:lpstr>
      <vt:lpstr>Office Theme</vt:lpstr>
      <vt:lpstr>PowerPoint 演示文稿</vt:lpstr>
      <vt:lpstr>Pendahuluan</vt:lpstr>
      <vt:lpstr>Pendahuluan</vt:lpstr>
      <vt:lpstr>Pendahuluan</vt:lpstr>
      <vt:lpstr>Pendahuluan	6</vt:lpstr>
      <vt:lpstr>Pendahuluan</vt:lpstr>
      <vt:lpstr>Pertidaksamaan</vt:lpstr>
      <vt:lpstr>Pertidaksamaan</vt:lpstr>
      <vt:lpstr>Pertidaksamaan</vt:lpstr>
      <vt:lpstr>Contoh: Menentukan Himpunan Penyelesaian</vt:lpstr>
      <vt:lpstr>Contoh: Menentukan Himpunan Penyelesaian</vt:lpstr>
      <vt:lpstr>PowerPoint 演示文稿</vt:lpstr>
      <vt:lpstr>Contoh: Menentukan Himpunan Penyelesaian</vt:lpstr>
      <vt:lpstr>PowerPoint 演示文稿</vt:lpstr>
      <vt:lpstr>Contoh: Menentukan Himpunan Penyelesaian</vt:lpstr>
      <vt:lpstr>Pertidaksamaan nilai mutlak</vt:lpstr>
      <vt:lpstr>Pertidaksamaan nilai mutlak</vt:lpstr>
      <vt:lpstr>Contoh: Menentukan Himpunan Penyelesaian</vt:lpstr>
      <vt:lpstr>Contoh: Menentukan Himpunan Penyelesaian</vt:lpstr>
      <vt:lpstr>Contoh: Menentukan Himpunan Penyelesaian</vt:lpstr>
      <vt:lpstr>Contoh: Menentukan Himpunan Penyelesaian</vt:lpstr>
      <vt:lpstr>PowerPoint 演示文稿</vt:lpstr>
      <vt:lpstr>Latihan</vt:lpstr>
      <vt:lpstr>Latihan</vt:lpstr>
      <vt:lpstr>Latihan</vt:lpstr>
      <vt:lpstr>Latihan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Bilangan Riil</dc:title>
  <dc:creator>Triana</dc:creator>
  <cp:lastModifiedBy>Nabil Zihni</cp:lastModifiedBy>
  <cp:revision>3</cp:revision>
  <cp:lastPrinted>2024-09-02T05:26:00Z</cp:lastPrinted>
  <dcterms:created xsi:type="dcterms:W3CDTF">2024-09-02T03:02:00Z</dcterms:created>
  <dcterms:modified xsi:type="dcterms:W3CDTF">2024-09-05T16:01:25Z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2022-11-24T07:00:00Z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2024-09-02T07:00:00Z</vt:filetime>
  </property>
  <property fmtid="{D5CDD505-2E9C-101B-9397-08002B2CF9AE}" pid="5" name="ICV">
    <vt:lpwstr>3B20F49CFDCA4DFE8B0EB0F51CEA3EE4_12</vt:lpwstr>
  </property>
  <property fmtid="{D5CDD505-2E9C-101B-9397-08002B2CF9AE}" pid="6" name="KSOProductBuildVer">
    <vt:lpwstr>1033-12.2.0.18165</vt:lpwstr>
  </property>
</Properties>
</file>