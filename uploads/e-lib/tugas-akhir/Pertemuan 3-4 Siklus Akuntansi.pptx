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45"/>
  </p:notesMasterIdLst>
  <p:sldIdLst>
    <p:sldId id="278" r:id="rId2"/>
    <p:sldId id="309" r:id="rId3"/>
    <p:sldId id="312" r:id="rId4"/>
    <p:sldId id="324" r:id="rId5"/>
    <p:sldId id="313" r:id="rId6"/>
    <p:sldId id="332" r:id="rId7"/>
    <p:sldId id="325" r:id="rId8"/>
    <p:sldId id="291" r:id="rId9"/>
    <p:sldId id="292" r:id="rId10"/>
    <p:sldId id="326" r:id="rId11"/>
    <p:sldId id="327" r:id="rId12"/>
    <p:sldId id="296" r:id="rId13"/>
    <p:sldId id="295" r:id="rId14"/>
    <p:sldId id="297" r:id="rId15"/>
    <p:sldId id="328" r:id="rId16"/>
    <p:sldId id="329" r:id="rId17"/>
    <p:sldId id="300" r:id="rId18"/>
    <p:sldId id="301" r:id="rId19"/>
    <p:sldId id="302" r:id="rId20"/>
    <p:sldId id="303" r:id="rId21"/>
    <p:sldId id="304" r:id="rId22"/>
    <p:sldId id="305" r:id="rId23"/>
    <p:sldId id="306" r:id="rId24"/>
    <p:sldId id="307" r:id="rId25"/>
    <p:sldId id="308" r:id="rId26"/>
    <p:sldId id="331" r:id="rId27"/>
    <p:sldId id="316" r:id="rId28"/>
    <p:sldId id="317" r:id="rId29"/>
    <p:sldId id="318" r:id="rId30"/>
    <p:sldId id="319" r:id="rId31"/>
    <p:sldId id="320" r:id="rId32"/>
    <p:sldId id="321" r:id="rId33"/>
    <p:sldId id="322" r:id="rId34"/>
    <p:sldId id="323" r:id="rId35"/>
    <p:sldId id="314" r:id="rId36"/>
    <p:sldId id="333" r:id="rId37"/>
    <p:sldId id="280" r:id="rId38"/>
    <p:sldId id="294" r:id="rId39"/>
    <p:sldId id="288" r:id="rId40"/>
    <p:sldId id="299" r:id="rId41"/>
    <p:sldId id="270" r:id="rId42"/>
    <p:sldId id="272" r:id="rId43"/>
    <p:sldId id="293" r:id="rId4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09" autoAdjust="0"/>
  </p:normalViewPr>
  <p:slideViewPr>
    <p:cSldViewPr snapToGrid="0" snapToObjects="1">
      <p:cViewPr varScale="1">
        <p:scale>
          <a:sx n="60" d="100"/>
          <a:sy n="60" d="100"/>
        </p:scale>
        <p:origin x="840" y="44"/>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0D3C8C-A06E-44EC-AF86-E29396A1B79A}"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36EF790A-4BBA-427F-86D4-2368B92BA87F}">
      <dgm:prSet custT="1"/>
      <dgm:spPr/>
      <dgm:t>
        <a:bodyPr/>
        <a:lstStyle/>
        <a:p>
          <a:r>
            <a:rPr lang="en-US" sz="4400" dirty="0" err="1">
              <a:latin typeface="Angsana New" panose="02020603050405020304" pitchFamily="18" charset="-34"/>
              <a:cs typeface="Angsana New" panose="02020603050405020304" pitchFamily="18" charset="-34"/>
            </a:rPr>
            <a:t>Metodologi</a:t>
          </a:r>
          <a:r>
            <a:rPr lang="en-US" sz="4400" dirty="0">
              <a:latin typeface="Angsana New" panose="02020603050405020304" pitchFamily="18" charset="-34"/>
              <a:cs typeface="Angsana New" panose="02020603050405020304" pitchFamily="18" charset="-34"/>
            </a:rPr>
            <a:t> </a:t>
          </a:r>
          <a:r>
            <a:rPr lang="en-US" sz="4400" dirty="0" err="1">
              <a:latin typeface="Angsana New" panose="02020603050405020304" pitchFamily="18" charset="-34"/>
              <a:cs typeface="Angsana New" panose="02020603050405020304" pitchFamily="18" charset="-34"/>
            </a:rPr>
            <a:t>Pengembangan</a:t>
          </a:r>
          <a:r>
            <a:rPr lang="en-US" sz="4400" dirty="0">
              <a:latin typeface="Angsana New" panose="02020603050405020304" pitchFamily="18" charset="-34"/>
              <a:cs typeface="Angsana New" panose="02020603050405020304" pitchFamily="18" charset="-34"/>
            </a:rPr>
            <a:t> </a:t>
          </a:r>
          <a:r>
            <a:rPr lang="en-US" sz="4400" dirty="0" err="1">
              <a:latin typeface="Angsana New" panose="02020603050405020304" pitchFamily="18" charset="-34"/>
              <a:cs typeface="Angsana New" panose="02020603050405020304" pitchFamily="18" charset="-34"/>
            </a:rPr>
            <a:t>Sistem</a:t>
          </a:r>
          <a:r>
            <a:rPr lang="en-US" sz="4400" dirty="0">
              <a:latin typeface="Angsana New" panose="02020603050405020304" pitchFamily="18" charset="-34"/>
              <a:cs typeface="Angsana New" panose="02020603050405020304" pitchFamily="18" charset="-34"/>
            </a:rPr>
            <a:t> </a:t>
          </a:r>
          <a:r>
            <a:rPr lang="en-US" sz="4400" dirty="0" err="1">
              <a:latin typeface="Angsana New" panose="02020603050405020304" pitchFamily="18" charset="-34"/>
              <a:cs typeface="Angsana New" panose="02020603050405020304" pitchFamily="18" charset="-34"/>
            </a:rPr>
            <a:t>Akuntansi</a:t>
          </a:r>
          <a:endParaRPr lang="en-US" sz="4400" dirty="0">
            <a:latin typeface="Angsana New" panose="02020603050405020304" pitchFamily="18" charset="-34"/>
            <a:cs typeface="Angsana New" panose="02020603050405020304" pitchFamily="18" charset="-34"/>
          </a:endParaRPr>
        </a:p>
      </dgm:t>
    </dgm:pt>
    <dgm:pt modelId="{C27F128D-542F-445B-9848-176BF408229C}" type="parTrans" cxnId="{0CD7B200-C214-4EB1-98B6-708EF0CC1ABA}">
      <dgm:prSet/>
      <dgm:spPr/>
      <dgm:t>
        <a:bodyPr/>
        <a:lstStyle/>
        <a:p>
          <a:endParaRPr lang="en-US"/>
        </a:p>
      </dgm:t>
    </dgm:pt>
    <dgm:pt modelId="{64FB284D-78CC-4AED-87AB-19B4E6C715F6}" type="sibTrans" cxnId="{0CD7B200-C214-4EB1-98B6-708EF0CC1ABA}">
      <dgm:prSet/>
      <dgm:spPr/>
      <dgm:t>
        <a:bodyPr/>
        <a:lstStyle/>
        <a:p>
          <a:endParaRPr lang="en-US"/>
        </a:p>
      </dgm:t>
    </dgm:pt>
    <dgm:pt modelId="{D69C659B-67A1-44A7-8406-3C6BEC757BB9}" type="pres">
      <dgm:prSet presAssocID="{440D3C8C-A06E-44EC-AF86-E29396A1B79A}" presName="linear" presStyleCnt="0">
        <dgm:presLayoutVars>
          <dgm:dir/>
          <dgm:animLvl val="lvl"/>
          <dgm:resizeHandles val="exact"/>
        </dgm:presLayoutVars>
      </dgm:prSet>
      <dgm:spPr/>
    </dgm:pt>
    <dgm:pt modelId="{DA946064-4B0E-4DEE-A011-E72D1172238D}" type="pres">
      <dgm:prSet presAssocID="{36EF790A-4BBA-427F-86D4-2368B92BA87F}" presName="parentLin" presStyleCnt="0"/>
      <dgm:spPr/>
    </dgm:pt>
    <dgm:pt modelId="{C5D52894-DE19-4C69-AFBF-482D75BBF0D6}" type="pres">
      <dgm:prSet presAssocID="{36EF790A-4BBA-427F-86D4-2368B92BA87F}" presName="parentLeftMargin" presStyleLbl="node1" presStyleIdx="0" presStyleCnt="1"/>
      <dgm:spPr/>
    </dgm:pt>
    <dgm:pt modelId="{AE06AA20-5795-4A79-A7C3-71A7FC2D63BB}" type="pres">
      <dgm:prSet presAssocID="{36EF790A-4BBA-427F-86D4-2368B92BA87F}" presName="parentText" presStyleLbl="node1" presStyleIdx="0" presStyleCnt="1">
        <dgm:presLayoutVars>
          <dgm:chMax val="0"/>
          <dgm:bulletEnabled val="1"/>
        </dgm:presLayoutVars>
      </dgm:prSet>
      <dgm:spPr/>
    </dgm:pt>
    <dgm:pt modelId="{1A366580-B609-48A3-AB88-540C2A17C47D}" type="pres">
      <dgm:prSet presAssocID="{36EF790A-4BBA-427F-86D4-2368B92BA87F}" presName="negativeSpace" presStyleCnt="0"/>
      <dgm:spPr/>
    </dgm:pt>
    <dgm:pt modelId="{2DC1809A-47A9-4EEB-AB12-1B0EEEEA6C9B}" type="pres">
      <dgm:prSet presAssocID="{36EF790A-4BBA-427F-86D4-2368B92BA87F}" presName="childText" presStyleLbl="conFgAcc1" presStyleIdx="0" presStyleCnt="1">
        <dgm:presLayoutVars>
          <dgm:bulletEnabled val="1"/>
        </dgm:presLayoutVars>
      </dgm:prSet>
      <dgm:spPr/>
    </dgm:pt>
  </dgm:ptLst>
  <dgm:cxnLst>
    <dgm:cxn modelId="{0CD7B200-C214-4EB1-98B6-708EF0CC1ABA}" srcId="{440D3C8C-A06E-44EC-AF86-E29396A1B79A}" destId="{36EF790A-4BBA-427F-86D4-2368B92BA87F}" srcOrd="0" destOrd="0" parTransId="{C27F128D-542F-445B-9848-176BF408229C}" sibTransId="{64FB284D-78CC-4AED-87AB-19B4E6C715F6}"/>
    <dgm:cxn modelId="{EFB38432-254D-4542-BA00-86C8C0DAC0F5}" type="presOf" srcId="{36EF790A-4BBA-427F-86D4-2368B92BA87F}" destId="{C5D52894-DE19-4C69-AFBF-482D75BBF0D6}" srcOrd="0" destOrd="0" presId="urn:microsoft.com/office/officeart/2005/8/layout/list1"/>
    <dgm:cxn modelId="{2E9BF744-1E4E-4AED-9956-4BEA28D17169}" type="presOf" srcId="{440D3C8C-A06E-44EC-AF86-E29396A1B79A}" destId="{D69C659B-67A1-44A7-8406-3C6BEC757BB9}" srcOrd="0" destOrd="0" presId="urn:microsoft.com/office/officeart/2005/8/layout/list1"/>
    <dgm:cxn modelId="{CD93496F-CD4B-4C34-9133-384FB6C3610B}" type="presOf" srcId="{36EF790A-4BBA-427F-86D4-2368B92BA87F}" destId="{AE06AA20-5795-4A79-A7C3-71A7FC2D63BB}" srcOrd="1" destOrd="0" presId="urn:microsoft.com/office/officeart/2005/8/layout/list1"/>
    <dgm:cxn modelId="{A6CAF193-D7CB-420D-9F90-AD415A610CBA}" type="presParOf" srcId="{D69C659B-67A1-44A7-8406-3C6BEC757BB9}" destId="{DA946064-4B0E-4DEE-A011-E72D1172238D}" srcOrd="0" destOrd="0" presId="urn:microsoft.com/office/officeart/2005/8/layout/list1"/>
    <dgm:cxn modelId="{23FD3CF0-BD55-4F2B-81ED-D67606F31D6A}" type="presParOf" srcId="{DA946064-4B0E-4DEE-A011-E72D1172238D}" destId="{C5D52894-DE19-4C69-AFBF-482D75BBF0D6}" srcOrd="0" destOrd="0" presId="urn:microsoft.com/office/officeart/2005/8/layout/list1"/>
    <dgm:cxn modelId="{99862581-9EB5-4A62-865D-C9A4DCF539E1}" type="presParOf" srcId="{DA946064-4B0E-4DEE-A011-E72D1172238D}" destId="{AE06AA20-5795-4A79-A7C3-71A7FC2D63BB}" srcOrd="1" destOrd="0" presId="urn:microsoft.com/office/officeart/2005/8/layout/list1"/>
    <dgm:cxn modelId="{C26F7B11-DB20-474A-B061-4B4207EAD9FD}" type="presParOf" srcId="{D69C659B-67A1-44A7-8406-3C6BEC757BB9}" destId="{1A366580-B609-48A3-AB88-540C2A17C47D}" srcOrd="1" destOrd="0" presId="urn:microsoft.com/office/officeart/2005/8/layout/list1"/>
    <dgm:cxn modelId="{30F05C41-4206-4CF6-AC0B-A5EBA0C94425}" type="presParOf" srcId="{D69C659B-67A1-44A7-8406-3C6BEC757BB9}" destId="{2DC1809A-47A9-4EEB-AB12-1B0EEEEA6C9B}"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1809A-47A9-4EEB-AB12-1B0EEEEA6C9B}">
      <dsp:nvSpPr>
        <dsp:cNvPr id="0" name=""/>
        <dsp:cNvSpPr/>
      </dsp:nvSpPr>
      <dsp:spPr>
        <a:xfrm>
          <a:off x="0" y="1265651"/>
          <a:ext cx="10378440" cy="16380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06AA20-5795-4A79-A7C3-71A7FC2D63BB}">
      <dsp:nvSpPr>
        <dsp:cNvPr id="0" name=""/>
        <dsp:cNvSpPr/>
      </dsp:nvSpPr>
      <dsp:spPr>
        <a:xfrm>
          <a:off x="518922" y="306250"/>
          <a:ext cx="7264908" cy="19188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4596" tIns="0" rIns="274596" bIns="0" numCol="1" spcCol="1270" anchor="ctr" anchorCtr="0">
          <a:noAutofit/>
        </a:bodyPr>
        <a:lstStyle/>
        <a:p>
          <a:pPr marL="0" lvl="0" indent="0" algn="l" defTabSz="1955800">
            <a:lnSpc>
              <a:spcPct val="90000"/>
            </a:lnSpc>
            <a:spcBef>
              <a:spcPct val="0"/>
            </a:spcBef>
            <a:spcAft>
              <a:spcPct val="35000"/>
            </a:spcAft>
            <a:buNone/>
          </a:pPr>
          <a:r>
            <a:rPr lang="en-US" sz="4400" kern="1200" dirty="0" err="1">
              <a:latin typeface="Angsana New" panose="02020603050405020304" pitchFamily="18" charset="-34"/>
              <a:cs typeface="Angsana New" panose="02020603050405020304" pitchFamily="18" charset="-34"/>
            </a:rPr>
            <a:t>Metodologi</a:t>
          </a:r>
          <a:r>
            <a:rPr lang="en-US" sz="4400" kern="1200" dirty="0">
              <a:latin typeface="Angsana New" panose="02020603050405020304" pitchFamily="18" charset="-34"/>
              <a:cs typeface="Angsana New" panose="02020603050405020304" pitchFamily="18" charset="-34"/>
            </a:rPr>
            <a:t> </a:t>
          </a:r>
          <a:r>
            <a:rPr lang="en-US" sz="4400" kern="1200" dirty="0" err="1">
              <a:latin typeface="Angsana New" panose="02020603050405020304" pitchFamily="18" charset="-34"/>
              <a:cs typeface="Angsana New" panose="02020603050405020304" pitchFamily="18" charset="-34"/>
            </a:rPr>
            <a:t>Pengembangan</a:t>
          </a:r>
          <a:r>
            <a:rPr lang="en-US" sz="4400" kern="1200" dirty="0">
              <a:latin typeface="Angsana New" panose="02020603050405020304" pitchFamily="18" charset="-34"/>
              <a:cs typeface="Angsana New" panose="02020603050405020304" pitchFamily="18" charset="-34"/>
            </a:rPr>
            <a:t> </a:t>
          </a:r>
          <a:r>
            <a:rPr lang="en-US" sz="4400" kern="1200" dirty="0" err="1">
              <a:latin typeface="Angsana New" panose="02020603050405020304" pitchFamily="18" charset="-34"/>
              <a:cs typeface="Angsana New" panose="02020603050405020304" pitchFamily="18" charset="-34"/>
            </a:rPr>
            <a:t>Sistem</a:t>
          </a:r>
          <a:r>
            <a:rPr lang="en-US" sz="4400" kern="1200" dirty="0">
              <a:latin typeface="Angsana New" panose="02020603050405020304" pitchFamily="18" charset="-34"/>
              <a:cs typeface="Angsana New" panose="02020603050405020304" pitchFamily="18" charset="-34"/>
            </a:rPr>
            <a:t> </a:t>
          </a:r>
          <a:r>
            <a:rPr lang="en-US" sz="4400" kern="1200" dirty="0" err="1">
              <a:latin typeface="Angsana New" panose="02020603050405020304" pitchFamily="18" charset="-34"/>
              <a:cs typeface="Angsana New" panose="02020603050405020304" pitchFamily="18" charset="-34"/>
            </a:rPr>
            <a:t>Akuntansi</a:t>
          </a:r>
          <a:endParaRPr lang="en-US" sz="4400" kern="1200" dirty="0">
            <a:latin typeface="Angsana New" panose="02020603050405020304" pitchFamily="18" charset="-34"/>
            <a:cs typeface="Angsana New" panose="02020603050405020304" pitchFamily="18" charset="-34"/>
          </a:endParaRPr>
        </a:p>
      </dsp:txBody>
      <dsp:txXfrm>
        <a:off x="612590" y="399918"/>
        <a:ext cx="7077572" cy="173146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Notes Placeholder 1048648"/>
          <p:cNvSpPr>
            <a:spLocks noGrp="1"/>
          </p:cNvSpPr>
          <p:nvPr>
            <p:ph type="body"/>
          </p:nvPr>
        </p:nvSpPr>
        <p:spPr/>
        <p:txBody>
          <a:bodyPr/>
          <a:lstStyle/>
          <a:p>
            <a:r>
              <a:rPr lang="zh-CN" altLang="en-US"/>
              <a:t>Jadi apa aja yang kita pelajari hari ini? 
Coba pak/bu</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Notes Placeholder 1048660"/>
          <p:cNvSpPr>
            <a:spLocks noGrp="1"/>
          </p:cNvSpPr>
          <p:nvPr>
            <p:ph type="body"/>
          </p:nvPr>
        </p:nvSpPr>
        <p:spPr/>
        <p:txBody>
          <a:bodyPr/>
          <a:lstStyle/>
          <a:p>
            <a:r>
              <a:rPr lang="zh-CN" altLang="en-US"/>
              <a:t>Berdasarkan diskusi kita hari ini, dapat dikategorikan bahwa kita telah berhasil mencapai tujuan pembelajaran yaitu mampu mencatat transaksi ke jurnal umum pada perusahaan dagang, untuk pertemuan selanjutnya kita akan memperdalam lagi lebih dalam mengenai jurnal umum pada perusahaan jasa dan studi kasus dalam pencatatan jurnal umum.</a:t>
            </a:r>
          </a:p>
        </p:txBody>
      </p:sp>
    </p:spTree>
  </p:cSld>
  <p:clrMapOvr>
    <a:overrideClrMapping bg1="dk1" tx1="dk1" bg2="dk1" tx2="dk1" accent1="dk1" accent2="dk1" accent3="dk1" accent4="dk1" accent5="dk1" accent6="dk1" hlink="dk1" folHlink="dk1"/>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a:extLst>
              <a:ext uri="{FF2B5EF4-FFF2-40B4-BE49-F238E27FC236}">
                <a16:creationId xmlns:a16="http://schemas.microsoft.com/office/drawing/2014/main" id="{BA5D5A72-CB6F-F8DE-E2C9-90459C8C3DC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Lst>
          </p:cNvPr>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79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descr="preencoded.png">
            <a:extLst>
              <a:ext uri="{FF2B5EF4-FFF2-40B4-BE49-F238E27FC236}">
                <a16:creationId xmlns:a16="http://schemas.microsoft.com/office/drawing/2014/main" id="{EFFAEAD9-58A9-096B-C6D0-58F7AD08EB20}"/>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t>‹#›</a:t>
            </a:fld>
            <a:endParaRPr lang="en-US" dirty="0"/>
          </a:p>
        </p:txBody>
      </p:sp>
      <p:sp>
        <p:nvSpPr>
          <p:cNvPr id="17" name="Freeform: Shape 16">
            <a:extLst>
              <a:ext uri="{FF2B5EF4-FFF2-40B4-BE49-F238E27FC236}">
                <a16:creationId xmlns:a16="http://schemas.microsoft.com/office/drawing/2014/main" id="{217CBC9E-B934-828F-2AE5-211CEF5B1D25}"/>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3D352B04-96E6-839B-9D92-EE98385C4D49}"/>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id="{723D98FB-5EB7-A8DF-8470-B23A80D669E4}"/>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id="{4550F3CE-BAE9-3916-42CA-F4D906FA5173}"/>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id="{D83F65A0-0C52-48AD-DC5D-B5D3BF3CC188}"/>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id="{F8FA7F58-C470-6376-9DB1-DE7034C491E8}"/>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id="{B27C9E57-563E-7980-7B3C-45FAD9C386F4}"/>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0804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45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
        <p:nvSpPr>
          <p:cNvPr id="32" name="Image 1" descr="preencoded.png">
            <a:extLst>
              <a:ext uri="{FF2B5EF4-FFF2-40B4-BE49-F238E27FC236}">
                <a16:creationId xmlns:a16="http://schemas.microsoft.com/office/drawing/2014/main" id="{2A3EC91E-4089-D366-06D3-3E66F93DFAF3}"/>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a:extLst>
              <a:ext uri="{FF2B5EF4-FFF2-40B4-BE49-F238E27FC236}">
                <a16:creationId xmlns:a16="http://schemas.microsoft.com/office/drawing/2014/main" id="{EC46DC71-C12A-96C8-3FE2-AA95AB58B349}"/>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p>
        </p:txBody>
      </p:sp>
    </p:spTree>
    <p:extLst>
      <p:ext uri="{BB962C8B-B14F-4D97-AF65-F5344CB8AC3E}">
        <p14:creationId xmlns:p14="http://schemas.microsoft.com/office/powerpoint/2010/main" val="258665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p>
        </p:txBody>
      </p:sp>
    </p:spTree>
    <p:extLst>
      <p:ext uri="{BB962C8B-B14F-4D97-AF65-F5344CB8AC3E}">
        <p14:creationId xmlns:p14="http://schemas.microsoft.com/office/powerpoint/2010/main" val="190070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950ED98-B5D1-206C-403F-FA954F9D2CFF}"/>
              </a:ext>
            </a:extLst>
          </p:cNvPr>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AF82DDD-EDEC-7D87-F43A-113C5E4A4FE7}"/>
              </a:ext>
            </a:extLst>
          </p:cNvPr>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7E492E-967F-54B7-55B1-08A5E1C3615B}"/>
              </a:ext>
            </a:extLst>
          </p:cNvPr>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Tree>
    <p:extLst>
      <p:ext uri="{BB962C8B-B14F-4D97-AF65-F5344CB8AC3E}">
        <p14:creationId xmlns:p14="http://schemas.microsoft.com/office/powerpoint/2010/main" val="872516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30" name="Image 2" descr="preencoded.png">
            <a:extLst>
              <a:ext uri="{FF2B5EF4-FFF2-40B4-BE49-F238E27FC236}">
                <a16:creationId xmlns:a16="http://schemas.microsoft.com/office/drawing/2014/main" id="{790E862E-398F-571C-EC2C-3D17164DE059}"/>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cxnSp>
        <p:nvCxnSpPr>
          <p:cNvPr id="42" name="Straight Connector 41">
            <a:extLst>
              <a:ext uri="{FF2B5EF4-FFF2-40B4-BE49-F238E27FC236}">
                <a16:creationId xmlns:a16="http://schemas.microsoft.com/office/drawing/2014/main" id="{E6BE61D7-B0A3-902B-4F58-727982880EF5}"/>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1031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992124"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4722876"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8371332"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Tree>
    <p:extLst>
      <p:ext uri="{BB962C8B-B14F-4D97-AF65-F5344CB8AC3E}">
        <p14:creationId xmlns:p14="http://schemas.microsoft.com/office/powerpoint/2010/main" val="126895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a:extLst>
              <a:ext uri="{FF2B5EF4-FFF2-40B4-BE49-F238E27FC236}">
                <a16:creationId xmlns:a16="http://schemas.microsoft.com/office/drawing/2014/main" id="{ABC388A2-FFC7-1A87-02FB-C97B50161FD3}"/>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a:extLst>
              <a:ext uri="{FF2B5EF4-FFF2-40B4-BE49-F238E27FC236}">
                <a16:creationId xmlns:a16="http://schemas.microsoft.com/office/drawing/2014/main" id="{D64C4994-B525-F4C0-B74F-D5E8296DFC43}"/>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a:extLst>
              <a:ext uri="{FF2B5EF4-FFF2-40B4-BE49-F238E27FC236}">
                <a16:creationId xmlns:a16="http://schemas.microsoft.com/office/drawing/2014/main" id="{9019DA73-2516-F3D2-ECDB-620C90483DB3}"/>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a:extLst>
              <a:ext uri="{FF2B5EF4-FFF2-40B4-BE49-F238E27FC236}">
                <a16:creationId xmlns:a16="http://schemas.microsoft.com/office/drawing/2014/main" id="{FEA70E9F-C506-413C-11EF-5915A2296643}"/>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a:extLst>
              <a:ext uri="{FF2B5EF4-FFF2-40B4-BE49-F238E27FC236}">
                <a16:creationId xmlns:a16="http://schemas.microsoft.com/office/drawing/2014/main" id="{A8B7F1F1-806C-8D65-7340-220A0C4653C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991886" y="3441269"/>
            <a:ext cx="2200114" cy="2200114"/>
          </a:xfrm>
          <a:prstGeom prst="rect">
            <a:avLst/>
          </a:prstGeom>
        </p:spPr>
      </p:pic>
      <p:sp>
        <p:nvSpPr>
          <p:cNvPr id="54" name="Image 2" descr="preencoded.png">
            <a:extLst>
              <a:ext uri="{FF2B5EF4-FFF2-40B4-BE49-F238E27FC236}">
                <a16:creationId xmlns:a16="http://schemas.microsoft.com/office/drawing/2014/main" id="{F19C81EC-0322-58A2-C455-6E2C84D1E6E8}"/>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4" name="Footer Placeholder 3">
            <a:extLst>
              <a:ext uri="{FF2B5EF4-FFF2-40B4-BE49-F238E27FC236}">
                <a16:creationId xmlns:a16="http://schemas.microsoft.com/office/drawing/2014/main" id="{E1F9FD95-086F-282B-820C-8CDAD4A6EEB6}"/>
              </a:ext>
            </a:extLst>
          </p:cNvPr>
          <p:cNvSpPr>
            <a:spLocks noGrp="1"/>
          </p:cNvSpPr>
          <p:nvPr>
            <p:ph type="ftr" sz="quarter" idx="13"/>
          </p:nvPr>
        </p:nvSpPr>
        <p:spPr/>
        <p:txBody>
          <a:bodyPr/>
          <a:lstStyle/>
          <a:p>
            <a:r>
              <a:rPr lang="en-US"/>
              <a:t>Presentation title</a:t>
            </a:r>
            <a:endParaRPr lang="en-US" dirty="0"/>
          </a:p>
        </p:txBody>
      </p:sp>
    </p:spTree>
    <p:extLst>
      <p:ext uri="{BB962C8B-B14F-4D97-AF65-F5344CB8AC3E}">
        <p14:creationId xmlns:p14="http://schemas.microsoft.com/office/powerpoint/2010/main" val="424848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descr="preencoded.png">
            <a:extLst>
              <a:ext uri="{FF2B5EF4-FFF2-40B4-BE49-F238E27FC236}">
                <a16:creationId xmlns:a16="http://schemas.microsoft.com/office/drawing/2014/main" id="{FEB515B5-2D9F-58E1-6E3C-CCBF105D891E}"/>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a:extLst>
              <a:ext uri="{FF2B5EF4-FFF2-40B4-BE49-F238E27FC236}">
                <a16:creationId xmlns:a16="http://schemas.microsoft.com/office/drawing/2014/main" id="{5CCFEDF9-5B69-87BA-8A33-35033DA4013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72898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a:extLst>
              <a:ext uri="{FF2B5EF4-FFF2-40B4-BE49-F238E27FC236}">
                <a16:creationId xmlns:a16="http://schemas.microsoft.com/office/drawing/2014/main" id="{8D5D10FF-3DE5-39CA-FA9A-29A09DC47BF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a:extLst>
              <a:ext uri="{FF2B5EF4-FFF2-40B4-BE49-F238E27FC236}">
                <a16:creationId xmlns:a16="http://schemas.microsoft.com/office/drawing/2014/main" id="{BFA89E6A-8342-AE30-45E0-BC1DFE3276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a:extLst>
              <a:ext uri="{FF2B5EF4-FFF2-40B4-BE49-F238E27FC236}">
                <a16:creationId xmlns:a16="http://schemas.microsoft.com/office/drawing/2014/main" id="{D9D7EB49-4BC9-040F-C4CC-5771C5FB312B}"/>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a:extLst>
              <a:ext uri="{FF2B5EF4-FFF2-40B4-BE49-F238E27FC236}">
                <a16:creationId xmlns:a16="http://schemas.microsoft.com/office/drawing/2014/main" id="{3CE04498-C285-EFB8-340C-1A064078152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
        <p:nvSpPr>
          <p:cNvPr id="18" name="Title 19">
            <a:extLst>
              <a:ext uri="{FF2B5EF4-FFF2-40B4-BE49-F238E27FC236}">
                <a16:creationId xmlns:a16="http://schemas.microsoft.com/office/drawing/2014/main" id="{9CBE0ADC-7FA0-F7E3-96EF-BBACB6A9076E}"/>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50832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4500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0.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2" Type="http://schemas.openxmlformats.org/officeDocument/2006/relationships/hyperlink" Target="LK%20AUTO%2031%20December%202021%20Audited.pdf" TargetMode="Externa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p:txBody>
          <a:bodyPr/>
          <a:lstStyle/>
          <a:p>
            <a:pPr>
              <a:lnSpc>
                <a:spcPct val="100000"/>
              </a:lnSpc>
            </a:pPr>
            <a:r>
              <a:rPr lang="en-US" sz="6000" dirty="0"/>
              <a:t>SISTEM AKUNTANSI</a:t>
            </a:r>
            <a:endParaRPr lang="en-US" dirty="0"/>
          </a:p>
        </p:txBody>
      </p:sp>
      <p:sp>
        <p:nvSpPr>
          <p:cNvPr id="3" name="Subtitle 2">
            <a:extLst>
              <a:ext uri="{FF2B5EF4-FFF2-40B4-BE49-F238E27FC236}">
                <a16:creationId xmlns:a16="http://schemas.microsoft.com/office/drawing/2014/main" id="{86C1060B-300F-3CE3-E5AA-D8E29791C960}"/>
              </a:ext>
            </a:extLst>
          </p:cNvPr>
          <p:cNvSpPr>
            <a:spLocks noGrp="1"/>
          </p:cNvSpPr>
          <p:nvPr>
            <p:ph type="subTitle" idx="1"/>
          </p:nvPr>
        </p:nvSpPr>
        <p:spPr>
          <a:xfrm>
            <a:off x="3902456" y="4033520"/>
            <a:ext cx="4652264" cy="549656"/>
          </a:xfrm>
        </p:spPr>
        <p:txBody>
          <a:bodyPr/>
          <a:lstStyle/>
          <a:p>
            <a:r>
              <a:rPr lang="en-US" dirty="0" err="1"/>
              <a:t>Astriyani</a:t>
            </a:r>
            <a:r>
              <a:rPr lang="en-US" dirty="0"/>
              <a:t> </a:t>
            </a:r>
            <a:r>
              <a:rPr lang="en-US" dirty="0" err="1"/>
              <a:t>Sandya</a:t>
            </a:r>
            <a:r>
              <a:rPr lang="en-US" dirty="0"/>
              <a:t> Paramita</a:t>
            </a:r>
          </a:p>
        </p:txBody>
      </p:sp>
      <p:pic>
        <p:nvPicPr>
          <p:cNvPr id="8" name="Picture 7">
            <a:extLst>
              <a:ext uri="{FF2B5EF4-FFF2-40B4-BE49-F238E27FC236}">
                <a16:creationId xmlns:a16="http://schemas.microsoft.com/office/drawing/2014/main" id="{7A16BF01-AE64-9AA9-BF12-734AFA897028}"/>
              </a:ext>
            </a:extLst>
          </p:cNvPr>
          <p:cNvPicPr>
            <a:picLocks noChangeAspect="1"/>
          </p:cNvPicPr>
          <p:nvPr/>
        </p:nvPicPr>
        <p:blipFill>
          <a:blip r:embed="rId2">
            <a:extLst>
              <a:ext uri="{28A0092B-C50C-407E-A947-70E740481C1C}">
                <a14:useLocalDpi xmlns:a14="http://schemas.microsoft.com/office/drawing/2010/main" val="0"/>
              </a:ext>
            </a:extLst>
          </a:blip>
          <a:srcRect l="3788" t="-1" r="3836" b="3050"/>
          <a:stretch/>
        </p:blipFill>
        <p:spPr>
          <a:xfrm>
            <a:off x="1864243" y="118579"/>
            <a:ext cx="8641079" cy="1007667"/>
          </a:xfrm>
          <a:prstGeom prst="rect">
            <a:avLst/>
          </a:prstGeom>
        </p:spPr>
      </p:pic>
    </p:spTree>
    <p:extLst>
      <p:ext uri="{BB962C8B-B14F-4D97-AF65-F5344CB8AC3E}">
        <p14:creationId xmlns:p14="http://schemas.microsoft.com/office/powerpoint/2010/main" val="213156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58D52-C468-2021-0CF9-BB420CB8E27C}"/>
              </a:ext>
            </a:extLst>
          </p:cNvPr>
          <p:cNvSpPr>
            <a:spLocks noGrp="1"/>
          </p:cNvSpPr>
          <p:nvPr>
            <p:ph type="title"/>
          </p:nvPr>
        </p:nvSpPr>
        <p:spPr>
          <a:xfrm>
            <a:off x="4440195" y="637754"/>
            <a:ext cx="4544317" cy="1609344"/>
          </a:xfrm>
        </p:spPr>
        <p:txBody>
          <a:bodyPr/>
          <a:lstStyle/>
          <a:p>
            <a:r>
              <a:rPr lang="en-US" sz="5400" dirty="0"/>
              <a:t>NERACA SALDO</a:t>
            </a:r>
            <a:endParaRPr lang="en-ID" sz="5400" dirty="0"/>
          </a:p>
        </p:txBody>
      </p:sp>
      <p:sp>
        <p:nvSpPr>
          <p:cNvPr id="3" name="Content Placeholder 2">
            <a:extLst>
              <a:ext uri="{FF2B5EF4-FFF2-40B4-BE49-F238E27FC236}">
                <a16:creationId xmlns:a16="http://schemas.microsoft.com/office/drawing/2014/main" id="{84D3F68E-C7F3-3853-AAB3-50DFE3CF0F0F}"/>
              </a:ext>
            </a:extLst>
          </p:cNvPr>
          <p:cNvSpPr>
            <a:spLocks noGrp="1"/>
          </p:cNvSpPr>
          <p:nvPr>
            <p:ph idx="1"/>
          </p:nvPr>
        </p:nvSpPr>
        <p:spPr>
          <a:xfrm>
            <a:off x="5369441" y="3055809"/>
            <a:ext cx="5260139" cy="1609344"/>
          </a:xfrm>
        </p:spPr>
        <p:txBody>
          <a:bodyPr/>
          <a:lstStyle/>
          <a:p>
            <a:r>
              <a:rPr lang="en-US" sz="2800" dirty="0" err="1"/>
              <a:t>Merupakan</a:t>
            </a:r>
            <a:r>
              <a:rPr lang="en-US" sz="2800" dirty="0"/>
              <a:t> daftar </a:t>
            </a:r>
            <a:r>
              <a:rPr lang="en-US" sz="2800" dirty="0" err="1"/>
              <a:t>dari</a:t>
            </a:r>
            <a:r>
              <a:rPr lang="en-US" sz="2800" dirty="0"/>
              <a:t> </a:t>
            </a:r>
            <a:r>
              <a:rPr lang="en-US" sz="2800" dirty="0" err="1"/>
              <a:t>saldo-saldo</a:t>
            </a:r>
            <a:r>
              <a:rPr lang="en-US" sz="2800" dirty="0"/>
              <a:t> </a:t>
            </a:r>
            <a:r>
              <a:rPr lang="en-US" sz="2800" dirty="0" err="1"/>
              <a:t>akun</a:t>
            </a:r>
            <a:r>
              <a:rPr lang="en-US" sz="2800" dirty="0"/>
              <a:t> di </a:t>
            </a:r>
            <a:r>
              <a:rPr lang="en-US" sz="2800" dirty="0" err="1"/>
              <a:t>buku</a:t>
            </a:r>
            <a:r>
              <a:rPr lang="en-US" sz="2800" dirty="0"/>
              <a:t> </a:t>
            </a:r>
            <a:r>
              <a:rPr lang="en-US" sz="2800" dirty="0" err="1"/>
              <a:t>besar</a:t>
            </a:r>
            <a:r>
              <a:rPr lang="en-US" sz="2800" dirty="0"/>
              <a:t> yang juga </a:t>
            </a:r>
            <a:r>
              <a:rPr lang="en-US" sz="2800" dirty="0" err="1"/>
              <a:t>dapat</a:t>
            </a:r>
            <a:r>
              <a:rPr lang="en-US" sz="2800" dirty="0"/>
              <a:t> </a:t>
            </a:r>
            <a:r>
              <a:rPr lang="en-US" sz="2800" dirty="0" err="1"/>
              <a:t>disebut</a:t>
            </a:r>
            <a:r>
              <a:rPr lang="en-US" sz="2800" dirty="0"/>
              <a:t> </a:t>
            </a:r>
            <a:r>
              <a:rPr lang="en-US" sz="2800" i="1" dirty="0"/>
              <a:t>trial balance </a:t>
            </a:r>
            <a:r>
              <a:rPr lang="en-US" sz="2800" dirty="0" err="1"/>
              <a:t>dibuat</a:t>
            </a:r>
            <a:r>
              <a:rPr lang="en-US" sz="2800" dirty="0"/>
              <a:t> pada </a:t>
            </a:r>
            <a:r>
              <a:rPr lang="en-US" sz="2800" dirty="0" err="1"/>
              <a:t>akhir</a:t>
            </a:r>
            <a:r>
              <a:rPr lang="en-US" sz="2800" dirty="0"/>
              <a:t> </a:t>
            </a:r>
            <a:r>
              <a:rPr lang="en-US" sz="2800" dirty="0" err="1"/>
              <a:t>setiap</a:t>
            </a:r>
            <a:r>
              <a:rPr lang="en-US" sz="2800" dirty="0"/>
              <a:t> </a:t>
            </a:r>
            <a:r>
              <a:rPr lang="en-US" sz="2800" dirty="0" err="1"/>
              <a:t>periode</a:t>
            </a:r>
            <a:r>
              <a:rPr lang="en-US" sz="2800" dirty="0"/>
              <a:t>. </a:t>
            </a:r>
            <a:endParaRPr lang="en-ID" sz="2800" dirty="0"/>
          </a:p>
        </p:txBody>
      </p:sp>
    </p:spTree>
    <p:extLst>
      <p:ext uri="{BB962C8B-B14F-4D97-AF65-F5344CB8AC3E}">
        <p14:creationId xmlns:p14="http://schemas.microsoft.com/office/powerpoint/2010/main" val="154613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9D378-CAC1-CFD2-0C06-87DC1B7AC315}"/>
              </a:ext>
            </a:extLst>
          </p:cNvPr>
          <p:cNvSpPr>
            <a:spLocks noGrp="1"/>
          </p:cNvSpPr>
          <p:nvPr>
            <p:ph type="title"/>
          </p:nvPr>
        </p:nvSpPr>
        <p:spPr>
          <a:xfrm>
            <a:off x="371502" y="1924493"/>
            <a:ext cx="4764024" cy="2388987"/>
          </a:xfrm>
        </p:spPr>
        <p:txBody>
          <a:bodyPr/>
          <a:lstStyle/>
          <a:p>
            <a:r>
              <a:rPr lang="en-US" dirty="0"/>
              <a:t>PROSEDUR PENYIAPAN NERACA SALDO</a:t>
            </a:r>
            <a:endParaRPr lang="en-ID" dirty="0"/>
          </a:p>
        </p:txBody>
      </p:sp>
      <p:pic>
        <p:nvPicPr>
          <p:cNvPr id="5" name="Picture 4">
            <a:extLst>
              <a:ext uri="{FF2B5EF4-FFF2-40B4-BE49-F238E27FC236}">
                <a16:creationId xmlns:a16="http://schemas.microsoft.com/office/drawing/2014/main" id="{E66E8041-3388-F430-1872-73DF0022AFCE}"/>
              </a:ext>
            </a:extLst>
          </p:cNvPr>
          <p:cNvPicPr>
            <a:picLocks noChangeAspect="1"/>
          </p:cNvPicPr>
          <p:nvPr/>
        </p:nvPicPr>
        <p:blipFill>
          <a:blip r:embed="rId2"/>
          <a:stretch>
            <a:fillRect/>
          </a:stretch>
        </p:blipFill>
        <p:spPr>
          <a:xfrm>
            <a:off x="4710223" y="407231"/>
            <a:ext cx="6496609" cy="6337508"/>
          </a:xfrm>
          <a:prstGeom prst="rect">
            <a:avLst/>
          </a:prstGeom>
        </p:spPr>
      </p:pic>
    </p:spTree>
    <p:extLst>
      <p:ext uri="{BB962C8B-B14F-4D97-AF65-F5344CB8AC3E}">
        <p14:creationId xmlns:p14="http://schemas.microsoft.com/office/powerpoint/2010/main" val="904088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B858B-E6B3-C221-C940-EC02DA13ADA0}"/>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06B5C044-71C1-BE79-E10D-4F2CD01F16B9}"/>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555BA81E-7152-7B32-FF46-5099915CB8A6}"/>
              </a:ext>
            </a:extLst>
          </p:cNvPr>
          <p:cNvPicPr>
            <a:picLocks noChangeAspect="1"/>
          </p:cNvPicPr>
          <p:nvPr/>
        </p:nvPicPr>
        <p:blipFill>
          <a:blip r:embed="rId2"/>
          <a:stretch>
            <a:fillRect/>
          </a:stretch>
        </p:blipFill>
        <p:spPr>
          <a:xfrm>
            <a:off x="3975214" y="483189"/>
            <a:ext cx="7265188" cy="6051591"/>
          </a:xfrm>
          <a:prstGeom prst="rect">
            <a:avLst/>
          </a:prstGeom>
        </p:spPr>
      </p:pic>
    </p:spTree>
    <p:extLst>
      <p:ext uri="{BB962C8B-B14F-4D97-AF65-F5344CB8AC3E}">
        <p14:creationId xmlns:p14="http://schemas.microsoft.com/office/powerpoint/2010/main" val="1728540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04D74-159E-C217-AB26-1EE6A031E61F}"/>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A4D289AB-B201-51C7-664B-1B606133BFF8}"/>
              </a:ext>
            </a:extLst>
          </p:cNvPr>
          <p:cNvSpPr>
            <a:spLocks noGrp="1"/>
          </p:cNvSpPr>
          <p:nvPr>
            <p:ph idx="1"/>
          </p:nvPr>
        </p:nvSpPr>
        <p:spPr/>
        <p:txBody>
          <a:bodyPr/>
          <a:lstStyle/>
          <a:p>
            <a:pPr marL="0" indent="0">
              <a:buNone/>
            </a:pPr>
            <a:endParaRPr lang="en-ID" dirty="0"/>
          </a:p>
        </p:txBody>
      </p:sp>
      <p:pic>
        <p:nvPicPr>
          <p:cNvPr id="5" name="Picture 4">
            <a:extLst>
              <a:ext uri="{FF2B5EF4-FFF2-40B4-BE49-F238E27FC236}">
                <a16:creationId xmlns:a16="http://schemas.microsoft.com/office/drawing/2014/main" id="{1BB5FEBC-5C17-147D-7023-40CD67F2E87F}"/>
              </a:ext>
            </a:extLst>
          </p:cNvPr>
          <p:cNvPicPr>
            <a:picLocks noChangeAspect="1"/>
          </p:cNvPicPr>
          <p:nvPr/>
        </p:nvPicPr>
        <p:blipFill>
          <a:blip r:embed="rId2"/>
          <a:stretch>
            <a:fillRect/>
          </a:stretch>
        </p:blipFill>
        <p:spPr>
          <a:xfrm>
            <a:off x="4224528" y="186605"/>
            <a:ext cx="7000053" cy="6484790"/>
          </a:xfrm>
          <a:prstGeom prst="rect">
            <a:avLst/>
          </a:prstGeom>
        </p:spPr>
      </p:pic>
    </p:spTree>
    <p:extLst>
      <p:ext uri="{BB962C8B-B14F-4D97-AF65-F5344CB8AC3E}">
        <p14:creationId xmlns:p14="http://schemas.microsoft.com/office/powerpoint/2010/main" val="1443757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C9649-AAB2-A5BB-1CB9-38DA64AFB28F}"/>
              </a:ext>
            </a:extLst>
          </p:cNvPr>
          <p:cNvSpPr>
            <a:spLocks noGrp="1"/>
          </p:cNvSpPr>
          <p:nvPr>
            <p:ph type="title"/>
          </p:nvPr>
        </p:nvSpPr>
        <p:spPr>
          <a:xfrm>
            <a:off x="2895600" y="2660904"/>
            <a:ext cx="6400800" cy="768096"/>
          </a:xfrm>
        </p:spPr>
        <p:txBody>
          <a:bodyPr/>
          <a:lstStyle/>
          <a:p>
            <a:r>
              <a:rPr lang="en-US" sz="6000" dirty="0"/>
              <a:t>JURNAL PENYESUAIAN</a:t>
            </a:r>
            <a:endParaRPr lang="en-ID" sz="6000" dirty="0"/>
          </a:p>
        </p:txBody>
      </p:sp>
    </p:spTree>
    <p:extLst>
      <p:ext uri="{BB962C8B-B14F-4D97-AF65-F5344CB8AC3E}">
        <p14:creationId xmlns:p14="http://schemas.microsoft.com/office/powerpoint/2010/main" val="1859450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CCB86-4249-C472-561F-85BA91A9A121}"/>
              </a:ext>
            </a:extLst>
          </p:cNvPr>
          <p:cNvSpPr>
            <a:spLocks noGrp="1"/>
          </p:cNvSpPr>
          <p:nvPr>
            <p:ph type="title"/>
          </p:nvPr>
        </p:nvSpPr>
        <p:spPr>
          <a:xfrm>
            <a:off x="3529855" y="166436"/>
            <a:ext cx="4859234" cy="1609344"/>
          </a:xfrm>
        </p:spPr>
        <p:txBody>
          <a:bodyPr/>
          <a:lstStyle/>
          <a:p>
            <a:r>
              <a:rPr lang="en-US" dirty="0"/>
              <a:t>PENYESUAIAN JURNAL</a:t>
            </a:r>
            <a:endParaRPr lang="en-ID" dirty="0"/>
          </a:p>
        </p:txBody>
      </p:sp>
      <p:sp>
        <p:nvSpPr>
          <p:cNvPr id="3" name="Content Placeholder 2">
            <a:extLst>
              <a:ext uri="{FF2B5EF4-FFF2-40B4-BE49-F238E27FC236}">
                <a16:creationId xmlns:a16="http://schemas.microsoft.com/office/drawing/2014/main" id="{1E90FFD3-A416-7AF1-2920-63E0CC711A16}"/>
              </a:ext>
            </a:extLst>
          </p:cNvPr>
          <p:cNvSpPr>
            <a:spLocks noGrp="1"/>
          </p:cNvSpPr>
          <p:nvPr>
            <p:ph idx="1"/>
          </p:nvPr>
        </p:nvSpPr>
        <p:spPr>
          <a:xfrm>
            <a:off x="3763926" y="2078736"/>
            <a:ext cx="2995404" cy="2700528"/>
          </a:xfrm>
        </p:spPr>
        <p:txBody>
          <a:bodyPr/>
          <a:lstStyle/>
          <a:p>
            <a:r>
              <a:rPr lang="en-US" sz="2000" dirty="0" err="1"/>
              <a:t>Penyesuaian</a:t>
            </a:r>
            <a:r>
              <a:rPr lang="en-US" sz="2000" dirty="0"/>
              <a:t> </a:t>
            </a:r>
            <a:r>
              <a:rPr lang="en-US" sz="2000" dirty="0" err="1"/>
              <a:t>adalah</a:t>
            </a:r>
            <a:r>
              <a:rPr lang="en-US" sz="2000" dirty="0"/>
              <a:t> proses </a:t>
            </a:r>
            <a:r>
              <a:rPr lang="en-US" sz="2000" dirty="0" err="1"/>
              <a:t>memutakhirkan</a:t>
            </a:r>
            <a:r>
              <a:rPr lang="en-US" sz="2000" dirty="0"/>
              <a:t> </a:t>
            </a:r>
            <a:r>
              <a:rPr lang="en-US" sz="2000" dirty="0" err="1"/>
              <a:t>saldo</a:t>
            </a:r>
            <a:r>
              <a:rPr lang="en-US" sz="2000" dirty="0"/>
              <a:t> </a:t>
            </a:r>
            <a:r>
              <a:rPr lang="en-US" sz="2000" dirty="0" err="1"/>
              <a:t>akun</a:t>
            </a:r>
            <a:r>
              <a:rPr lang="en-US" sz="2000" dirty="0"/>
              <a:t> yang </a:t>
            </a:r>
            <a:r>
              <a:rPr lang="en-US" sz="2000" dirty="0" err="1"/>
              <a:t>sebenarnya</a:t>
            </a:r>
            <a:r>
              <a:rPr lang="en-US" sz="2000" dirty="0"/>
              <a:t> pada </a:t>
            </a:r>
            <a:r>
              <a:rPr lang="en-US" sz="2000" dirty="0" err="1"/>
              <a:t>suatu</a:t>
            </a:r>
            <a:r>
              <a:rPr lang="en-US" sz="2000" dirty="0"/>
              <a:t> </a:t>
            </a:r>
            <a:r>
              <a:rPr lang="en-US" sz="2000" dirty="0" err="1"/>
              <a:t>periode</a:t>
            </a:r>
            <a:r>
              <a:rPr lang="en-US" sz="2000" dirty="0"/>
              <a:t> </a:t>
            </a:r>
            <a:r>
              <a:rPr lang="en-US" sz="2000" dirty="0" err="1"/>
              <a:t>sehingga</a:t>
            </a:r>
            <a:r>
              <a:rPr lang="en-US" sz="2000" dirty="0"/>
              <a:t> </a:t>
            </a:r>
            <a:r>
              <a:rPr lang="en-US" sz="2000" dirty="0" err="1"/>
              <a:t>dapat</a:t>
            </a:r>
            <a:r>
              <a:rPr lang="en-US" sz="2000" dirty="0"/>
              <a:t> </a:t>
            </a:r>
            <a:r>
              <a:rPr lang="en-US" sz="2000" dirty="0" err="1"/>
              <a:t>mencerminkan</a:t>
            </a:r>
            <a:r>
              <a:rPr lang="en-US" sz="2000" dirty="0"/>
              <a:t> </a:t>
            </a:r>
            <a:r>
              <a:rPr lang="en-US" sz="2000" dirty="0" err="1"/>
              <a:t>kondisi</a:t>
            </a:r>
            <a:r>
              <a:rPr lang="en-US" sz="2000" dirty="0"/>
              <a:t> yang </a:t>
            </a:r>
            <a:r>
              <a:rPr lang="en-US" sz="2000" dirty="0" err="1"/>
              <a:t>sebenarnya</a:t>
            </a:r>
            <a:r>
              <a:rPr lang="en-US" sz="2000" dirty="0"/>
              <a:t> </a:t>
            </a:r>
            <a:r>
              <a:rPr lang="en-US" sz="2000" dirty="0" err="1"/>
              <a:t>oada</a:t>
            </a:r>
            <a:r>
              <a:rPr lang="en-US" sz="2000" dirty="0"/>
              <a:t> asset, </a:t>
            </a:r>
            <a:r>
              <a:rPr lang="en-US" sz="2000" dirty="0" err="1"/>
              <a:t>hutang</a:t>
            </a:r>
            <a:r>
              <a:rPr lang="en-US" sz="2000" dirty="0"/>
              <a:t>, </a:t>
            </a:r>
            <a:r>
              <a:rPr lang="en-US" sz="2000" dirty="0" err="1"/>
              <a:t>pendapatan</a:t>
            </a:r>
            <a:r>
              <a:rPr lang="en-US" sz="2000" dirty="0"/>
              <a:t>, dan </a:t>
            </a:r>
            <a:r>
              <a:rPr lang="en-US" sz="2000" dirty="0" err="1"/>
              <a:t>beban</a:t>
            </a:r>
            <a:r>
              <a:rPr lang="en-US" sz="2000" dirty="0"/>
              <a:t>.</a:t>
            </a:r>
            <a:endParaRPr lang="en-ID" sz="2000" dirty="0"/>
          </a:p>
        </p:txBody>
      </p:sp>
      <p:pic>
        <p:nvPicPr>
          <p:cNvPr id="4" name="Picture 3">
            <a:extLst>
              <a:ext uri="{FF2B5EF4-FFF2-40B4-BE49-F238E27FC236}">
                <a16:creationId xmlns:a16="http://schemas.microsoft.com/office/drawing/2014/main" id="{43607D04-E8F9-9ACD-F3E5-4EB94D82C891}"/>
              </a:ext>
            </a:extLst>
          </p:cNvPr>
          <p:cNvPicPr>
            <a:picLocks noChangeAspect="1"/>
          </p:cNvPicPr>
          <p:nvPr/>
        </p:nvPicPr>
        <p:blipFill rotWithShape="1">
          <a:blip r:embed="rId2"/>
          <a:srcRect l="5263" t="6429" r="64530" b="18693"/>
          <a:stretch/>
        </p:blipFill>
        <p:spPr>
          <a:xfrm>
            <a:off x="7729870" y="1509967"/>
            <a:ext cx="3168502" cy="4699448"/>
          </a:xfrm>
          <a:prstGeom prst="rect">
            <a:avLst/>
          </a:prstGeom>
        </p:spPr>
      </p:pic>
    </p:spTree>
    <p:extLst>
      <p:ext uri="{BB962C8B-B14F-4D97-AF65-F5344CB8AC3E}">
        <p14:creationId xmlns:p14="http://schemas.microsoft.com/office/powerpoint/2010/main" val="4227803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2ACE1-5712-5AAB-2D72-10840F13D214}"/>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64172CB2-216E-78A1-F9E2-965AA1C355AA}"/>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1230CED2-E949-F9CD-F81F-0F40DECE20A9}"/>
              </a:ext>
            </a:extLst>
          </p:cNvPr>
          <p:cNvPicPr>
            <a:picLocks noChangeAspect="1"/>
          </p:cNvPicPr>
          <p:nvPr/>
        </p:nvPicPr>
        <p:blipFill>
          <a:blip r:embed="rId2"/>
          <a:stretch>
            <a:fillRect/>
          </a:stretch>
        </p:blipFill>
        <p:spPr>
          <a:xfrm>
            <a:off x="1028460" y="685800"/>
            <a:ext cx="10093692" cy="4779567"/>
          </a:xfrm>
          <a:prstGeom prst="rect">
            <a:avLst/>
          </a:prstGeom>
        </p:spPr>
      </p:pic>
    </p:spTree>
    <p:extLst>
      <p:ext uri="{BB962C8B-B14F-4D97-AF65-F5344CB8AC3E}">
        <p14:creationId xmlns:p14="http://schemas.microsoft.com/office/powerpoint/2010/main" val="612913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496EEB-127A-6461-9472-5E7987928117}"/>
              </a:ext>
            </a:extLst>
          </p:cNvPr>
          <p:cNvPicPr>
            <a:picLocks noChangeAspect="1"/>
          </p:cNvPicPr>
          <p:nvPr/>
        </p:nvPicPr>
        <p:blipFill>
          <a:blip r:embed="rId2"/>
          <a:stretch>
            <a:fillRect/>
          </a:stretch>
        </p:blipFill>
        <p:spPr>
          <a:xfrm>
            <a:off x="2954431" y="392362"/>
            <a:ext cx="5923373" cy="6013315"/>
          </a:xfrm>
          <a:prstGeom prst="rect">
            <a:avLst/>
          </a:prstGeom>
        </p:spPr>
      </p:pic>
    </p:spTree>
    <p:extLst>
      <p:ext uri="{BB962C8B-B14F-4D97-AF65-F5344CB8AC3E}">
        <p14:creationId xmlns:p14="http://schemas.microsoft.com/office/powerpoint/2010/main" val="2253828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1EE08-0F3F-3D1A-C236-099088DA70DC}"/>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E669145F-327D-EC87-24F8-CE77E5EF2A6A}"/>
              </a:ext>
            </a:extLst>
          </p:cNvPr>
          <p:cNvSpPr>
            <a:spLocks noGrp="1"/>
          </p:cNvSpPr>
          <p:nvPr>
            <p:ph idx="1"/>
          </p:nvPr>
        </p:nvSpPr>
        <p:spPr/>
        <p:txBody>
          <a:bodyPr/>
          <a:lstStyle/>
          <a:p>
            <a:endParaRPr lang="en-ID" dirty="0"/>
          </a:p>
        </p:txBody>
      </p:sp>
      <p:pic>
        <p:nvPicPr>
          <p:cNvPr id="5" name="Picture 4">
            <a:extLst>
              <a:ext uri="{FF2B5EF4-FFF2-40B4-BE49-F238E27FC236}">
                <a16:creationId xmlns:a16="http://schemas.microsoft.com/office/drawing/2014/main" id="{2CE9A8FB-CEA9-EEEC-54E7-2CA24066F28F}"/>
              </a:ext>
            </a:extLst>
          </p:cNvPr>
          <p:cNvPicPr>
            <a:picLocks noChangeAspect="1"/>
          </p:cNvPicPr>
          <p:nvPr/>
        </p:nvPicPr>
        <p:blipFill>
          <a:blip r:embed="rId2"/>
          <a:stretch>
            <a:fillRect/>
          </a:stretch>
        </p:blipFill>
        <p:spPr>
          <a:xfrm>
            <a:off x="2263515" y="262829"/>
            <a:ext cx="7266850" cy="6332342"/>
          </a:xfrm>
          <a:prstGeom prst="rect">
            <a:avLst/>
          </a:prstGeom>
        </p:spPr>
      </p:pic>
    </p:spTree>
    <p:extLst>
      <p:ext uri="{BB962C8B-B14F-4D97-AF65-F5344CB8AC3E}">
        <p14:creationId xmlns:p14="http://schemas.microsoft.com/office/powerpoint/2010/main" val="3970580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857A-2DC3-6830-5BF6-0458DBCD60AE}"/>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2A992964-101B-1642-3CC5-860A686B199F}"/>
              </a:ext>
            </a:extLst>
          </p:cNvPr>
          <p:cNvSpPr>
            <a:spLocks noGrp="1"/>
          </p:cNvSpPr>
          <p:nvPr>
            <p:ph idx="1"/>
          </p:nvPr>
        </p:nvSpPr>
        <p:spPr/>
        <p:txBody>
          <a:bodyPr/>
          <a:lstStyle/>
          <a:p>
            <a:endParaRPr lang="en-ID" dirty="0"/>
          </a:p>
        </p:txBody>
      </p:sp>
      <p:pic>
        <p:nvPicPr>
          <p:cNvPr id="5" name="Picture 4">
            <a:extLst>
              <a:ext uri="{FF2B5EF4-FFF2-40B4-BE49-F238E27FC236}">
                <a16:creationId xmlns:a16="http://schemas.microsoft.com/office/drawing/2014/main" id="{12A35AF4-F9DF-0A9D-F795-390A69ADACD2}"/>
              </a:ext>
            </a:extLst>
          </p:cNvPr>
          <p:cNvPicPr>
            <a:picLocks noChangeAspect="1"/>
          </p:cNvPicPr>
          <p:nvPr/>
        </p:nvPicPr>
        <p:blipFill>
          <a:blip r:embed="rId2"/>
          <a:stretch>
            <a:fillRect/>
          </a:stretch>
        </p:blipFill>
        <p:spPr>
          <a:xfrm>
            <a:off x="1813260" y="961424"/>
            <a:ext cx="8312494" cy="2467576"/>
          </a:xfrm>
          <a:prstGeom prst="rect">
            <a:avLst/>
          </a:prstGeom>
        </p:spPr>
      </p:pic>
      <p:pic>
        <p:nvPicPr>
          <p:cNvPr id="7" name="Picture 6">
            <a:extLst>
              <a:ext uri="{FF2B5EF4-FFF2-40B4-BE49-F238E27FC236}">
                <a16:creationId xmlns:a16="http://schemas.microsoft.com/office/drawing/2014/main" id="{A42628D0-D590-E238-BDB9-6DEB705AB445}"/>
              </a:ext>
            </a:extLst>
          </p:cNvPr>
          <p:cNvPicPr>
            <a:picLocks noChangeAspect="1"/>
          </p:cNvPicPr>
          <p:nvPr/>
        </p:nvPicPr>
        <p:blipFill rotWithShape="1">
          <a:blip r:embed="rId3"/>
          <a:srcRect b="52143"/>
          <a:stretch/>
        </p:blipFill>
        <p:spPr>
          <a:xfrm>
            <a:off x="1993327" y="3566365"/>
            <a:ext cx="7592441" cy="2116384"/>
          </a:xfrm>
          <a:prstGeom prst="rect">
            <a:avLst/>
          </a:prstGeom>
        </p:spPr>
      </p:pic>
    </p:spTree>
    <p:extLst>
      <p:ext uri="{BB962C8B-B14F-4D97-AF65-F5344CB8AC3E}">
        <p14:creationId xmlns:p14="http://schemas.microsoft.com/office/powerpoint/2010/main" val="177366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45C40-E354-5F95-C4FD-1BF7280000B5}"/>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FAB30305-F1A0-259A-58B8-1F84201358D1}"/>
              </a:ext>
            </a:extLst>
          </p:cNvPr>
          <p:cNvSpPr>
            <a:spLocks noGrp="1"/>
          </p:cNvSpPr>
          <p:nvPr>
            <p:ph idx="1"/>
          </p:nvPr>
        </p:nvSpPr>
        <p:spPr/>
        <p:txBody>
          <a:bodyPr/>
          <a:lstStyle/>
          <a:p>
            <a:endParaRPr lang="en-ID" dirty="0"/>
          </a:p>
        </p:txBody>
      </p:sp>
      <p:pic>
        <p:nvPicPr>
          <p:cNvPr id="4" name="Picture 3">
            <a:extLst>
              <a:ext uri="{FF2B5EF4-FFF2-40B4-BE49-F238E27FC236}">
                <a16:creationId xmlns:a16="http://schemas.microsoft.com/office/drawing/2014/main" id="{CADD0103-9F0F-0F16-5CAE-EA20C2E0C529}"/>
              </a:ext>
            </a:extLst>
          </p:cNvPr>
          <p:cNvPicPr>
            <a:picLocks noChangeAspect="1"/>
          </p:cNvPicPr>
          <p:nvPr/>
        </p:nvPicPr>
        <p:blipFill rotWithShape="1">
          <a:blip r:embed="rId2"/>
          <a:srcRect t="46985"/>
          <a:stretch/>
        </p:blipFill>
        <p:spPr>
          <a:xfrm>
            <a:off x="1358776" y="1546084"/>
            <a:ext cx="9474447" cy="2923083"/>
          </a:xfrm>
          <a:prstGeom prst="rect">
            <a:avLst/>
          </a:prstGeom>
        </p:spPr>
      </p:pic>
    </p:spTree>
    <p:extLst>
      <p:ext uri="{BB962C8B-B14F-4D97-AF65-F5344CB8AC3E}">
        <p14:creationId xmlns:p14="http://schemas.microsoft.com/office/powerpoint/2010/main" val="4055887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D7F5D-D7BA-D362-443E-10914A33F45A}"/>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854183D3-2A5B-85AB-2319-058D48702555}"/>
              </a:ext>
            </a:extLst>
          </p:cNvPr>
          <p:cNvSpPr>
            <a:spLocks noGrp="1"/>
          </p:cNvSpPr>
          <p:nvPr>
            <p:ph idx="1"/>
          </p:nvPr>
        </p:nvSpPr>
        <p:spPr/>
        <p:txBody>
          <a:bodyPr/>
          <a:lstStyle/>
          <a:p>
            <a:endParaRPr lang="en-ID" dirty="0"/>
          </a:p>
        </p:txBody>
      </p:sp>
      <p:pic>
        <p:nvPicPr>
          <p:cNvPr id="7" name="Picture 6">
            <a:extLst>
              <a:ext uri="{FF2B5EF4-FFF2-40B4-BE49-F238E27FC236}">
                <a16:creationId xmlns:a16="http://schemas.microsoft.com/office/drawing/2014/main" id="{76DD6336-9D0C-EDFB-65FB-D5DDBA0CDEE5}"/>
              </a:ext>
            </a:extLst>
          </p:cNvPr>
          <p:cNvPicPr>
            <a:picLocks noChangeAspect="1"/>
          </p:cNvPicPr>
          <p:nvPr/>
        </p:nvPicPr>
        <p:blipFill>
          <a:blip r:embed="rId2"/>
          <a:stretch>
            <a:fillRect/>
          </a:stretch>
        </p:blipFill>
        <p:spPr>
          <a:xfrm>
            <a:off x="2278505" y="155942"/>
            <a:ext cx="7505390" cy="6492859"/>
          </a:xfrm>
          <a:prstGeom prst="rect">
            <a:avLst/>
          </a:prstGeom>
        </p:spPr>
      </p:pic>
    </p:spTree>
    <p:extLst>
      <p:ext uri="{BB962C8B-B14F-4D97-AF65-F5344CB8AC3E}">
        <p14:creationId xmlns:p14="http://schemas.microsoft.com/office/powerpoint/2010/main" val="73018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190AB-5ABE-625D-4969-F498EB448DD1}"/>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E7BEEACC-7B90-6693-C9DC-D9E4623FF103}"/>
              </a:ext>
            </a:extLst>
          </p:cNvPr>
          <p:cNvSpPr>
            <a:spLocks noGrp="1"/>
          </p:cNvSpPr>
          <p:nvPr>
            <p:ph idx="1"/>
          </p:nvPr>
        </p:nvSpPr>
        <p:spPr/>
        <p:txBody>
          <a:bodyPr/>
          <a:lstStyle/>
          <a:p>
            <a:endParaRPr lang="en-ID"/>
          </a:p>
        </p:txBody>
      </p:sp>
      <p:pic>
        <p:nvPicPr>
          <p:cNvPr id="4" name="Picture 3">
            <a:extLst>
              <a:ext uri="{FF2B5EF4-FFF2-40B4-BE49-F238E27FC236}">
                <a16:creationId xmlns:a16="http://schemas.microsoft.com/office/drawing/2014/main" id="{562A27DC-C3B1-2EAC-9EB0-596BC2D497C2}"/>
              </a:ext>
            </a:extLst>
          </p:cNvPr>
          <p:cNvPicPr>
            <a:picLocks noChangeAspect="1"/>
          </p:cNvPicPr>
          <p:nvPr/>
        </p:nvPicPr>
        <p:blipFill>
          <a:blip r:embed="rId2"/>
          <a:stretch>
            <a:fillRect/>
          </a:stretch>
        </p:blipFill>
        <p:spPr>
          <a:xfrm>
            <a:off x="2017502" y="1629498"/>
            <a:ext cx="8156996" cy="3050363"/>
          </a:xfrm>
          <a:prstGeom prst="rect">
            <a:avLst/>
          </a:prstGeom>
        </p:spPr>
      </p:pic>
    </p:spTree>
    <p:extLst>
      <p:ext uri="{BB962C8B-B14F-4D97-AF65-F5344CB8AC3E}">
        <p14:creationId xmlns:p14="http://schemas.microsoft.com/office/powerpoint/2010/main" val="1815101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42C89-E084-1A3D-38F8-B17BF304917B}"/>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C537131D-0B2A-C7DD-5E43-3F3D13C10685}"/>
              </a:ext>
            </a:extLst>
          </p:cNvPr>
          <p:cNvSpPr>
            <a:spLocks noGrp="1"/>
          </p:cNvSpPr>
          <p:nvPr>
            <p:ph idx="1"/>
          </p:nvPr>
        </p:nvSpPr>
        <p:spPr/>
        <p:txBody>
          <a:bodyPr/>
          <a:lstStyle/>
          <a:p>
            <a:endParaRPr lang="en-ID" dirty="0"/>
          </a:p>
        </p:txBody>
      </p:sp>
      <p:pic>
        <p:nvPicPr>
          <p:cNvPr id="5" name="Picture 4">
            <a:extLst>
              <a:ext uri="{FF2B5EF4-FFF2-40B4-BE49-F238E27FC236}">
                <a16:creationId xmlns:a16="http://schemas.microsoft.com/office/drawing/2014/main" id="{ACE0CD2C-D63E-543B-4A67-8ECFD6892894}"/>
              </a:ext>
            </a:extLst>
          </p:cNvPr>
          <p:cNvPicPr>
            <a:picLocks noChangeAspect="1"/>
          </p:cNvPicPr>
          <p:nvPr/>
        </p:nvPicPr>
        <p:blipFill>
          <a:blip r:embed="rId2"/>
          <a:stretch>
            <a:fillRect/>
          </a:stretch>
        </p:blipFill>
        <p:spPr>
          <a:xfrm>
            <a:off x="2383436" y="113398"/>
            <a:ext cx="7059115" cy="6259970"/>
          </a:xfrm>
          <a:prstGeom prst="rect">
            <a:avLst/>
          </a:prstGeom>
        </p:spPr>
      </p:pic>
    </p:spTree>
    <p:extLst>
      <p:ext uri="{BB962C8B-B14F-4D97-AF65-F5344CB8AC3E}">
        <p14:creationId xmlns:p14="http://schemas.microsoft.com/office/powerpoint/2010/main" val="164960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B637B-3BA8-9A58-2018-9D0FF117122C}"/>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F28E0656-8543-4776-2BFB-EA6CBAE32C54}"/>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10354D7F-AB2D-6B7F-7B1A-BFDDE851A96F}"/>
              </a:ext>
            </a:extLst>
          </p:cNvPr>
          <p:cNvPicPr>
            <a:picLocks noChangeAspect="1"/>
          </p:cNvPicPr>
          <p:nvPr/>
        </p:nvPicPr>
        <p:blipFill>
          <a:blip r:embed="rId2"/>
          <a:stretch>
            <a:fillRect/>
          </a:stretch>
        </p:blipFill>
        <p:spPr>
          <a:xfrm>
            <a:off x="1315221" y="1823374"/>
            <a:ext cx="10058400" cy="2334673"/>
          </a:xfrm>
          <a:prstGeom prst="rect">
            <a:avLst/>
          </a:prstGeom>
        </p:spPr>
      </p:pic>
    </p:spTree>
    <p:extLst>
      <p:ext uri="{BB962C8B-B14F-4D97-AF65-F5344CB8AC3E}">
        <p14:creationId xmlns:p14="http://schemas.microsoft.com/office/powerpoint/2010/main" val="2424658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23C86-B089-D457-5C76-C7F714B2EC10}"/>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D460901E-6A4F-F9AA-787F-0446F7DC53C7}"/>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E11DBA4B-5621-B9B5-1018-19E1EFC18A1B}"/>
              </a:ext>
            </a:extLst>
          </p:cNvPr>
          <p:cNvPicPr>
            <a:picLocks noChangeAspect="1"/>
          </p:cNvPicPr>
          <p:nvPr/>
        </p:nvPicPr>
        <p:blipFill>
          <a:blip r:embed="rId2"/>
          <a:stretch>
            <a:fillRect/>
          </a:stretch>
        </p:blipFill>
        <p:spPr>
          <a:xfrm>
            <a:off x="1063752" y="1631260"/>
            <a:ext cx="10107287" cy="3132765"/>
          </a:xfrm>
          <a:prstGeom prst="rect">
            <a:avLst/>
          </a:prstGeom>
        </p:spPr>
      </p:pic>
    </p:spTree>
    <p:extLst>
      <p:ext uri="{BB962C8B-B14F-4D97-AF65-F5344CB8AC3E}">
        <p14:creationId xmlns:p14="http://schemas.microsoft.com/office/powerpoint/2010/main" val="3556643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57645-5BA7-61BD-3DB0-34ADE8F42359}"/>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0CE0A54A-81C9-CB7A-2918-4D645B9B2639}"/>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3CAD9175-6D1C-8007-FC1C-38AD11D4E726}"/>
              </a:ext>
            </a:extLst>
          </p:cNvPr>
          <p:cNvPicPr>
            <a:picLocks noChangeAspect="1"/>
          </p:cNvPicPr>
          <p:nvPr/>
        </p:nvPicPr>
        <p:blipFill>
          <a:blip r:embed="rId2"/>
          <a:stretch>
            <a:fillRect/>
          </a:stretch>
        </p:blipFill>
        <p:spPr>
          <a:xfrm>
            <a:off x="1049812" y="1737503"/>
            <a:ext cx="10072340" cy="2759546"/>
          </a:xfrm>
          <a:prstGeom prst="rect">
            <a:avLst/>
          </a:prstGeom>
        </p:spPr>
      </p:pic>
    </p:spTree>
    <p:extLst>
      <p:ext uri="{BB962C8B-B14F-4D97-AF65-F5344CB8AC3E}">
        <p14:creationId xmlns:p14="http://schemas.microsoft.com/office/powerpoint/2010/main" val="1033628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C32EE-37B2-4B05-4F70-0407113D6988}"/>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091D2568-F232-7C2B-A826-69CCAE866C82}"/>
              </a:ext>
            </a:extLst>
          </p:cNvPr>
          <p:cNvSpPr>
            <a:spLocks noGrp="1"/>
          </p:cNvSpPr>
          <p:nvPr>
            <p:ph idx="1"/>
          </p:nvPr>
        </p:nvSpPr>
        <p:spPr/>
        <p:txBody>
          <a:bodyPr/>
          <a:lstStyle/>
          <a:p>
            <a:endParaRPr lang="en-ID" dirty="0"/>
          </a:p>
        </p:txBody>
      </p:sp>
      <p:pic>
        <p:nvPicPr>
          <p:cNvPr id="5" name="Picture 4">
            <a:extLst>
              <a:ext uri="{FF2B5EF4-FFF2-40B4-BE49-F238E27FC236}">
                <a16:creationId xmlns:a16="http://schemas.microsoft.com/office/drawing/2014/main" id="{8295A3C9-2EFA-8303-3287-BCBBD6A3C832}"/>
              </a:ext>
            </a:extLst>
          </p:cNvPr>
          <p:cNvPicPr>
            <a:picLocks noChangeAspect="1"/>
          </p:cNvPicPr>
          <p:nvPr/>
        </p:nvPicPr>
        <p:blipFill>
          <a:blip r:embed="rId2"/>
          <a:stretch>
            <a:fillRect/>
          </a:stretch>
        </p:blipFill>
        <p:spPr>
          <a:xfrm>
            <a:off x="2038662" y="409382"/>
            <a:ext cx="7799515" cy="5517342"/>
          </a:xfrm>
          <a:prstGeom prst="rect">
            <a:avLst/>
          </a:prstGeom>
        </p:spPr>
      </p:pic>
    </p:spTree>
    <p:extLst>
      <p:ext uri="{BB962C8B-B14F-4D97-AF65-F5344CB8AC3E}">
        <p14:creationId xmlns:p14="http://schemas.microsoft.com/office/powerpoint/2010/main" val="3897471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02885-69E4-4279-8AD1-9058109B127D}"/>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D218347F-9CE1-15AB-3C8A-273FE30C2F71}"/>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D0EB770B-12F1-AA0A-A66B-E47527E7E55A}"/>
              </a:ext>
            </a:extLst>
          </p:cNvPr>
          <p:cNvPicPr>
            <a:picLocks noChangeAspect="1"/>
          </p:cNvPicPr>
          <p:nvPr/>
        </p:nvPicPr>
        <p:blipFill>
          <a:blip r:embed="rId2"/>
          <a:stretch>
            <a:fillRect/>
          </a:stretch>
        </p:blipFill>
        <p:spPr>
          <a:xfrm>
            <a:off x="1063752" y="1867651"/>
            <a:ext cx="9619351" cy="2629398"/>
          </a:xfrm>
          <a:prstGeom prst="rect">
            <a:avLst/>
          </a:prstGeom>
        </p:spPr>
      </p:pic>
    </p:spTree>
    <p:extLst>
      <p:ext uri="{BB962C8B-B14F-4D97-AF65-F5344CB8AC3E}">
        <p14:creationId xmlns:p14="http://schemas.microsoft.com/office/powerpoint/2010/main" val="2427266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E871A-4808-D624-E14F-11607D44DFBD}"/>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6333C9F1-2750-2F16-CADA-36EF3F952E56}"/>
              </a:ext>
            </a:extLst>
          </p:cNvPr>
          <p:cNvSpPr>
            <a:spLocks noGrp="1"/>
          </p:cNvSpPr>
          <p:nvPr>
            <p:ph idx="1"/>
          </p:nvPr>
        </p:nvSpPr>
        <p:spPr/>
        <p:txBody>
          <a:bodyPr/>
          <a:lstStyle/>
          <a:p>
            <a:endParaRPr lang="en-ID" dirty="0"/>
          </a:p>
        </p:txBody>
      </p:sp>
      <p:pic>
        <p:nvPicPr>
          <p:cNvPr id="5" name="Picture 4">
            <a:extLst>
              <a:ext uri="{FF2B5EF4-FFF2-40B4-BE49-F238E27FC236}">
                <a16:creationId xmlns:a16="http://schemas.microsoft.com/office/drawing/2014/main" id="{2CFC9ED9-E27C-CB7F-C8F9-7572EF80FC84}"/>
              </a:ext>
            </a:extLst>
          </p:cNvPr>
          <p:cNvPicPr>
            <a:picLocks noChangeAspect="1"/>
          </p:cNvPicPr>
          <p:nvPr/>
        </p:nvPicPr>
        <p:blipFill>
          <a:blip r:embed="rId2"/>
          <a:stretch>
            <a:fillRect/>
          </a:stretch>
        </p:blipFill>
        <p:spPr>
          <a:xfrm>
            <a:off x="2488369" y="239843"/>
            <a:ext cx="7606602" cy="5618105"/>
          </a:xfrm>
          <a:prstGeom prst="rect">
            <a:avLst/>
          </a:prstGeom>
        </p:spPr>
      </p:pic>
    </p:spTree>
    <p:extLst>
      <p:ext uri="{BB962C8B-B14F-4D97-AF65-F5344CB8AC3E}">
        <p14:creationId xmlns:p14="http://schemas.microsoft.com/office/powerpoint/2010/main" val="1808802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10F5E-A70A-B559-4FF6-9BCF441DBDC1}"/>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273AA5D7-A24E-F80A-200B-21A27E834659}"/>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751B5C8D-B78E-B647-40B7-B236E9C52AC7}"/>
              </a:ext>
            </a:extLst>
          </p:cNvPr>
          <p:cNvPicPr>
            <a:picLocks noChangeAspect="1"/>
          </p:cNvPicPr>
          <p:nvPr/>
        </p:nvPicPr>
        <p:blipFill>
          <a:blip r:embed="rId2"/>
          <a:stretch>
            <a:fillRect/>
          </a:stretch>
        </p:blipFill>
        <p:spPr>
          <a:xfrm>
            <a:off x="2238536" y="1741841"/>
            <a:ext cx="7714928" cy="2404963"/>
          </a:xfrm>
          <a:prstGeom prst="rect">
            <a:avLst/>
          </a:prstGeom>
        </p:spPr>
      </p:pic>
    </p:spTree>
    <p:extLst>
      <p:ext uri="{BB962C8B-B14F-4D97-AF65-F5344CB8AC3E}">
        <p14:creationId xmlns:p14="http://schemas.microsoft.com/office/powerpoint/2010/main" val="2117558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7BCFA-E5DD-112A-8D3B-E7AD67DA719D}"/>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9A4B46D5-DFAD-8F8A-C9F5-EECA869E64FB}"/>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34BFC929-1D1E-40D9-EFA5-A4F61D25592B}"/>
              </a:ext>
            </a:extLst>
          </p:cNvPr>
          <p:cNvPicPr>
            <a:picLocks noChangeAspect="1"/>
          </p:cNvPicPr>
          <p:nvPr/>
        </p:nvPicPr>
        <p:blipFill>
          <a:blip r:embed="rId2"/>
          <a:stretch>
            <a:fillRect/>
          </a:stretch>
        </p:blipFill>
        <p:spPr>
          <a:xfrm>
            <a:off x="3222848" y="314833"/>
            <a:ext cx="5746303" cy="6228333"/>
          </a:xfrm>
          <a:prstGeom prst="rect">
            <a:avLst/>
          </a:prstGeom>
        </p:spPr>
      </p:pic>
    </p:spTree>
    <p:extLst>
      <p:ext uri="{BB962C8B-B14F-4D97-AF65-F5344CB8AC3E}">
        <p14:creationId xmlns:p14="http://schemas.microsoft.com/office/powerpoint/2010/main" val="896089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C7397-87D6-0232-E6B1-49124DE58065}"/>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C19B49DD-679A-353D-86B7-58CD8AC07DDF}"/>
              </a:ext>
            </a:extLst>
          </p:cNvPr>
          <p:cNvSpPr>
            <a:spLocks noGrp="1"/>
          </p:cNvSpPr>
          <p:nvPr>
            <p:ph idx="1"/>
          </p:nvPr>
        </p:nvSpPr>
        <p:spPr/>
        <p:txBody>
          <a:bodyPr/>
          <a:lstStyle/>
          <a:p>
            <a:endParaRPr lang="en-ID" dirty="0"/>
          </a:p>
        </p:txBody>
      </p:sp>
      <p:pic>
        <p:nvPicPr>
          <p:cNvPr id="5" name="Picture 4">
            <a:extLst>
              <a:ext uri="{FF2B5EF4-FFF2-40B4-BE49-F238E27FC236}">
                <a16:creationId xmlns:a16="http://schemas.microsoft.com/office/drawing/2014/main" id="{EFF17331-D3C4-0622-E330-A6571F5229A9}"/>
              </a:ext>
            </a:extLst>
          </p:cNvPr>
          <p:cNvPicPr>
            <a:picLocks noChangeAspect="1"/>
          </p:cNvPicPr>
          <p:nvPr/>
        </p:nvPicPr>
        <p:blipFill>
          <a:blip r:embed="rId2"/>
          <a:stretch>
            <a:fillRect/>
          </a:stretch>
        </p:blipFill>
        <p:spPr>
          <a:xfrm>
            <a:off x="2100119" y="2121408"/>
            <a:ext cx="7991762" cy="2096200"/>
          </a:xfrm>
          <a:prstGeom prst="rect">
            <a:avLst/>
          </a:prstGeom>
        </p:spPr>
      </p:pic>
    </p:spTree>
    <p:extLst>
      <p:ext uri="{BB962C8B-B14F-4D97-AF65-F5344CB8AC3E}">
        <p14:creationId xmlns:p14="http://schemas.microsoft.com/office/powerpoint/2010/main" val="3967703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428CB-AE91-7789-042D-A5EA6BE1D022}"/>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C6625EE9-8DF0-30C3-D816-922C3C16B680}"/>
              </a:ext>
            </a:extLst>
          </p:cNvPr>
          <p:cNvSpPr>
            <a:spLocks noGrp="1"/>
          </p:cNvSpPr>
          <p:nvPr>
            <p:ph idx="1"/>
          </p:nvPr>
        </p:nvSpPr>
        <p:spPr/>
        <p:txBody>
          <a:bodyPr/>
          <a:lstStyle/>
          <a:p>
            <a:endParaRPr lang="en-ID" dirty="0"/>
          </a:p>
        </p:txBody>
      </p:sp>
      <p:pic>
        <p:nvPicPr>
          <p:cNvPr id="5" name="Picture 4">
            <a:extLst>
              <a:ext uri="{FF2B5EF4-FFF2-40B4-BE49-F238E27FC236}">
                <a16:creationId xmlns:a16="http://schemas.microsoft.com/office/drawing/2014/main" id="{99063F48-D725-D2BF-04E1-8BB150172E32}"/>
              </a:ext>
            </a:extLst>
          </p:cNvPr>
          <p:cNvPicPr>
            <a:picLocks noChangeAspect="1"/>
          </p:cNvPicPr>
          <p:nvPr/>
        </p:nvPicPr>
        <p:blipFill>
          <a:blip r:embed="rId2"/>
          <a:stretch>
            <a:fillRect/>
          </a:stretch>
        </p:blipFill>
        <p:spPr>
          <a:xfrm>
            <a:off x="2321113" y="282418"/>
            <a:ext cx="7549774" cy="5889782"/>
          </a:xfrm>
          <a:prstGeom prst="rect">
            <a:avLst/>
          </a:prstGeom>
        </p:spPr>
      </p:pic>
    </p:spTree>
    <p:extLst>
      <p:ext uri="{BB962C8B-B14F-4D97-AF65-F5344CB8AC3E}">
        <p14:creationId xmlns:p14="http://schemas.microsoft.com/office/powerpoint/2010/main" val="40622159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C9760-ECF6-B1FB-1A0B-932E1D7C06AD}"/>
              </a:ext>
            </a:extLst>
          </p:cNvPr>
          <p:cNvSpPr>
            <a:spLocks noGrp="1"/>
          </p:cNvSpPr>
          <p:nvPr>
            <p:ph type="title"/>
          </p:nvPr>
        </p:nvSpPr>
        <p:spPr>
          <a:xfrm>
            <a:off x="2562446" y="3008376"/>
            <a:ext cx="7067107" cy="768096"/>
          </a:xfrm>
        </p:spPr>
        <p:txBody>
          <a:bodyPr/>
          <a:lstStyle/>
          <a:p>
            <a:r>
              <a:rPr lang="en-US" sz="6600" dirty="0" err="1"/>
              <a:t>Penyesuaian</a:t>
            </a:r>
            <a:r>
              <a:rPr lang="en-US" sz="6600" dirty="0"/>
              <a:t> </a:t>
            </a:r>
            <a:r>
              <a:rPr lang="en-US" sz="6600" dirty="0" err="1"/>
              <a:t>buku</a:t>
            </a:r>
            <a:r>
              <a:rPr lang="en-US" sz="6600" dirty="0"/>
              <a:t> </a:t>
            </a:r>
            <a:r>
              <a:rPr lang="en-US" sz="6600" dirty="0" err="1"/>
              <a:t>besar</a:t>
            </a:r>
            <a:endParaRPr lang="en-ID" sz="6600" dirty="0"/>
          </a:p>
        </p:txBody>
      </p:sp>
    </p:spTree>
    <p:extLst>
      <p:ext uri="{BB962C8B-B14F-4D97-AF65-F5344CB8AC3E}">
        <p14:creationId xmlns:p14="http://schemas.microsoft.com/office/powerpoint/2010/main" val="1139554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7D400-6020-3C7F-BA81-E447CC41E0DE}"/>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C66A7F28-F021-209E-F258-107385DFE8AD}"/>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867C46FE-1061-D1CE-0FB9-F246654A4235}"/>
              </a:ext>
            </a:extLst>
          </p:cNvPr>
          <p:cNvPicPr>
            <a:picLocks noChangeAspect="1"/>
          </p:cNvPicPr>
          <p:nvPr/>
        </p:nvPicPr>
        <p:blipFill>
          <a:blip r:embed="rId2"/>
          <a:stretch>
            <a:fillRect/>
          </a:stretch>
        </p:blipFill>
        <p:spPr>
          <a:xfrm>
            <a:off x="3222885" y="421824"/>
            <a:ext cx="6562062" cy="5383620"/>
          </a:xfrm>
          <a:prstGeom prst="rect">
            <a:avLst/>
          </a:prstGeom>
        </p:spPr>
      </p:pic>
    </p:spTree>
    <p:extLst>
      <p:ext uri="{BB962C8B-B14F-4D97-AF65-F5344CB8AC3E}">
        <p14:creationId xmlns:p14="http://schemas.microsoft.com/office/powerpoint/2010/main" val="1503736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93E99-2041-77F8-902B-41186DD0AD46}"/>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AC76F5B5-6D16-0924-D2EC-89AEC58C942C}"/>
              </a:ext>
            </a:extLst>
          </p:cNvPr>
          <p:cNvSpPr>
            <a:spLocks noGrp="1"/>
          </p:cNvSpPr>
          <p:nvPr>
            <p:ph idx="1"/>
          </p:nvPr>
        </p:nvSpPr>
        <p:spPr/>
        <p:txBody>
          <a:bodyPr/>
          <a:lstStyle/>
          <a:p>
            <a:endParaRPr lang="en-ID" dirty="0"/>
          </a:p>
        </p:txBody>
      </p:sp>
      <p:pic>
        <p:nvPicPr>
          <p:cNvPr id="5" name="Picture 4">
            <a:extLst>
              <a:ext uri="{FF2B5EF4-FFF2-40B4-BE49-F238E27FC236}">
                <a16:creationId xmlns:a16="http://schemas.microsoft.com/office/drawing/2014/main" id="{AA6E2481-2FD5-11FE-8612-7A2D83946DCF}"/>
              </a:ext>
            </a:extLst>
          </p:cNvPr>
          <p:cNvPicPr>
            <a:picLocks noChangeAspect="1"/>
          </p:cNvPicPr>
          <p:nvPr/>
        </p:nvPicPr>
        <p:blipFill>
          <a:blip r:embed="rId2"/>
          <a:stretch>
            <a:fillRect/>
          </a:stretch>
        </p:blipFill>
        <p:spPr>
          <a:xfrm>
            <a:off x="2298432" y="484632"/>
            <a:ext cx="7863230" cy="2930577"/>
          </a:xfrm>
          <a:prstGeom prst="rect">
            <a:avLst/>
          </a:prstGeom>
        </p:spPr>
      </p:pic>
      <p:pic>
        <p:nvPicPr>
          <p:cNvPr id="7" name="Picture 6">
            <a:extLst>
              <a:ext uri="{FF2B5EF4-FFF2-40B4-BE49-F238E27FC236}">
                <a16:creationId xmlns:a16="http://schemas.microsoft.com/office/drawing/2014/main" id="{E0EA3543-AD18-3687-BB0B-090AE91101BB}"/>
              </a:ext>
            </a:extLst>
          </p:cNvPr>
          <p:cNvPicPr>
            <a:picLocks noChangeAspect="1"/>
          </p:cNvPicPr>
          <p:nvPr/>
        </p:nvPicPr>
        <p:blipFill>
          <a:blip r:embed="rId3"/>
          <a:stretch>
            <a:fillRect/>
          </a:stretch>
        </p:blipFill>
        <p:spPr>
          <a:xfrm>
            <a:off x="2448333" y="3415209"/>
            <a:ext cx="7033566" cy="3078056"/>
          </a:xfrm>
          <a:prstGeom prst="rect">
            <a:avLst/>
          </a:prstGeom>
        </p:spPr>
      </p:pic>
    </p:spTree>
    <p:extLst>
      <p:ext uri="{BB962C8B-B14F-4D97-AF65-F5344CB8AC3E}">
        <p14:creationId xmlns:p14="http://schemas.microsoft.com/office/powerpoint/2010/main" val="747265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F32FA-2614-07EA-A03D-E70CE7421F3E}"/>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53AE74C9-A9DB-DA4D-4B5E-F5A0DB7D5BA8}"/>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14CF32EA-7604-3B1B-6917-995AB280A664}"/>
              </a:ext>
            </a:extLst>
          </p:cNvPr>
          <p:cNvPicPr>
            <a:picLocks noChangeAspect="1"/>
          </p:cNvPicPr>
          <p:nvPr/>
        </p:nvPicPr>
        <p:blipFill>
          <a:blip r:embed="rId2"/>
          <a:stretch>
            <a:fillRect/>
          </a:stretch>
        </p:blipFill>
        <p:spPr>
          <a:xfrm>
            <a:off x="2161347" y="484632"/>
            <a:ext cx="7869306" cy="5846613"/>
          </a:xfrm>
          <a:prstGeom prst="rect">
            <a:avLst/>
          </a:prstGeom>
        </p:spPr>
      </p:pic>
    </p:spTree>
    <p:extLst>
      <p:ext uri="{BB962C8B-B14F-4D97-AF65-F5344CB8AC3E}">
        <p14:creationId xmlns:p14="http://schemas.microsoft.com/office/powerpoint/2010/main" val="2029231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42961-29CF-03C7-EA9D-C0013F826367}"/>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69889491-FBD2-08B2-4B6B-CB65474C53ED}"/>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584C0A26-6E32-CB29-E1F7-4DB1EF269991}"/>
              </a:ext>
            </a:extLst>
          </p:cNvPr>
          <p:cNvPicPr>
            <a:picLocks noChangeAspect="1"/>
          </p:cNvPicPr>
          <p:nvPr/>
        </p:nvPicPr>
        <p:blipFill>
          <a:blip r:embed="rId2"/>
          <a:stretch>
            <a:fillRect/>
          </a:stretch>
        </p:blipFill>
        <p:spPr>
          <a:xfrm>
            <a:off x="2728210" y="484632"/>
            <a:ext cx="7189688" cy="5169330"/>
          </a:xfrm>
          <a:prstGeom prst="rect">
            <a:avLst/>
          </a:prstGeom>
        </p:spPr>
      </p:pic>
    </p:spTree>
    <p:extLst>
      <p:ext uri="{BB962C8B-B14F-4D97-AF65-F5344CB8AC3E}">
        <p14:creationId xmlns:p14="http://schemas.microsoft.com/office/powerpoint/2010/main" val="3200791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99DED-45BB-5B6D-DB1D-704A9160DD04}"/>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620CECD4-F811-707E-899F-B406626C09B6}"/>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1A956FD7-278A-6940-8E3F-F68B9321D2DC}"/>
              </a:ext>
            </a:extLst>
          </p:cNvPr>
          <p:cNvPicPr>
            <a:picLocks noChangeAspect="1"/>
          </p:cNvPicPr>
          <p:nvPr/>
        </p:nvPicPr>
        <p:blipFill>
          <a:blip r:embed="rId2"/>
          <a:stretch>
            <a:fillRect/>
          </a:stretch>
        </p:blipFill>
        <p:spPr>
          <a:xfrm>
            <a:off x="2729511" y="930150"/>
            <a:ext cx="6732977" cy="4722949"/>
          </a:xfrm>
          <a:prstGeom prst="rect">
            <a:avLst/>
          </a:prstGeom>
        </p:spPr>
      </p:pic>
    </p:spTree>
    <p:extLst>
      <p:ext uri="{BB962C8B-B14F-4D97-AF65-F5344CB8AC3E}">
        <p14:creationId xmlns:p14="http://schemas.microsoft.com/office/powerpoint/2010/main" val="786928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AD4C6-F17C-5CDE-5A04-E119F7711672}"/>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F6B291AD-A26A-B514-6F53-D0F68A851A66}"/>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C0E977B7-9FA7-BD4F-1BAE-3959B618B377}"/>
              </a:ext>
            </a:extLst>
          </p:cNvPr>
          <p:cNvPicPr>
            <a:picLocks noChangeAspect="1"/>
          </p:cNvPicPr>
          <p:nvPr/>
        </p:nvPicPr>
        <p:blipFill>
          <a:blip r:embed="rId2"/>
          <a:stretch>
            <a:fillRect/>
          </a:stretch>
        </p:blipFill>
        <p:spPr>
          <a:xfrm>
            <a:off x="2515516" y="373474"/>
            <a:ext cx="7160967" cy="6111052"/>
          </a:xfrm>
          <a:prstGeom prst="rect">
            <a:avLst/>
          </a:prstGeom>
        </p:spPr>
      </p:pic>
    </p:spTree>
    <p:extLst>
      <p:ext uri="{BB962C8B-B14F-4D97-AF65-F5344CB8AC3E}">
        <p14:creationId xmlns:p14="http://schemas.microsoft.com/office/powerpoint/2010/main" val="39838091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8838-7B59-9863-35D2-B12B9329B68F}"/>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AA06AC61-0170-BCE0-865B-A8F489B9A9C4}"/>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B45A6756-402D-C618-023D-9579CC370678}"/>
              </a:ext>
            </a:extLst>
          </p:cNvPr>
          <p:cNvPicPr>
            <a:picLocks noChangeAspect="1"/>
          </p:cNvPicPr>
          <p:nvPr/>
        </p:nvPicPr>
        <p:blipFill>
          <a:blip r:embed="rId2"/>
          <a:stretch>
            <a:fillRect/>
          </a:stretch>
        </p:blipFill>
        <p:spPr>
          <a:xfrm>
            <a:off x="2862321" y="484632"/>
            <a:ext cx="6467358" cy="2413011"/>
          </a:xfrm>
          <a:prstGeom prst="rect">
            <a:avLst/>
          </a:prstGeom>
        </p:spPr>
      </p:pic>
      <p:pic>
        <p:nvPicPr>
          <p:cNvPr id="9" name="Picture 8">
            <a:extLst>
              <a:ext uri="{FF2B5EF4-FFF2-40B4-BE49-F238E27FC236}">
                <a16:creationId xmlns:a16="http://schemas.microsoft.com/office/drawing/2014/main" id="{F405154E-A804-3ED1-D799-30104AB0B15B}"/>
              </a:ext>
            </a:extLst>
          </p:cNvPr>
          <p:cNvPicPr>
            <a:picLocks noChangeAspect="1"/>
          </p:cNvPicPr>
          <p:nvPr/>
        </p:nvPicPr>
        <p:blipFill>
          <a:blip r:embed="rId3"/>
          <a:stretch>
            <a:fillRect/>
          </a:stretch>
        </p:blipFill>
        <p:spPr>
          <a:xfrm>
            <a:off x="2479994" y="3060121"/>
            <a:ext cx="6715573" cy="2413010"/>
          </a:xfrm>
          <a:prstGeom prst="rect">
            <a:avLst/>
          </a:prstGeom>
        </p:spPr>
      </p:pic>
    </p:spTree>
    <p:extLst>
      <p:ext uri="{BB962C8B-B14F-4D97-AF65-F5344CB8AC3E}">
        <p14:creationId xmlns:p14="http://schemas.microsoft.com/office/powerpoint/2010/main" val="30218424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26849-5D98-1DCA-CAC2-0FC91ADE11E7}"/>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A10EF09F-15FE-CB55-8063-A11F48B4A3B6}"/>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1750D8E0-6356-0611-F394-BE068DC7FF47}"/>
              </a:ext>
            </a:extLst>
          </p:cNvPr>
          <p:cNvPicPr>
            <a:picLocks noChangeAspect="1"/>
          </p:cNvPicPr>
          <p:nvPr/>
        </p:nvPicPr>
        <p:blipFill>
          <a:blip r:embed="rId2"/>
          <a:stretch>
            <a:fillRect/>
          </a:stretch>
        </p:blipFill>
        <p:spPr>
          <a:xfrm>
            <a:off x="3102965" y="880417"/>
            <a:ext cx="6379518" cy="4720106"/>
          </a:xfrm>
          <a:prstGeom prst="rect">
            <a:avLst/>
          </a:prstGeom>
        </p:spPr>
      </p:pic>
    </p:spTree>
    <p:extLst>
      <p:ext uri="{BB962C8B-B14F-4D97-AF65-F5344CB8AC3E}">
        <p14:creationId xmlns:p14="http://schemas.microsoft.com/office/powerpoint/2010/main" val="1621143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2A30-B8EF-EF90-391E-139C464BDFFB}"/>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72959B5F-D280-0A81-0328-A47E5F3A9916}"/>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CCA815F3-BD84-AE6C-DE57-88740F093FC0}"/>
              </a:ext>
            </a:extLst>
          </p:cNvPr>
          <p:cNvPicPr>
            <a:picLocks noChangeAspect="1"/>
          </p:cNvPicPr>
          <p:nvPr/>
        </p:nvPicPr>
        <p:blipFill>
          <a:blip r:embed="rId2"/>
          <a:stretch>
            <a:fillRect/>
          </a:stretch>
        </p:blipFill>
        <p:spPr>
          <a:xfrm>
            <a:off x="3013024" y="219699"/>
            <a:ext cx="7086434" cy="6418602"/>
          </a:xfrm>
          <a:prstGeom prst="rect">
            <a:avLst/>
          </a:prstGeom>
        </p:spPr>
      </p:pic>
    </p:spTree>
    <p:extLst>
      <p:ext uri="{BB962C8B-B14F-4D97-AF65-F5344CB8AC3E}">
        <p14:creationId xmlns:p14="http://schemas.microsoft.com/office/powerpoint/2010/main" val="22819657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AAD02-61C3-2AA8-E6DC-71B78797B4CC}"/>
              </a:ext>
            </a:extLst>
          </p:cNvPr>
          <p:cNvSpPr>
            <a:spLocks noGrp="1"/>
          </p:cNvSpPr>
          <p:nvPr>
            <p:ph type="title"/>
          </p:nvPr>
        </p:nvSpPr>
        <p:spPr>
          <a:xfrm>
            <a:off x="2895600" y="2893970"/>
            <a:ext cx="6400800" cy="768096"/>
          </a:xfrm>
        </p:spPr>
        <p:txBody>
          <a:bodyPr/>
          <a:lstStyle/>
          <a:p>
            <a:r>
              <a:rPr lang="en-US" sz="6600" dirty="0" err="1"/>
              <a:t>Laporan</a:t>
            </a:r>
            <a:r>
              <a:rPr lang="en-US" sz="6600" dirty="0"/>
              <a:t> </a:t>
            </a:r>
            <a:r>
              <a:rPr lang="en-US" sz="6600" dirty="0" err="1"/>
              <a:t>keuangan</a:t>
            </a:r>
            <a:endParaRPr lang="en-ID" sz="6600" dirty="0"/>
          </a:p>
        </p:txBody>
      </p:sp>
    </p:spTree>
    <p:extLst>
      <p:ext uri="{BB962C8B-B14F-4D97-AF65-F5344CB8AC3E}">
        <p14:creationId xmlns:p14="http://schemas.microsoft.com/office/powerpoint/2010/main" val="27806502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4224528" y="1564641"/>
            <a:ext cx="6766560" cy="4358640"/>
          </a:xfrm>
        </p:spPr>
        <p:txBody>
          <a:bodyPr/>
          <a:lstStyle/>
          <a:p>
            <a:pPr algn="just"/>
            <a:r>
              <a:rPr lang="en-US" sz="2000" dirty="0" err="1"/>
              <a:t>Berdasarkan</a:t>
            </a:r>
            <a:r>
              <a:rPr lang="en-US" sz="2000" dirty="0"/>
              <a:t> PSAK 1 </a:t>
            </a:r>
            <a:r>
              <a:rPr lang="en-US" sz="2000" dirty="0" err="1"/>
              <a:t>tahun</a:t>
            </a:r>
            <a:r>
              <a:rPr lang="en-US" sz="2000" dirty="0"/>
              <a:t> 2015 , </a:t>
            </a:r>
            <a:r>
              <a:rPr lang="en-US" sz="2000" dirty="0" err="1"/>
              <a:t>Laporan</a:t>
            </a:r>
            <a:r>
              <a:rPr lang="en-US" sz="2000" dirty="0"/>
              <a:t> </a:t>
            </a:r>
            <a:r>
              <a:rPr lang="en-US" sz="2000" dirty="0" err="1"/>
              <a:t>keuangan</a:t>
            </a:r>
            <a:r>
              <a:rPr lang="en-US" sz="2000" dirty="0"/>
              <a:t> </a:t>
            </a:r>
            <a:r>
              <a:rPr lang="en-US" sz="2000" dirty="0" err="1"/>
              <a:t>adalah</a:t>
            </a:r>
            <a:r>
              <a:rPr lang="en-US" sz="2000" dirty="0"/>
              <a:t> </a:t>
            </a:r>
            <a:r>
              <a:rPr lang="en-US" sz="2000" dirty="0" err="1"/>
              <a:t>suatu</a:t>
            </a:r>
            <a:r>
              <a:rPr lang="en-US" sz="2000" dirty="0"/>
              <a:t> </a:t>
            </a:r>
            <a:r>
              <a:rPr lang="en-US" sz="2000" dirty="0" err="1"/>
              <a:t>penyajian</a:t>
            </a:r>
            <a:r>
              <a:rPr lang="en-US" sz="2000" dirty="0"/>
              <a:t> </a:t>
            </a:r>
            <a:r>
              <a:rPr lang="en-US" sz="2000" dirty="0" err="1"/>
              <a:t>terstruktur</a:t>
            </a:r>
            <a:r>
              <a:rPr lang="en-US" sz="2000" dirty="0"/>
              <a:t> </a:t>
            </a:r>
            <a:r>
              <a:rPr lang="en-US" sz="2000" dirty="0" err="1"/>
              <a:t>dari</a:t>
            </a:r>
            <a:r>
              <a:rPr lang="en-US" sz="2000" dirty="0"/>
              <a:t> </a:t>
            </a:r>
            <a:r>
              <a:rPr lang="en-US" sz="2000" dirty="0" err="1"/>
              <a:t>posisi</a:t>
            </a:r>
            <a:r>
              <a:rPr lang="en-US" sz="2000" dirty="0"/>
              <a:t> </a:t>
            </a:r>
            <a:r>
              <a:rPr lang="en-US" sz="2000" dirty="0" err="1"/>
              <a:t>keuangan</a:t>
            </a:r>
            <a:r>
              <a:rPr lang="en-US" sz="2000" dirty="0"/>
              <a:t> dan </a:t>
            </a:r>
            <a:r>
              <a:rPr lang="en-US" sz="2000" dirty="0" err="1"/>
              <a:t>kinerja</a:t>
            </a:r>
            <a:r>
              <a:rPr lang="en-US" sz="2000" dirty="0"/>
              <a:t> </a:t>
            </a:r>
            <a:r>
              <a:rPr lang="en-US" sz="2000" dirty="0" err="1"/>
              <a:t>keuangan</a:t>
            </a:r>
            <a:r>
              <a:rPr lang="en-US" sz="2000" dirty="0"/>
              <a:t> </a:t>
            </a:r>
            <a:r>
              <a:rPr lang="en-US" sz="2000" dirty="0" err="1"/>
              <a:t>suatu</a:t>
            </a:r>
            <a:r>
              <a:rPr lang="en-US" sz="2000" dirty="0"/>
              <a:t> </a:t>
            </a:r>
            <a:r>
              <a:rPr lang="en-US" sz="2000" dirty="0" err="1"/>
              <a:t>entitas</a:t>
            </a:r>
            <a:r>
              <a:rPr lang="en-US" sz="2000" dirty="0"/>
              <a:t>. </a:t>
            </a:r>
          </a:p>
          <a:p>
            <a:pPr algn="just"/>
            <a:endParaRPr lang="en-US" sz="2000" dirty="0"/>
          </a:p>
          <a:p>
            <a:pPr algn="just"/>
            <a:r>
              <a:rPr lang="en-US" sz="2000" dirty="0" err="1"/>
              <a:t>Tujuan</a:t>
            </a:r>
            <a:r>
              <a:rPr lang="en-US" sz="2000" dirty="0"/>
              <a:t>:</a:t>
            </a:r>
          </a:p>
          <a:p>
            <a:pPr marL="457200" indent="-457200" algn="just">
              <a:buFont typeface="+mj-lt"/>
              <a:buAutoNum type="arabicPeriod"/>
            </a:pPr>
            <a:r>
              <a:rPr lang="en-US" sz="2000" dirty="0" err="1"/>
              <a:t>memberikan</a:t>
            </a:r>
            <a:r>
              <a:rPr lang="en-US" sz="2000" dirty="0"/>
              <a:t> </a:t>
            </a:r>
            <a:r>
              <a:rPr lang="en-US" sz="2000" dirty="0" err="1"/>
              <a:t>informasi</a:t>
            </a:r>
            <a:r>
              <a:rPr lang="en-US" sz="2000" dirty="0"/>
              <a:t> </a:t>
            </a:r>
            <a:r>
              <a:rPr lang="en-US" sz="2000" dirty="0" err="1"/>
              <a:t>mengenai</a:t>
            </a:r>
            <a:r>
              <a:rPr lang="en-US" sz="2000" dirty="0"/>
              <a:t> </a:t>
            </a:r>
            <a:r>
              <a:rPr lang="en-US" sz="2000" dirty="0" err="1"/>
              <a:t>posisi</a:t>
            </a:r>
            <a:r>
              <a:rPr lang="en-US" sz="2000" dirty="0"/>
              <a:t> </a:t>
            </a:r>
            <a:r>
              <a:rPr lang="en-US" sz="2000" dirty="0" err="1"/>
              <a:t>keuangan</a:t>
            </a:r>
            <a:r>
              <a:rPr lang="en-US" sz="2000" dirty="0"/>
              <a:t>, </a:t>
            </a:r>
            <a:r>
              <a:rPr lang="en-US" sz="2000" dirty="0" err="1"/>
              <a:t>kinerja</a:t>
            </a:r>
            <a:r>
              <a:rPr lang="en-US" sz="2000" dirty="0"/>
              <a:t> </a:t>
            </a:r>
            <a:r>
              <a:rPr lang="en-US" sz="2000" dirty="0" err="1"/>
              <a:t>keuangan</a:t>
            </a:r>
            <a:r>
              <a:rPr lang="en-US" sz="2000" dirty="0"/>
              <a:t>, dan </a:t>
            </a:r>
            <a:r>
              <a:rPr lang="en-US" sz="2000" dirty="0" err="1"/>
              <a:t>arus</a:t>
            </a:r>
            <a:r>
              <a:rPr lang="en-US" sz="2000" dirty="0"/>
              <a:t> kas </a:t>
            </a:r>
            <a:r>
              <a:rPr lang="en-US" sz="2000" dirty="0" err="1"/>
              <a:t>entitas</a:t>
            </a:r>
            <a:endParaRPr lang="en-US" sz="2000" dirty="0"/>
          </a:p>
          <a:p>
            <a:pPr marL="457200" indent="-457200" algn="just">
              <a:buFont typeface="+mj-lt"/>
              <a:buAutoNum type="arabicPeriod"/>
            </a:pPr>
            <a:r>
              <a:rPr lang="en-US" sz="2000" dirty="0" err="1"/>
              <a:t>Menunjukkan</a:t>
            </a:r>
            <a:r>
              <a:rPr lang="en-US" sz="2000" dirty="0"/>
              <a:t> </a:t>
            </a:r>
            <a:r>
              <a:rPr lang="en-US" sz="2000" dirty="0" err="1"/>
              <a:t>hasil</a:t>
            </a:r>
            <a:r>
              <a:rPr lang="en-US" sz="2000" dirty="0"/>
              <a:t> </a:t>
            </a:r>
            <a:r>
              <a:rPr lang="en-US" sz="2000" dirty="0" err="1"/>
              <a:t>pertanggungjawaban</a:t>
            </a:r>
            <a:r>
              <a:rPr lang="en-US" sz="2000" dirty="0"/>
              <a:t> </a:t>
            </a:r>
            <a:r>
              <a:rPr lang="en-US" sz="2000" dirty="0" err="1"/>
              <a:t>manajemen</a:t>
            </a:r>
            <a:r>
              <a:rPr lang="en-US" sz="2000" dirty="0"/>
              <a:t> </a:t>
            </a:r>
            <a:r>
              <a:rPr lang="en-US" sz="2000" dirty="0" err="1"/>
              <a:t>atas</a:t>
            </a:r>
            <a:r>
              <a:rPr lang="en-US" sz="2000" dirty="0"/>
              <a:t> </a:t>
            </a:r>
            <a:r>
              <a:rPr lang="en-US" sz="2000" dirty="0" err="1"/>
              <a:t>penggunaan</a:t>
            </a:r>
            <a:r>
              <a:rPr lang="en-US" sz="2000" dirty="0"/>
              <a:t> </a:t>
            </a:r>
            <a:r>
              <a:rPr lang="en-US" sz="2000" dirty="0" err="1"/>
              <a:t>sumber</a:t>
            </a:r>
            <a:r>
              <a:rPr lang="en-US" sz="2000" dirty="0"/>
              <a:t> </a:t>
            </a:r>
            <a:r>
              <a:rPr lang="en-US" sz="2000" dirty="0" err="1"/>
              <a:t>daya</a:t>
            </a:r>
            <a:endParaRPr lang="en-US" sz="2000" dirty="0"/>
          </a:p>
          <a:p>
            <a:pPr algn="just"/>
            <a:r>
              <a:rPr lang="en-US" sz="2000" dirty="0"/>
              <a:t> </a:t>
            </a:r>
          </a:p>
          <a:p>
            <a:pPr algn="just"/>
            <a:endParaRPr lang="en-US" sz="2000" dirty="0"/>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37</a:t>
            </a:fld>
            <a:endParaRPr lang="en-US" dirty="0"/>
          </a:p>
        </p:txBody>
      </p:sp>
    </p:spTree>
    <p:extLst>
      <p:ext uri="{BB962C8B-B14F-4D97-AF65-F5344CB8AC3E}">
        <p14:creationId xmlns:p14="http://schemas.microsoft.com/office/powerpoint/2010/main" val="9796220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71CEB5-0F43-BA22-C4E7-3A84E631DA11}"/>
              </a:ext>
            </a:extLst>
          </p:cNvPr>
          <p:cNvSpPr>
            <a:spLocks noGrp="1"/>
          </p:cNvSpPr>
          <p:nvPr>
            <p:ph type="title"/>
          </p:nvPr>
        </p:nvSpPr>
        <p:spPr/>
        <p:txBody>
          <a:bodyPr/>
          <a:lstStyle/>
          <a:p>
            <a:r>
              <a:rPr lang="en-US" dirty="0"/>
              <a:t>PENDEKATAN PENCATATAN</a:t>
            </a:r>
          </a:p>
        </p:txBody>
      </p:sp>
      <p:sp>
        <p:nvSpPr>
          <p:cNvPr id="102" name="Slide Number Placeholder 101">
            <a:extLst>
              <a:ext uri="{FF2B5EF4-FFF2-40B4-BE49-F238E27FC236}">
                <a16:creationId xmlns:a16="http://schemas.microsoft.com/office/drawing/2014/main" id="{51BDF1B8-4D26-9C08-3102-6224AA6A4D20}"/>
              </a:ext>
            </a:extLst>
          </p:cNvPr>
          <p:cNvSpPr>
            <a:spLocks noGrp="1"/>
          </p:cNvSpPr>
          <p:nvPr>
            <p:ph type="sldNum" sz="quarter" idx="12"/>
          </p:nvPr>
        </p:nvSpPr>
        <p:spPr/>
        <p:txBody>
          <a:bodyPr/>
          <a:lstStyle/>
          <a:p>
            <a:fld id="{48F63A3B-78C7-47BE-AE5E-E10140E04643}" type="slidenum">
              <a:rPr lang="en-US" smtClean="0"/>
              <a:pPr/>
              <a:t>38</a:t>
            </a:fld>
            <a:endParaRPr lang="en-US" dirty="0"/>
          </a:p>
        </p:txBody>
      </p:sp>
      <p:sp>
        <p:nvSpPr>
          <p:cNvPr id="2" name="Text Placeholder 1">
            <a:extLst>
              <a:ext uri="{FF2B5EF4-FFF2-40B4-BE49-F238E27FC236}">
                <a16:creationId xmlns:a16="http://schemas.microsoft.com/office/drawing/2014/main" id="{5FC63C25-FE2A-0C11-2CEA-A80AA78FC365}"/>
              </a:ext>
            </a:extLst>
          </p:cNvPr>
          <p:cNvSpPr>
            <a:spLocks noGrp="1"/>
          </p:cNvSpPr>
          <p:nvPr>
            <p:ph type="body" idx="1"/>
          </p:nvPr>
        </p:nvSpPr>
        <p:spPr>
          <a:xfrm>
            <a:off x="713231" y="2743200"/>
            <a:ext cx="4275863" cy="3557016"/>
          </a:xfrm>
        </p:spPr>
        <p:txBody>
          <a:bodyPr/>
          <a:lstStyle/>
          <a:p>
            <a:r>
              <a:rPr lang="en-US" dirty="0"/>
              <a:t>CASH BASIS</a:t>
            </a:r>
          </a:p>
        </p:txBody>
      </p:sp>
      <p:pic>
        <p:nvPicPr>
          <p:cNvPr id="72" name="Picture Placeholder 71" descr="abacus icon">
            <a:extLst>
              <a:ext uri="{FF2B5EF4-FFF2-40B4-BE49-F238E27FC236}">
                <a16:creationId xmlns:a16="http://schemas.microsoft.com/office/drawing/2014/main" id="{FD5AE93E-9743-FD3B-C935-638BF9D159CC}"/>
              </a:ext>
            </a:extLst>
          </p:cNvPr>
          <p:cNvPicPr>
            <a:picLocks noGrp="1" noChangeAspect="1"/>
          </p:cNvPicPr>
          <p:nvPr>
            <p:ph type="pic" sz="quarter" idx="23"/>
          </p:nvPr>
        </p:nvPicPr>
        <p:blipFill rotWithShape="1">
          <a:blip r:embed="rId2"/>
          <a:srcRect/>
          <a:stretch/>
        </p:blipFill>
        <p:spPr>
          <a:xfrm>
            <a:off x="2384818" y="2276856"/>
            <a:ext cx="932688" cy="932688"/>
          </a:xfrm>
        </p:spPr>
      </p:pic>
      <p:sp>
        <p:nvSpPr>
          <p:cNvPr id="6" name="Text Placeholder 5">
            <a:extLst>
              <a:ext uri="{FF2B5EF4-FFF2-40B4-BE49-F238E27FC236}">
                <a16:creationId xmlns:a16="http://schemas.microsoft.com/office/drawing/2014/main" id="{5AD6749A-51D8-599C-7C31-9922CF228D32}"/>
              </a:ext>
            </a:extLst>
          </p:cNvPr>
          <p:cNvSpPr>
            <a:spLocks noGrp="1"/>
          </p:cNvSpPr>
          <p:nvPr>
            <p:ph type="body" sz="quarter" idx="18"/>
          </p:nvPr>
        </p:nvSpPr>
        <p:spPr>
          <a:xfrm>
            <a:off x="992124" y="3950208"/>
            <a:ext cx="3836550" cy="2206752"/>
          </a:xfrm>
        </p:spPr>
        <p:txBody>
          <a:bodyPr/>
          <a:lstStyle/>
          <a:p>
            <a:pPr marL="0" indent="0" algn="just">
              <a:buNone/>
            </a:pPr>
            <a:r>
              <a:rPr lang="en-ID" sz="1800" b="0" i="1" u="none" strike="noStrike" baseline="0" dirty="0" err="1">
                <a:solidFill>
                  <a:srgbClr val="3365FF"/>
                </a:solidFill>
                <a:latin typeface="Arial,Italic"/>
              </a:rPr>
              <a:t>suatu</a:t>
            </a:r>
            <a:r>
              <a:rPr lang="en-ID" sz="1800" b="0" i="1" u="none" strike="noStrike" baseline="0" dirty="0">
                <a:solidFill>
                  <a:srgbClr val="3365FF"/>
                </a:solidFill>
                <a:latin typeface="Arial,Italic"/>
              </a:rPr>
              <a:t> </a:t>
            </a:r>
            <a:r>
              <a:rPr lang="en-ID" sz="1800" b="0" i="1" u="none" strike="noStrike" baseline="0" dirty="0" err="1">
                <a:solidFill>
                  <a:srgbClr val="3365FF"/>
                </a:solidFill>
                <a:latin typeface="Arial,Italic"/>
              </a:rPr>
              <a:t>sistem</a:t>
            </a:r>
            <a:r>
              <a:rPr lang="en-ID" sz="1800" i="1" dirty="0">
                <a:solidFill>
                  <a:srgbClr val="3365FF"/>
                </a:solidFill>
                <a:latin typeface="Arial,Italic"/>
              </a:rPr>
              <a:t> </a:t>
            </a:r>
            <a:r>
              <a:rPr lang="en-ID" sz="1800" b="0" i="1" u="none" strike="noStrike" baseline="0" dirty="0">
                <a:solidFill>
                  <a:srgbClr val="3365FF"/>
                </a:solidFill>
                <a:latin typeface="Arial,Italic"/>
              </a:rPr>
              <a:t>yang </a:t>
            </a:r>
            <a:r>
              <a:rPr lang="en-ID" sz="1800" b="0" i="1" u="none" strike="noStrike" baseline="0" dirty="0" err="1">
                <a:solidFill>
                  <a:srgbClr val="3365FF"/>
                </a:solidFill>
                <a:latin typeface="Arial,Italic"/>
              </a:rPr>
              <a:t>mengakui</a:t>
            </a:r>
            <a:r>
              <a:rPr lang="en-ID" sz="1800" b="0" i="1" u="none" strike="noStrike" baseline="0" dirty="0">
                <a:solidFill>
                  <a:srgbClr val="3365FF"/>
                </a:solidFill>
                <a:latin typeface="Arial,Italic"/>
              </a:rPr>
              <a:t> </a:t>
            </a:r>
            <a:r>
              <a:rPr lang="en-ID" sz="1800" b="0" i="1" u="none" strike="noStrike" baseline="0" dirty="0" err="1">
                <a:solidFill>
                  <a:srgbClr val="3365FF"/>
                </a:solidFill>
                <a:latin typeface="Arial,Italic"/>
              </a:rPr>
              <a:t>penghasilan</a:t>
            </a:r>
            <a:r>
              <a:rPr lang="en-ID" sz="1800" b="0" i="1" u="none" strike="noStrike" baseline="0" dirty="0">
                <a:solidFill>
                  <a:srgbClr val="3365FF"/>
                </a:solidFill>
                <a:latin typeface="Arial,Italic"/>
              </a:rPr>
              <a:t> </a:t>
            </a:r>
            <a:r>
              <a:rPr lang="en-ID" sz="1800" b="0" i="1" u="none" strike="noStrike" baseline="0" dirty="0" err="1">
                <a:solidFill>
                  <a:srgbClr val="3365FF"/>
                </a:solidFill>
                <a:latin typeface="Arial,Italic"/>
              </a:rPr>
              <a:t>atau</a:t>
            </a:r>
            <a:r>
              <a:rPr lang="en-ID" sz="1800" b="0" i="1" u="none" strike="noStrike" baseline="0" dirty="0">
                <a:solidFill>
                  <a:srgbClr val="3365FF"/>
                </a:solidFill>
                <a:latin typeface="Arial,Italic"/>
              </a:rPr>
              <a:t> </a:t>
            </a:r>
            <a:r>
              <a:rPr lang="en-ID" sz="1800" b="0" i="1" u="none" strike="noStrike" baseline="0" dirty="0" err="1">
                <a:solidFill>
                  <a:srgbClr val="3365FF"/>
                </a:solidFill>
                <a:latin typeface="Arial,Italic"/>
              </a:rPr>
              <a:t>beban</a:t>
            </a:r>
            <a:r>
              <a:rPr lang="en-ID" sz="1800" i="1" dirty="0">
                <a:solidFill>
                  <a:srgbClr val="3365FF"/>
                </a:solidFill>
                <a:latin typeface="Arial,Italic"/>
              </a:rPr>
              <a:t> </a:t>
            </a:r>
            <a:r>
              <a:rPr lang="en-ID" sz="1800" b="0" i="1" u="none" strike="noStrike" baseline="0" dirty="0" err="1">
                <a:solidFill>
                  <a:srgbClr val="3365FF"/>
                </a:solidFill>
                <a:latin typeface="Arial,Italic"/>
              </a:rPr>
              <a:t>saat</a:t>
            </a:r>
            <a:r>
              <a:rPr lang="en-ID" sz="1800" b="0" i="1" u="none" strike="noStrike" baseline="0" dirty="0">
                <a:solidFill>
                  <a:srgbClr val="3365FF"/>
                </a:solidFill>
                <a:latin typeface="Arial,Italic"/>
              </a:rPr>
              <a:t> kas </a:t>
            </a:r>
            <a:r>
              <a:rPr lang="en-ID" sz="1800" b="0" i="1" u="none" strike="noStrike" baseline="0" dirty="0" err="1">
                <a:solidFill>
                  <a:srgbClr val="3365FF"/>
                </a:solidFill>
                <a:latin typeface="Arial,Italic"/>
              </a:rPr>
              <a:t>diterima</a:t>
            </a:r>
            <a:r>
              <a:rPr lang="en-ID" sz="1800" b="0" i="1" u="none" strike="noStrike" baseline="0" dirty="0">
                <a:solidFill>
                  <a:srgbClr val="3365FF"/>
                </a:solidFill>
                <a:latin typeface="Arial,Italic"/>
              </a:rPr>
              <a:t> </a:t>
            </a:r>
            <a:r>
              <a:rPr lang="en-ID" sz="1800" b="0" i="1" u="none" strike="noStrike" baseline="0" dirty="0" err="1">
                <a:solidFill>
                  <a:srgbClr val="3365FF"/>
                </a:solidFill>
                <a:latin typeface="Arial,Italic"/>
              </a:rPr>
              <a:t>atau</a:t>
            </a:r>
            <a:r>
              <a:rPr lang="en-ID" sz="1800" b="0" i="1" u="none" strike="noStrike" baseline="0" dirty="0">
                <a:solidFill>
                  <a:srgbClr val="3365FF"/>
                </a:solidFill>
                <a:latin typeface="Arial,Italic"/>
              </a:rPr>
              <a:t> </a:t>
            </a:r>
            <a:r>
              <a:rPr lang="en-ID" sz="1800" b="0" i="1" u="none" strike="noStrike" baseline="0" dirty="0" err="1">
                <a:solidFill>
                  <a:srgbClr val="3365FF"/>
                </a:solidFill>
                <a:latin typeface="Arial,Italic"/>
              </a:rPr>
              <a:t>dikeluarkan</a:t>
            </a:r>
            <a:endParaRPr lang="en-US" dirty="0"/>
          </a:p>
        </p:txBody>
      </p:sp>
      <p:sp>
        <p:nvSpPr>
          <p:cNvPr id="4" name="Text Placeholder 3">
            <a:extLst>
              <a:ext uri="{FF2B5EF4-FFF2-40B4-BE49-F238E27FC236}">
                <a16:creationId xmlns:a16="http://schemas.microsoft.com/office/drawing/2014/main" id="{03745CA7-A767-9133-8871-800B16D5D722}"/>
              </a:ext>
            </a:extLst>
          </p:cNvPr>
          <p:cNvSpPr>
            <a:spLocks noGrp="1"/>
          </p:cNvSpPr>
          <p:nvPr>
            <p:ph type="body" sz="quarter" idx="17"/>
          </p:nvPr>
        </p:nvSpPr>
        <p:spPr>
          <a:xfrm>
            <a:off x="6660681" y="2743200"/>
            <a:ext cx="4760175" cy="3557016"/>
          </a:xfrm>
        </p:spPr>
        <p:txBody>
          <a:bodyPr/>
          <a:lstStyle/>
          <a:p>
            <a:r>
              <a:rPr lang="en-US" altLang="zh-CN" dirty="0"/>
              <a:t>ACCRUAL BASIS</a:t>
            </a:r>
            <a:endParaRPr lang="en-US" dirty="0"/>
          </a:p>
        </p:txBody>
      </p:sp>
      <p:pic>
        <p:nvPicPr>
          <p:cNvPr id="80" name="Picture Placeholder 79" descr="chain link icon">
            <a:extLst>
              <a:ext uri="{FF2B5EF4-FFF2-40B4-BE49-F238E27FC236}">
                <a16:creationId xmlns:a16="http://schemas.microsoft.com/office/drawing/2014/main" id="{FCC17566-BE36-5CE0-25C6-8AC132D1479D}"/>
              </a:ext>
            </a:extLst>
          </p:cNvPr>
          <p:cNvPicPr>
            <a:picLocks noGrp="1" noChangeAspect="1"/>
          </p:cNvPicPr>
          <p:nvPr>
            <p:ph type="pic" sz="quarter" idx="24"/>
          </p:nvPr>
        </p:nvPicPr>
        <p:blipFill rotWithShape="1">
          <a:blip r:embed="rId3"/>
          <a:srcRect t="85" b="85"/>
          <a:stretch/>
        </p:blipFill>
        <p:spPr>
          <a:xfrm>
            <a:off x="8574424" y="2104403"/>
            <a:ext cx="932688" cy="932688"/>
          </a:xfrm>
        </p:spPr>
      </p:pic>
      <p:sp>
        <p:nvSpPr>
          <p:cNvPr id="8" name="Text Placeholder 7">
            <a:extLst>
              <a:ext uri="{FF2B5EF4-FFF2-40B4-BE49-F238E27FC236}">
                <a16:creationId xmlns:a16="http://schemas.microsoft.com/office/drawing/2014/main" id="{7063C991-877C-CD1D-A03D-547E04121FE0}"/>
              </a:ext>
            </a:extLst>
          </p:cNvPr>
          <p:cNvSpPr>
            <a:spLocks noGrp="1"/>
          </p:cNvSpPr>
          <p:nvPr>
            <p:ph type="body" sz="quarter" idx="22"/>
          </p:nvPr>
        </p:nvSpPr>
        <p:spPr>
          <a:xfrm>
            <a:off x="6801853" y="3950208"/>
            <a:ext cx="4619003" cy="2206752"/>
          </a:xfrm>
        </p:spPr>
        <p:txBody>
          <a:bodyPr/>
          <a:lstStyle/>
          <a:p>
            <a:pPr marL="0" indent="0" algn="just">
              <a:buNone/>
            </a:pPr>
            <a:r>
              <a:rPr lang="en-US" sz="1800" i="1" dirty="0" err="1">
                <a:solidFill>
                  <a:srgbClr val="3365FF"/>
                </a:solidFill>
                <a:latin typeface="Arial,Italic"/>
              </a:rPr>
              <a:t>suatu</a:t>
            </a:r>
            <a:r>
              <a:rPr lang="en-US" sz="1800" i="1" dirty="0">
                <a:solidFill>
                  <a:srgbClr val="3365FF"/>
                </a:solidFill>
                <a:latin typeface="Arial,Italic"/>
              </a:rPr>
              <a:t> </a:t>
            </a:r>
            <a:r>
              <a:rPr lang="en-US" sz="1800" i="1" dirty="0" err="1">
                <a:solidFill>
                  <a:srgbClr val="3365FF"/>
                </a:solidFill>
                <a:latin typeface="Arial,Italic"/>
              </a:rPr>
              <a:t>sistem</a:t>
            </a:r>
            <a:r>
              <a:rPr lang="en-US" sz="1800" i="1" dirty="0">
                <a:solidFill>
                  <a:srgbClr val="3365FF"/>
                </a:solidFill>
                <a:latin typeface="Arial,Italic"/>
              </a:rPr>
              <a:t> yang </a:t>
            </a:r>
            <a:r>
              <a:rPr lang="en-US" sz="1800" i="1" dirty="0" err="1">
                <a:solidFill>
                  <a:srgbClr val="3365FF"/>
                </a:solidFill>
                <a:latin typeface="Arial,Italic"/>
              </a:rPr>
              <a:t>mengakui</a:t>
            </a:r>
            <a:r>
              <a:rPr lang="en-US" sz="1800" i="1" dirty="0">
                <a:solidFill>
                  <a:srgbClr val="3365FF"/>
                </a:solidFill>
                <a:latin typeface="Arial,Italic"/>
              </a:rPr>
              <a:t> </a:t>
            </a:r>
            <a:r>
              <a:rPr lang="en-US" sz="1800" i="1" dirty="0" err="1">
                <a:solidFill>
                  <a:srgbClr val="3365FF"/>
                </a:solidFill>
                <a:latin typeface="Arial,Italic"/>
              </a:rPr>
              <a:t>pendapatan</a:t>
            </a:r>
            <a:r>
              <a:rPr lang="en-US" sz="1800" i="1" dirty="0">
                <a:solidFill>
                  <a:srgbClr val="3365FF"/>
                </a:solidFill>
                <a:latin typeface="Arial,Italic"/>
              </a:rPr>
              <a:t> pada </a:t>
            </a:r>
            <a:r>
              <a:rPr lang="en-US" sz="1800" i="1" dirty="0" err="1">
                <a:solidFill>
                  <a:srgbClr val="3365FF"/>
                </a:solidFill>
                <a:latin typeface="Arial,Italic"/>
              </a:rPr>
              <a:t>saat</a:t>
            </a:r>
            <a:r>
              <a:rPr lang="en-US" sz="1800" i="1" dirty="0">
                <a:solidFill>
                  <a:srgbClr val="3365FF"/>
                </a:solidFill>
                <a:latin typeface="Arial,Italic"/>
              </a:rPr>
              <a:t> </a:t>
            </a:r>
            <a:r>
              <a:rPr lang="en-US" sz="1800" i="1" dirty="0" err="1">
                <a:solidFill>
                  <a:srgbClr val="3365FF"/>
                </a:solidFill>
                <a:latin typeface="Arial,Italic"/>
              </a:rPr>
              <a:t>terjadinya</a:t>
            </a:r>
            <a:r>
              <a:rPr lang="en-US" sz="1800" i="1" dirty="0">
                <a:solidFill>
                  <a:srgbClr val="3365FF"/>
                </a:solidFill>
                <a:latin typeface="Arial,Italic"/>
              </a:rPr>
              <a:t> </a:t>
            </a:r>
            <a:r>
              <a:rPr lang="en-US" sz="1800" i="1" dirty="0" err="1">
                <a:solidFill>
                  <a:srgbClr val="3365FF"/>
                </a:solidFill>
                <a:latin typeface="Arial,Italic"/>
              </a:rPr>
              <a:t>transaksi</a:t>
            </a:r>
            <a:r>
              <a:rPr lang="en-US" sz="1800" i="1" dirty="0">
                <a:solidFill>
                  <a:srgbClr val="3365FF"/>
                </a:solidFill>
                <a:latin typeface="Arial,Italic"/>
              </a:rPr>
              <a:t>, </a:t>
            </a:r>
            <a:r>
              <a:rPr lang="en-US" sz="1800" i="1" dirty="0" err="1">
                <a:solidFill>
                  <a:srgbClr val="3365FF"/>
                </a:solidFill>
                <a:latin typeface="Arial,Italic"/>
              </a:rPr>
              <a:t>walaupun</a:t>
            </a:r>
            <a:r>
              <a:rPr lang="en-US" sz="1800" i="1" dirty="0">
                <a:solidFill>
                  <a:srgbClr val="3365FF"/>
                </a:solidFill>
                <a:latin typeface="Arial,Italic"/>
              </a:rPr>
              <a:t> </a:t>
            </a:r>
            <a:r>
              <a:rPr lang="en-US" sz="1800" i="1" dirty="0" err="1">
                <a:solidFill>
                  <a:srgbClr val="3365FF"/>
                </a:solidFill>
                <a:latin typeface="Arial,Italic"/>
              </a:rPr>
              <a:t>sudah</a:t>
            </a:r>
            <a:r>
              <a:rPr lang="en-US" sz="1800" i="1" dirty="0">
                <a:solidFill>
                  <a:srgbClr val="3365FF"/>
                </a:solidFill>
                <a:latin typeface="Arial,Italic"/>
              </a:rPr>
              <a:t> </a:t>
            </a:r>
            <a:r>
              <a:rPr lang="en-US" sz="1800" i="1" dirty="0" err="1">
                <a:solidFill>
                  <a:srgbClr val="3365FF"/>
                </a:solidFill>
                <a:latin typeface="Arial,Italic"/>
              </a:rPr>
              <a:t>atau</a:t>
            </a:r>
            <a:r>
              <a:rPr lang="en-US" sz="1800" i="1" dirty="0">
                <a:solidFill>
                  <a:srgbClr val="3365FF"/>
                </a:solidFill>
                <a:latin typeface="Arial,Italic"/>
              </a:rPr>
              <a:t> </a:t>
            </a:r>
            <a:r>
              <a:rPr lang="en-US" sz="1800" i="1" dirty="0" err="1">
                <a:solidFill>
                  <a:srgbClr val="3365FF"/>
                </a:solidFill>
                <a:latin typeface="Arial,Italic"/>
              </a:rPr>
              <a:t>belum</a:t>
            </a:r>
            <a:r>
              <a:rPr lang="en-US" sz="1800" i="1" dirty="0">
                <a:solidFill>
                  <a:srgbClr val="3365FF"/>
                </a:solidFill>
                <a:latin typeface="Arial,Italic"/>
              </a:rPr>
              <a:t> </a:t>
            </a:r>
            <a:r>
              <a:rPr lang="en-US" sz="1800" i="1" dirty="0" err="1">
                <a:solidFill>
                  <a:srgbClr val="3365FF"/>
                </a:solidFill>
                <a:latin typeface="Arial,Italic"/>
              </a:rPr>
              <a:t>menerima</a:t>
            </a:r>
            <a:r>
              <a:rPr lang="en-US" sz="1800" i="1" dirty="0">
                <a:solidFill>
                  <a:srgbClr val="3365FF"/>
                </a:solidFill>
                <a:latin typeface="Arial,Italic"/>
              </a:rPr>
              <a:t> uang </a:t>
            </a:r>
            <a:r>
              <a:rPr lang="en-US" sz="1800" i="1" dirty="0" err="1">
                <a:solidFill>
                  <a:srgbClr val="3365FF"/>
                </a:solidFill>
                <a:latin typeface="Arial,Italic"/>
              </a:rPr>
              <a:t>tunai</a:t>
            </a:r>
            <a:r>
              <a:rPr lang="en-US" sz="1800" i="1" dirty="0">
                <a:solidFill>
                  <a:srgbClr val="3365FF"/>
                </a:solidFill>
                <a:latin typeface="Arial,Italic"/>
              </a:rPr>
              <a:t> dan </a:t>
            </a:r>
            <a:r>
              <a:rPr lang="en-US" sz="1800" i="1" dirty="0" err="1">
                <a:solidFill>
                  <a:srgbClr val="3365FF"/>
                </a:solidFill>
                <a:latin typeface="Arial,Italic"/>
              </a:rPr>
              <a:t>mengakui</a:t>
            </a:r>
            <a:r>
              <a:rPr lang="en-US" sz="1800" i="1" dirty="0">
                <a:solidFill>
                  <a:srgbClr val="3365FF"/>
                </a:solidFill>
                <a:latin typeface="Arial,Italic"/>
              </a:rPr>
              <a:t> </a:t>
            </a:r>
            <a:r>
              <a:rPr lang="en-US" sz="1800" i="1" dirty="0" err="1">
                <a:solidFill>
                  <a:srgbClr val="3365FF"/>
                </a:solidFill>
                <a:latin typeface="Arial,Italic"/>
              </a:rPr>
              <a:t>beban</a:t>
            </a:r>
            <a:r>
              <a:rPr lang="en-US" sz="1800" i="1" dirty="0">
                <a:solidFill>
                  <a:srgbClr val="3365FF"/>
                </a:solidFill>
                <a:latin typeface="Arial,Italic"/>
              </a:rPr>
              <a:t> pada </a:t>
            </a:r>
            <a:r>
              <a:rPr lang="en-US" sz="1800" i="1" dirty="0" err="1">
                <a:solidFill>
                  <a:srgbClr val="3365FF"/>
                </a:solidFill>
                <a:latin typeface="Arial,Italic"/>
              </a:rPr>
              <a:t>saat</a:t>
            </a:r>
            <a:r>
              <a:rPr lang="en-US" sz="1800" i="1" dirty="0">
                <a:solidFill>
                  <a:srgbClr val="3365FF"/>
                </a:solidFill>
                <a:latin typeface="Arial,Italic"/>
              </a:rPr>
              <a:t> </a:t>
            </a:r>
            <a:r>
              <a:rPr lang="en-US" sz="1800" i="1" dirty="0" err="1">
                <a:solidFill>
                  <a:srgbClr val="3365FF"/>
                </a:solidFill>
                <a:latin typeface="Arial,Italic"/>
              </a:rPr>
              <a:t>terjadinya</a:t>
            </a:r>
            <a:r>
              <a:rPr lang="en-US" sz="1800" i="1" dirty="0">
                <a:solidFill>
                  <a:srgbClr val="3365FF"/>
                </a:solidFill>
                <a:latin typeface="Arial,Italic"/>
              </a:rPr>
              <a:t> </a:t>
            </a:r>
            <a:r>
              <a:rPr lang="en-US" sz="1800" i="1" dirty="0" err="1">
                <a:solidFill>
                  <a:srgbClr val="3365FF"/>
                </a:solidFill>
                <a:latin typeface="Arial,Italic"/>
              </a:rPr>
              <a:t>transaksi</a:t>
            </a:r>
            <a:r>
              <a:rPr lang="en-US" sz="1800" i="1" dirty="0">
                <a:solidFill>
                  <a:srgbClr val="3365FF"/>
                </a:solidFill>
                <a:latin typeface="Arial,Italic"/>
              </a:rPr>
              <a:t> </a:t>
            </a:r>
            <a:r>
              <a:rPr lang="en-US" sz="1800" i="1" dirty="0" err="1">
                <a:solidFill>
                  <a:srgbClr val="3365FF"/>
                </a:solidFill>
                <a:latin typeface="Arial,Italic"/>
              </a:rPr>
              <a:t>walaupun</a:t>
            </a:r>
            <a:r>
              <a:rPr lang="en-US" sz="1800" i="1" dirty="0">
                <a:solidFill>
                  <a:srgbClr val="3365FF"/>
                </a:solidFill>
                <a:latin typeface="Arial,Italic"/>
              </a:rPr>
              <a:t> </a:t>
            </a:r>
            <a:r>
              <a:rPr lang="en-US" sz="1800" i="1" dirty="0" err="1">
                <a:solidFill>
                  <a:srgbClr val="3365FF"/>
                </a:solidFill>
                <a:latin typeface="Arial,Italic"/>
              </a:rPr>
              <a:t>sudah</a:t>
            </a:r>
            <a:r>
              <a:rPr lang="en-US" sz="1800" i="1" dirty="0">
                <a:solidFill>
                  <a:srgbClr val="3365FF"/>
                </a:solidFill>
                <a:latin typeface="Arial,Italic"/>
              </a:rPr>
              <a:t> </a:t>
            </a:r>
            <a:r>
              <a:rPr lang="en-US" sz="1800" i="1" dirty="0" err="1">
                <a:solidFill>
                  <a:srgbClr val="3365FF"/>
                </a:solidFill>
                <a:latin typeface="Arial,Italic"/>
              </a:rPr>
              <a:t>atau</a:t>
            </a:r>
            <a:r>
              <a:rPr lang="en-US" sz="1800" i="1" dirty="0">
                <a:solidFill>
                  <a:srgbClr val="3365FF"/>
                </a:solidFill>
                <a:latin typeface="Arial,Italic"/>
              </a:rPr>
              <a:t> </a:t>
            </a:r>
            <a:r>
              <a:rPr lang="en-US" sz="1800" i="1" dirty="0" err="1">
                <a:solidFill>
                  <a:srgbClr val="3365FF"/>
                </a:solidFill>
                <a:latin typeface="Arial,Italic"/>
              </a:rPr>
              <a:t>belum</a:t>
            </a:r>
            <a:r>
              <a:rPr lang="en-US" sz="1800" i="1" dirty="0">
                <a:solidFill>
                  <a:srgbClr val="3365FF"/>
                </a:solidFill>
                <a:latin typeface="Arial,Italic"/>
              </a:rPr>
              <a:t> </a:t>
            </a:r>
            <a:r>
              <a:rPr lang="en-US" sz="1800" i="1" dirty="0" err="1">
                <a:solidFill>
                  <a:srgbClr val="3365FF"/>
                </a:solidFill>
                <a:latin typeface="Arial,Italic"/>
              </a:rPr>
              <a:t>mengeluarkan</a:t>
            </a:r>
            <a:r>
              <a:rPr lang="en-US" sz="1800" i="1" dirty="0">
                <a:solidFill>
                  <a:srgbClr val="3365FF"/>
                </a:solidFill>
                <a:latin typeface="Arial,Italic"/>
              </a:rPr>
              <a:t> uang </a:t>
            </a:r>
            <a:r>
              <a:rPr lang="en-US" sz="1800" i="1" dirty="0" err="1">
                <a:solidFill>
                  <a:srgbClr val="3365FF"/>
                </a:solidFill>
                <a:latin typeface="Arial,Italic"/>
              </a:rPr>
              <a:t>tunai</a:t>
            </a:r>
            <a:r>
              <a:rPr lang="en-US" sz="1800" i="1" dirty="0">
                <a:solidFill>
                  <a:srgbClr val="3365FF"/>
                </a:solidFill>
                <a:latin typeface="Arial,Italic"/>
              </a:rPr>
              <a:t>.</a:t>
            </a:r>
          </a:p>
          <a:p>
            <a:pPr algn="just"/>
            <a:endParaRPr lang="en-US" dirty="0"/>
          </a:p>
        </p:txBody>
      </p:sp>
    </p:spTree>
    <p:extLst>
      <p:ext uri="{BB962C8B-B14F-4D97-AF65-F5344CB8AC3E}">
        <p14:creationId xmlns:p14="http://schemas.microsoft.com/office/powerpoint/2010/main" val="1386900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0A5BFC-C134-C072-C14D-9E51A94C8E7E}"/>
              </a:ext>
            </a:extLst>
          </p:cNvPr>
          <p:cNvSpPr>
            <a:spLocks noGrp="1"/>
          </p:cNvSpPr>
          <p:nvPr>
            <p:ph type="title"/>
          </p:nvPr>
        </p:nvSpPr>
        <p:spPr>
          <a:xfrm>
            <a:off x="731058" y="522854"/>
            <a:ext cx="10671048" cy="1018288"/>
          </a:xfrm>
        </p:spPr>
        <p:txBody>
          <a:bodyPr/>
          <a:lstStyle/>
          <a:p>
            <a:r>
              <a:rPr lang="en-US" sz="4000" dirty="0"/>
              <a:t>JENIS</a:t>
            </a:r>
            <a:br>
              <a:rPr lang="en-US" sz="4000" dirty="0"/>
            </a:br>
            <a:r>
              <a:rPr lang="en-US" sz="4000" dirty="0"/>
              <a:t>LAPORAN KEUANGAN</a:t>
            </a:r>
          </a:p>
        </p:txBody>
      </p:sp>
      <p:sp>
        <p:nvSpPr>
          <p:cNvPr id="374" name="Slide Number Placeholder 373">
            <a:extLst>
              <a:ext uri="{FF2B5EF4-FFF2-40B4-BE49-F238E27FC236}">
                <a16:creationId xmlns:a16="http://schemas.microsoft.com/office/drawing/2014/main" id="{049B2870-98EC-2977-8CE4-A7AA3009991A}"/>
              </a:ext>
            </a:extLst>
          </p:cNvPr>
          <p:cNvSpPr>
            <a:spLocks noGrp="1"/>
          </p:cNvSpPr>
          <p:nvPr>
            <p:ph type="sldNum" sz="quarter" idx="12"/>
          </p:nvPr>
        </p:nvSpPr>
        <p:spPr/>
        <p:txBody>
          <a:bodyPr/>
          <a:lstStyle/>
          <a:p>
            <a:fld id="{48F63A3B-78C7-47BE-AE5E-E10140E04643}" type="slidenum">
              <a:rPr lang="en-US" smtClean="0"/>
              <a:pPr/>
              <a:t>39</a:t>
            </a:fld>
            <a:endParaRPr lang="en-US" dirty="0"/>
          </a:p>
        </p:txBody>
      </p:sp>
      <p:sp>
        <p:nvSpPr>
          <p:cNvPr id="19" name="Text Placeholder 18">
            <a:extLst>
              <a:ext uri="{FF2B5EF4-FFF2-40B4-BE49-F238E27FC236}">
                <a16:creationId xmlns:a16="http://schemas.microsoft.com/office/drawing/2014/main" id="{270C77AB-7E91-84A6-3E62-DAB80E1E4481}"/>
              </a:ext>
            </a:extLst>
          </p:cNvPr>
          <p:cNvSpPr>
            <a:spLocks noGrp="1"/>
          </p:cNvSpPr>
          <p:nvPr>
            <p:ph type="body" idx="1"/>
          </p:nvPr>
        </p:nvSpPr>
        <p:spPr/>
        <p:txBody>
          <a:bodyPr/>
          <a:lstStyle/>
          <a:p>
            <a:pPr lvl="0"/>
            <a:r>
              <a:rPr lang="en-US" dirty="0" err="1"/>
              <a:t>Neraca</a:t>
            </a:r>
            <a:endParaRPr lang="en-US" dirty="0"/>
          </a:p>
          <a:p>
            <a:pPr lvl="0"/>
            <a:r>
              <a:rPr lang="en-US" sz="1400" dirty="0"/>
              <a:t>(balance sheet)</a:t>
            </a:r>
          </a:p>
        </p:txBody>
      </p:sp>
      <p:pic>
        <p:nvPicPr>
          <p:cNvPr id="292" name="Picture Placeholder 291" descr="checklist icon">
            <a:extLst>
              <a:ext uri="{FF2B5EF4-FFF2-40B4-BE49-F238E27FC236}">
                <a16:creationId xmlns:a16="http://schemas.microsoft.com/office/drawing/2014/main" id="{8167DB44-EDED-0971-E35D-A5FA1E47C215}"/>
              </a:ext>
            </a:extLst>
          </p:cNvPr>
          <p:cNvPicPr>
            <a:picLocks noGrp="1" noChangeAspect="1"/>
          </p:cNvPicPr>
          <p:nvPr>
            <p:ph type="pic" sz="quarter" idx="23"/>
          </p:nvPr>
        </p:nvPicPr>
        <p:blipFill rotWithShape="1">
          <a:blip r:embed="rId2"/>
          <a:srcRect/>
          <a:stretch/>
        </p:blipFill>
        <p:spPr/>
      </p:pic>
      <p:sp>
        <p:nvSpPr>
          <p:cNvPr id="24" name="Text Placeholder 23">
            <a:extLst>
              <a:ext uri="{FF2B5EF4-FFF2-40B4-BE49-F238E27FC236}">
                <a16:creationId xmlns:a16="http://schemas.microsoft.com/office/drawing/2014/main" id="{A3BF8E55-B2B9-104D-F277-08902534735D}"/>
              </a:ext>
            </a:extLst>
          </p:cNvPr>
          <p:cNvSpPr>
            <a:spLocks noGrp="1"/>
          </p:cNvSpPr>
          <p:nvPr>
            <p:ph type="body" sz="quarter" idx="18"/>
          </p:nvPr>
        </p:nvSpPr>
        <p:spPr/>
        <p:txBody>
          <a:bodyPr/>
          <a:lstStyle/>
          <a:p>
            <a:pPr lvl="0"/>
            <a:r>
              <a:rPr lang="en-US" dirty="0" err="1"/>
              <a:t>Menujukkan</a:t>
            </a:r>
            <a:r>
              <a:rPr lang="en-US" dirty="0"/>
              <a:t> </a:t>
            </a:r>
            <a:r>
              <a:rPr lang="en-US" dirty="0" err="1"/>
              <a:t>posisi</a:t>
            </a:r>
            <a:r>
              <a:rPr lang="en-US" dirty="0"/>
              <a:t> asset, </a:t>
            </a:r>
            <a:r>
              <a:rPr lang="en-US" dirty="0" err="1"/>
              <a:t>kewajiban</a:t>
            </a:r>
            <a:r>
              <a:rPr lang="en-US" dirty="0"/>
              <a:t>, dan </a:t>
            </a:r>
            <a:r>
              <a:rPr lang="en-US" dirty="0" err="1"/>
              <a:t>ekuitas</a:t>
            </a:r>
            <a:endParaRPr lang="en-US" dirty="0"/>
          </a:p>
        </p:txBody>
      </p:sp>
      <p:sp>
        <p:nvSpPr>
          <p:cNvPr id="20" name="Text Placeholder 19">
            <a:extLst>
              <a:ext uri="{FF2B5EF4-FFF2-40B4-BE49-F238E27FC236}">
                <a16:creationId xmlns:a16="http://schemas.microsoft.com/office/drawing/2014/main" id="{15DD9AC8-4A5F-70DB-AA68-C461059D81A1}"/>
              </a:ext>
            </a:extLst>
          </p:cNvPr>
          <p:cNvSpPr>
            <a:spLocks noGrp="1"/>
          </p:cNvSpPr>
          <p:nvPr>
            <p:ph type="body" sz="quarter" idx="3"/>
          </p:nvPr>
        </p:nvSpPr>
        <p:spPr>
          <a:xfrm>
            <a:off x="2900910" y="2342148"/>
            <a:ext cx="2011680" cy="2974710"/>
          </a:xfrm>
        </p:spPr>
        <p:txBody>
          <a:bodyPr/>
          <a:lstStyle/>
          <a:p>
            <a:r>
              <a:rPr lang="en-US" dirty="0"/>
              <a:t>LAPORAN LABA RUGI</a:t>
            </a:r>
          </a:p>
          <a:p>
            <a:r>
              <a:rPr lang="en-US" sz="1200" dirty="0"/>
              <a:t>(INCOME STATEMENT)</a:t>
            </a:r>
          </a:p>
        </p:txBody>
      </p:sp>
      <p:pic>
        <p:nvPicPr>
          <p:cNvPr id="290" name="Picture Placeholder 289" descr="person with loud speaker icon">
            <a:extLst>
              <a:ext uri="{FF2B5EF4-FFF2-40B4-BE49-F238E27FC236}">
                <a16:creationId xmlns:a16="http://schemas.microsoft.com/office/drawing/2014/main" id="{E63515FB-9439-CCAE-C220-6F0E5ECB75E8}"/>
              </a:ext>
            </a:extLst>
          </p:cNvPr>
          <p:cNvPicPr>
            <a:picLocks noGrp="1" noChangeAspect="1"/>
          </p:cNvPicPr>
          <p:nvPr>
            <p:ph type="pic" sz="quarter" idx="27"/>
          </p:nvPr>
        </p:nvPicPr>
        <p:blipFill rotWithShape="1">
          <a:blip r:embed="rId3"/>
          <a:srcRect t="113" b="113"/>
          <a:stretch/>
        </p:blipFill>
        <p:spPr/>
      </p:pic>
      <p:sp>
        <p:nvSpPr>
          <p:cNvPr id="25" name="Text Placeholder 24">
            <a:extLst>
              <a:ext uri="{FF2B5EF4-FFF2-40B4-BE49-F238E27FC236}">
                <a16:creationId xmlns:a16="http://schemas.microsoft.com/office/drawing/2014/main" id="{BCE9DA14-62AB-A857-6387-1F5D330B3F36}"/>
              </a:ext>
            </a:extLst>
          </p:cNvPr>
          <p:cNvSpPr>
            <a:spLocks noGrp="1"/>
          </p:cNvSpPr>
          <p:nvPr>
            <p:ph type="body" sz="quarter" idx="19"/>
          </p:nvPr>
        </p:nvSpPr>
        <p:spPr/>
        <p:txBody>
          <a:bodyPr/>
          <a:lstStyle/>
          <a:p>
            <a:pPr lvl="0"/>
            <a:r>
              <a:rPr lang="en-US" dirty="0" err="1"/>
              <a:t>Memberikan</a:t>
            </a:r>
            <a:r>
              <a:rPr lang="en-US" dirty="0"/>
              <a:t> </a:t>
            </a:r>
            <a:r>
              <a:rPr lang="en-US" dirty="0" err="1"/>
              <a:t>gambaran</a:t>
            </a:r>
            <a:r>
              <a:rPr lang="en-US" dirty="0"/>
              <a:t> </a:t>
            </a:r>
            <a:r>
              <a:rPr lang="en-US" dirty="0" err="1"/>
              <a:t>aktivitas</a:t>
            </a:r>
            <a:r>
              <a:rPr lang="en-US" dirty="0"/>
              <a:t> </a:t>
            </a:r>
            <a:r>
              <a:rPr lang="en-US" dirty="0" err="1"/>
              <a:t>perusahaan</a:t>
            </a:r>
            <a:endParaRPr lang="en-US" dirty="0"/>
          </a:p>
        </p:txBody>
      </p:sp>
      <p:sp>
        <p:nvSpPr>
          <p:cNvPr id="21" name="Text Placeholder 20">
            <a:extLst>
              <a:ext uri="{FF2B5EF4-FFF2-40B4-BE49-F238E27FC236}">
                <a16:creationId xmlns:a16="http://schemas.microsoft.com/office/drawing/2014/main" id="{A28A203B-0CF0-2AB0-5F54-07C8E3003918}"/>
              </a:ext>
            </a:extLst>
          </p:cNvPr>
          <p:cNvSpPr>
            <a:spLocks noGrp="1"/>
          </p:cNvSpPr>
          <p:nvPr>
            <p:ph type="body" sz="quarter" idx="13"/>
          </p:nvPr>
        </p:nvSpPr>
        <p:spPr>
          <a:xfrm>
            <a:off x="5116484" y="2148079"/>
            <a:ext cx="2011680" cy="2825173"/>
          </a:xfrm>
        </p:spPr>
        <p:txBody>
          <a:bodyPr/>
          <a:lstStyle/>
          <a:p>
            <a:r>
              <a:rPr lang="en-US" dirty="0" err="1"/>
              <a:t>Laporan</a:t>
            </a:r>
            <a:r>
              <a:rPr lang="en-US" dirty="0"/>
              <a:t> </a:t>
            </a:r>
            <a:r>
              <a:rPr lang="en-US" dirty="0" err="1"/>
              <a:t>perubahan</a:t>
            </a:r>
            <a:r>
              <a:rPr lang="en-US" dirty="0"/>
              <a:t> </a:t>
            </a:r>
            <a:r>
              <a:rPr lang="en-US" dirty="0" err="1"/>
              <a:t>ekuitas</a:t>
            </a:r>
            <a:endParaRPr lang="en-US" dirty="0"/>
          </a:p>
        </p:txBody>
      </p:sp>
      <p:pic>
        <p:nvPicPr>
          <p:cNvPr id="288" name="Picture Placeholder 287" descr="blueprint icon">
            <a:extLst>
              <a:ext uri="{FF2B5EF4-FFF2-40B4-BE49-F238E27FC236}">
                <a16:creationId xmlns:a16="http://schemas.microsoft.com/office/drawing/2014/main" id="{A5707D4A-497A-679A-3ACA-721E8D0E2699}"/>
              </a:ext>
            </a:extLst>
          </p:cNvPr>
          <p:cNvPicPr>
            <a:picLocks noGrp="1" noChangeAspect="1"/>
          </p:cNvPicPr>
          <p:nvPr>
            <p:ph type="pic" sz="quarter" idx="26"/>
          </p:nvPr>
        </p:nvPicPr>
        <p:blipFill rotWithShape="1">
          <a:blip r:embed="rId4"/>
          <a:srcRect t="431" b="431"/>
          <a:stretch/>
        </p:blipFill>
        <p:spPr>
          <a:xfrm>
            <a:off x="5742432" y="1990104"/>
            <a:ext cx="704088" cy="704088"/>
          </a:xfrm>
        </p:spPr>
      </p:pic>
      <p:sp>
        <p:nvSpPr>
          <p:cNvPr id="26" name="Text Placeholder 25">
            <a:extLst>
              <a:ext uri="{FF2B5EF4-FFF2-40B4-BE49-F238E27FC236}">
                <a16:creationId xmlns:a16="http://schemas.microsoft.com/office/drawing/2014/main" id="{710CB940-D45B-59F1-06E5-9CC94100EF05}"/>
              </a:ext>
            </a:extLst>
          </p:cNvPr>
          <p:cNvSpPr>
            <a:spLocks noGrp="1"/>
          </p:cNvSpPr>
          <p:nvPr>
            <p:ph type="body" sz="quarter" idx="20"/>
          </p:nvPr>
        </p:nvSpPr>
        <p:spPr/>
        <p:txBody>
          <a:bodyPr/>
          <a:lstStyle/>
          <a:p>
            <a:pPr lvl="0"/>
            <a:r>
              <a:rPr lang="en-US" dirty="0" err="1"/>
              <a:t>Menunjukkan</a:t>
            </a:r>
            <a:r>
              <a:rPr lang="en-US" dirty="0"/>
              <a:t> </a:t>
            </a:r>
            <a:r>
              <a:rPr lang="en-US" dirty="0" err="1"/>
              <a:t>perubahan</a:t>
            </a:r>
            <a:r>
              <a:rPr lang="en-US" dirty="0"/>
              <a:t> </a:t>
            </a:r>
            <a:r>
              <a:rPr lang="en-US" dirty="0" err="1"/>
              <a:t>ekuitas</a:t>
            </a:r>
            <a:r>
              <a:rPr lang="en-US" dirty="0"/>
              <a:t> </a:t>
            </a:r>
            <a:r>
              <a:rPr lang="en-US" dirty="0" err="1"/>
              <a:t>selama</a:t>
            </a:r>
            <a:r>
              <a:rPr lang="en-US" dirty="0"/>
              <a:t> </a:t>
            </a:r>
            <a:r>
              <a:rPr lang="en-US" dirty="0" err="1"/>
              <a:t>satu</a:t>
            </a:r>
            <a:r>
              <a:rPr lang="en-US" dirty="0"/>
              <a:t> </a:t>
            </a:r>
            <a:r>
              <a:rPr lang="en-US" dirty="0" err="1"/>
              <a:t>periode</a:t>
            </a:r>
            <a:endParaRPr lang="en-US" dirty="0"/>
          </a:p>
        </p:txBody>
      </p:sp>
      <p:sp>
        <p:nvSpPr>
          <p:cNvPr id="22" name="Text Placeholder 21">
            <a:extLst>
              <a:ext uri="{FF2B5EF4-FFF2-40B4-BE49-F238E27FC236}">
                <a16:creationId xmlns:a16="http://schemas.microsoft.com/office/drawing/2014/main" id="{05BC0115-F702-2E0A-61A4-4A6CE33FD775}"/>
              </a:ext>
            </a:extLst>
          </p:cNvPr>
          <p:cNvSpPr>
            <a:spLocks noGrp="1"/>
          </p:cNvSpPr>
          <p:nvPr>
            <p:ph type="body" sz="quarter" idx="15"/>
          </p:nvPr>
        </p:nvSpPr>
        <p:spPr>
          <a:xfrm>
            <a:off x="7342356" y="2363281"/>
            <a:ext cx="2011680" cy="2825173"/>
          </a:xfrm>
        </p:spPr>
        <p:txBody>
          <a:bodyPr/>
          <a:lstStyle/>
          <a:p>
            <a:r>
              <a:rPr lang="en-US" dirty="0"/>
              <a:t>LAPORAN ARUS KAS</a:t>
            </a:r>
          </a:p>
        </p:txBody>
      </p:sp>
      <p:pic>
        <p:nvPicPr>
          <p:cNvPr id="270" name="Picture Placeholder 269" descr="target icon">
            <a:extLst>
              <a:ext uri="{FF2B5EF4-FFF2-40B4-BE49-F238E27FC236}">
                <a16:creationId xmlns:a16="http://schemas.microsoft.com/office/drawing/2014/main" id="{DE7A4D25-3CA5-F92A-988A-F913C367D593}"/>
              </a:ext>
            </a:extLst>
          </p:cNvPr>
          <p:cNvPicPr>
            <a:picLocks noGrp="1" noChangeAspect="1"/>
          </p:cNvPicPr>
          <p:nvPr>
            <p:ph type="pic" sz="quarter" idx="25"/>
          </p:nvPr>
        </p:nvPicPr>
        <p:blipFill rotWithShape="1">
          <a:blip r:embed="rId5"/>
          <a:srcRect t="113" b="113"/>
          <a:stretch/>
        </p:blipFill>
        <p:spPr>
          <a:xfrm>
            <a:off x="7985853" y="2022102"/>
            <a:ext cx="704088" cy="704088"/>
          </a:xfrm>
        </p:spPr>
      </p:pic>
      <p:sp>
        <p:nvSpPr>
          <p:cNvPr id="27" name="Text Placeholder 26">
            <a:extLst>
              <a:ext uri="{FF2B5EF4-FFF2-40B4-BE49-F238E27FC236}">
                <a16:creationId xmlns:a16="http://schemas.microsoft.com/office/drawing/2014/main" id="{A0DA38E3-68A2-4FF9-022B-BA0DF832B1DB}"/>
              </a:ext>
            </a:extLst>
          </p:cNvPr>
          <p:cNvSpPr>
            <a:spLocks noGrp="1"/>
          </p:cNvSpPr>
          <p:nvPr>
            <p:ph type="body" sz="quarter" idx="21"/>
          </p:nvPr>
        </p:nvSpPr>
        <p:spPr>
          <a:xfrm>
            <a:off x="7359355" y="3775867"/>
            <a:ext cx="1920240" cy="1371600"/>
          </a:xfrm>
        </p:spPr>
        <p:txBody>
          <a:bodyPr/>
          <a:lstStyle/>
          <a:p>
            <a:pPr lvl="0"/>
            <a:r>
              <a:rPr lang="en-US" dirty="0" err="1"/>
              <a:t>Menunjukkan</a:t>
            </a:r>
            <a:r>
              <a:rPr lang="en-US" dirty="0"/>
              <a:t> </a:t>
            </a:r>
            <a:r>
              <a:rPr lang="en-US" dirty="0" err="1"/>
              <a:t>sumber</a:t>
            </a:r>
            <a:r>
              <a:rPr lang="en-US" dirty="0"/>
              <a:t> dan </a:t>
            </a:r>
            <a:r>
              <a:rPr lang="en-US" dirty="0" err="1"/>
              <a:t>penggunaan</a:t>
            </a:r>
            <a:r>
              <a:rPr lang="en-US" dirty="0"/>
              <a:t> kas </a:t>
            </a:r>
            <a:r>
              <a:rPr lang="en-US" dirty="0" err="1"/>
              <a:t>selama</a:t>
            </a:r>
            <a:r>
              <a:rPr lang="en-US" dirty="0"/>
              <a:t> </a:t>
            </a:r>
            <a:r>
              <a:rPr lang="en-US" dirty="0" err="1"/>
              <a:t>satu</a:t>
            </a:r>
            <a:r>
              <a:rPr lang="en-US" dirty="0"/>
              <a:t> </a:t>
            </a:r>
            <a:r>
              <a:rPr lang="en-US" dirty="0" err="1"/>
              <a:t>periode</a:t>
            </a:r>
            <a:endParaRPr lang="en-US" dirty="0"/>
          </a:p>
        </p:txBody>
      </p:sp>
      <p:sp>
        <p:nvSpPr>
          <p:cNvPr id="23" name="Text Placeholder 22">
            <a:extLst>
              <a:ext uri="{FF2B5EF4-FFF2-40B4-BE49-F238E27FC236}">
                <a16:creationId xmlns:a16="http://schemas.microsoft.com/office/drawing/2014/main" id="{9D48D07F-2D5B-F0D5-4005-197607C4F197}"/>
              </a:ext>
            </a:extLst>
          </p:cNvPr>
          <p:cNvSpPr>
            <a:spLocks noGrp="1"/>
          </p:cNvSpPr>
          <p:nvPr>
            <p:ph type="body" sz="quarter" idx="17"/>
          </p:nvPr>
        </p:nvSpPr>
        <p:spPr/>
        <p:txBody>
          <a:bodyPr/>
          <a:lstStyle/>
          <a:p>
            <a:r>
              <a:rPr lang="en-US" dirty="0"/>
              <a:t>CALK</a:t>
            </a:r>
          </a:p>
        </p:txBody>
      </p:sp>
      <p:pic>
        <p:nvPicPr>
          <p:cNvPr id="268" name="Picture Placeholder 267" descr="rocket icon">
            <a:extLst>
              <a:ext uri="{FF2B5EF4-FFF2-40B4-BE49-F238E27FC236}">
                <a16:creationId xmlns:a16="http://schemas.microsoft.com/office/drawing/2014/main" id="{1A522F41-60C1-3803-6132-18E154C0E328}"/>
              </a:ext>
            </a:extLst>
          </p:cNvPr>
          <p:cNvPicPr>
            <a:picLocks noGrp="1" noChangeAspect="1"/>
          </p:cNvPicPr>
          <p:nvPr>
            <p:ph type="pic" sz="quarter" idx="24"/>
          </p:nvPr>
        </p:nvPicPr>
        <p:blipFill rotWithShape="1">
          <a:blip r:embed="rId6"/>
          <a:srcRect t="543" b="543"/>
          <a:stretch/>
        </p:blipFill>
        <p:spPr/>
      </p:pic>
      <p:sp>
        <p:nvSpPr>
          <p:cNvPr id="28" name="Text Placeholder 27">
            <a:extLst>
              <a:ext uri="{FF2B5EF4-FFF2-40B4-BE49-F238E27FC236}">
                <a16:creationId xmlns:a16="http://schemas.microsoft.com/office/drawing/2014/main" id="{B72BD1AE-7290-BA6E-18FB-8181C0D13E7C}"/>
              </a:ext>
            </a:extLst>
          </p:cNvPr>
          <p:cNvSpPr>
            <a:spLocks noGrp="1"/>
          </p:cNvSpPr>
          <p:nvPr>
            <p:ph type="body" sz="quarter" idx="22"/>
          </p:nvPr>
        </p:nvSpPr>
        <p:spPr/>
        <p:txBody>
          <a:bodyPr/>
          <a:lstStyle/>
          <a:p>
            <a:pPr lvl="0"/>
            <a:r>
              <a:rPr lang="en-US" dirty="0" err="1"/>
              <a:t>Menunjukkan</a:t>
            </a:r>
            <a:r>
              <a:rPr lang="en-US" dirty="0"/>
              <a:t> </a:t>
            </a:r>
            <a:r>
              <a:rPr lang="en-US" dirty="0" err="1"/>
              <a:t>penjelasan</a:t>
            </a:r>
            <a:r>
              <a:rPr lang="en-US" dirty="0"/>
              <a:t> </a:t>
            </a:r>
            <a:r>
              <a:rPr lang="en-US" dirty="0" err="1"/>
              <a:t>naratif</a:t>
            </a:r>
            <a:r>
              <a:rPr lang="en-US" dirty="0"/>
              <a:t> </a:t>
            </a:r>
            <a:r>
              <a:rPr lang="en-US" dirty="0" err="1"/>
              <a:t>atau</a:t>
            </a:r>
            <a:r>
              <a:rPr lang="en-US" dirty="0"/>
              <a:t> </a:t>
            </a:r>
            <a:r>
              <a:rPr lang="en-US" dirty="0" err="1"/>
              <a:t>rincian</a:t>
            </a:r>
            <a:r>
              <a:rPr lang="en-US" dirty="0"/>
              <a:t> </a:t>
            </a:r>
            <a:r>
              <a:rPr lang="en-US" dirty="0" err="1"/>
              <a:t>jumlah</a:t>
            </a:r>
            <a:r>
              <a:rPr lang="en-US" dirty="0"/>
              <a:t> yang </a:t>
            </a:r>
            <a:r>
              <a:rPr lang="en-US" dirty="0" err="1"/>
              <a:t>tertera</a:t>
            </a:r>
            <a:r>
              <a:rPr lang="en-US" dirty="0"/>
              <a:t> </a:t>
            </a:r>
            <a:r>
              <a:rPr lang="en-US" dirty="0" err="1"/>
              <a:t>dalam</a:t>
            </a:r>
            <a:r>
              <a:rPr lang="en-US" dirty="0"/>
              <a:t> </a:t>
            </a:r>
            <a:r>
              <a:rPr lang="en-US" dirty="0" err="1"/>
              <a:t>laporan</a:t>
            </a:r>
            <a:r>
              <a:rPr lang="en-US" dirty="0"/>
              <a:t> </a:t>
            </a:r>
            <a:r>
              <a:rPr lang="en-US" dirty="0" err="1"/>
              <a:t>keuangan</a:t>
            </a:r>
            <a:r>
              <a:rPr lang="en-US" dirty="0"/>
              <a:t> dan </a:t>
            </a:r>
            <a:r>
              <a:rPr lang="en-US" dirty="0" err="1"/>
              <a:t>informasi</a:t>
            </a:r>
            <a:r>
              <a:rPr lang="en-US" dirty="0"/>
              <a:t> </a:t>
            </a:r>
            <a:r>
              <a:rPr lang="en-US" dirty="0" err="1"/>
              <a:t>tambahan</a:t>
            </a:r>
            <a:endParaRPr lang="en-US" dirty="0"/>
          </a:p>
        </p:txBody>
      </p:sp>
    </p:spTree>
    <p:extLst>
      <p:ext uri="{BB962C8B-B14F-4D97-AF65-F5344CB8AC3E}">
        <p14:creationId xmlns:p14="http://schemas.microsoft.com/office/powerpoint/2010/main" val="16004945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801EF-70AC-C150-18AA-351E2BC61534}"/>
              </a:ext>
            </a:extLst>
          </p:cNvPr>
          <p:cNvSpPr>
            <a:spLocks noGrp="1"/>
          </p:cNvSpPr>
          <p:nvPr>
            <p:ph type="title"/>
          </p:nvPr>
        </p:nvSpPr>
        <p:spPr>
          <a:xfrm>
            <a:off x="2895600" y="2902712"/>
            <a:ext cx="6400800" cy="768096"/>
          </a:xfrm>
        </p:spPr>
        <p:txBody>
          <a:bodyPr/>
          <a:lstStyle/>
          <a:p>
            <a:r>
              <a:rPr lang="en-US" dirty="0" err="1">
                <a:hlinkClick r:id="rId2" action="ppaction://hlinkfile"/>
              </a:rPr>
              <a:t>Contoh</a:t>
            </a:r>
            <a:r>
              <a:rPr lang="en-US" dirty="0">
                <a:hlinkClick r:id="rId2" action="ppaction://hlinkfile"/>
              </a:rPr>
              <a:t> </a:t>
            </a:r>
            <a:r>
              <a:rPr lang="en-US" dirty="0" err="1">
                <a:hlinkClick r:id="rId2" action="ppaction://hlinkfile"/>
              </a:rPr>
              <a:t>laporan</a:t>
            </a:r>
            <a:r>
              <a:rPr lang="en-US" dirty="0">
                <a:hlinkClick r:id="rId2" action="ppaction://hlinkfile"/>
              </a:rPr>
              <a:t> </a:t>
            </a:r>
            <a:r>
              <a:rPr lang="en-US" dirty="0" err="1">
                <a:hlinkClick r:id="rId2" action="ppaction://hlinkfile"/>
              </a:rPr>
              <a:t>keuangan</a:t>
            </a:r>
            <a:endParaRPr lang="en-ID" dirty="0"/>
          </a:p>
        </p:txBody>
      </p:sp>
    </p:spTree>
    <p:extLst>
      <p:ext uri="{BB962C8B-B14F-4D97-AF65-F5344CB8AC3E}">
        <p14:creationId xmlns:p14="http://schemas.microsoft.com/office/powerpoint/2010/main" val="33536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48646" name="Rectangle 76"/>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47" name="Title 1"/>
          <p:cNvSpPr>
            <a:spLocks noGrp="1"/>
          </p:cNvSpPr>
          <p:nvPr>
            <p:ph type="title"/>
          </p:nvPr>
        </p:nvSpPr>
        <p:spPr>
          <a:xfrm>
            <a:off x="640080" y="1490134"/>
            <a:ext cx="3966036" cy="4588934"/>
          </a:xfrm>
        </p:spPr>
        <p:txBody>
          <a:bodyPr anchor="b">
            <a:normAutofit/>
          </a:bodyPr>
          <a:lstStyle/>
          <a:p>
            <a:pPr>
              <a:lnSpc>
                <a:spcPct val="150000"/>
              </a:lnSpc>
            </a:pPr>
            <a:r>
              <a:rPr lang="en-US" sz="5400" dirty="0" err="1">
                <a:effectLst>
                  <a:outerShdw blurRad="38100" dist="38100" dir="2700000" algn="tl">
                    <a:srgbClr val="000000">
                      <a:alpha val="43137"/>
                    </a:srgbClr>
                  </a:outerShdw>
                </a:effectLst>
                <a:latin typeface="Bernard MT Condensed" panose="02050806060905020404" pitchFamily="18" charset="0"/>
              </a:rPr>
              <a:t>Apa</a:t>
            </a:r>
            <a:r>
              <a:rPr lang="en-US" sz="5400" dirty="0">
                <a:effectLst>
                  <a:outerShdw blurRad="38100" dist="38100" dir="2700000" algn="tl">
                    <a:srgbClr val="000000">
                      <a:alpha val="43137"/>
                    </a:srgbClr>
                  </a:outerShdw>
                </a:effectLst>
                <a:latin typeface="Bernard MT Condensed" panose="02050806060905020404" pitchFamily="18" charset="0"/>
              </a:rPr>
              <a:t> yang </a:t>
            </a:r>
            <a:r>
              <a:rPr lang="en-US" sz="5400" dirty="0" err="1">
                <a:effectLst>
                  <a:outerShdw blurRad="38100" dist="38100" dir="2700000" algn="tl">
                    <a:srgbClr val="000000">
                      <a:alpha val="43137"/>
                    </a:srgbClr>
                  </a:outerShdw>
                </a:effectLst>
                <a:latin typeface="Bernard MT Condensed" panose="02050806060905020404" pitchFamily="18" charset="0"/>
              </a:rPr>
              <a:t>didapatkan</a:t>
            </a:r>
            <a:r>
              <a:rPr lang="en-US" sz="5400" dirty="0">
                <a:effectLst>
                  <a:outerShdw blurRad="38100" dist="38100" dir="2700000" algn="tl">
                    <a:srgbClr val="000000">
                      <a:alpha val="43137"/>
                    </a:srgbClr>
                  </a:outerShdw>
                </a:effectLst>
                <a:latin typeface="Bernard MT Condensed" panose="02050806060905020404" pitchFamily="18" charset="0"/>
              </a:rPr>
              <a:t> Hari </a:t>
            </a:r>
            <a:r>
              <a:rPr lang="en-US" sz="5400" dirty="0" err="1">
                <a:effectLst>
                  <a:outerShdw blurRad="38100" dist="38100" dir="2700000" algn="tl">
                    <a:srgbClr val="000000">
                      <a:alpha val="43137"/>
                    </a:srgbClr>
                  </a:outerShdw>
                </a:effectLst>
                <a:latin typeface="Bernard MT Condensed" panose="02050806060905020404" pitchFamily="18" charset="0"/>
              </a:rPr>
              <a:t>ini</a:t>
            </a:r>
            <a:r>
              <a:rPr lang="en-US" sz="5400" dirty="0">
                <a:effectLst>
                  <a:outerShdw blurRad="38100" dist="38100" dir="2700000" algn="tl">
                    <a:srgbClr val="000000">
                      <a:alpha val="43137"/>
                    </a:srgbClr>
                  </a:outerShdw>
                </a:effectLst>
                <a:latin typeface="Bernard MT Condensed" panose="02050806060905020404" pitchFamily="18" charset="0"/>
              </a:rPr>
              <a:t>?</a:t>
            </a:r>
            <a:endParaRPr lang="en-ID" sz="5400" dirty="0">
              <a:effectLst>
                <a:outerShdw blurRad="38100" dist="38100" dir="2700000" algn="tl">
                  <a:srgbClr val="000000">
                    <a:alpha val="43137"/>
                  </a:srgbClr>
                </a:outerShdw>
              </a:effectLst>
              <a:latin typeface="Bernard MT Condensed" panose="02050806060905020404" pitchFamily="18" charset="0"/>
            </a:endParaRPr>
          </a:p>
        </p:txBody>
      </p:sp>
      <p:sp>
        <p:nvSpPr>
          <p:cNvPr id="1048648" name="sketchy line"/>
          <p:cNvSpPr>
            <a:spLocks noGrp="1" noRot="1" noChangeAspect="1" noMove="1" noResize="1" noEditPoints="1" noAdjustHandles="1" noChangeArrowheads="1" noChangeShapeType="1" noTextEdit="1"/>
          </p:cNvSpPr>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4" name="Picture 5"/>
          <p:cNvPicPr>
            <a:picLocks noChangeAspect="1"/>
          </p:cNvPicPr>
          <p:nvPr/>
        </p:nvPicPr>
        <p:blipFill rotWithShape="1">
          <a:blip r:embed="rId3"/>
          <a:srcRect l="6562" r="26485"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48647"/>
                                        </p:tgtEl>
                                        <p:attrNameLst>
                                          <p:attrName>style.visibility</p:attrName>
                                        </p:attrNameLst>
                                      </p:cBhvr>
                                      <p:to>
                                        <p:strVal val="visible"/>
                                      </p:to>
                                    </p:set>
                                    <p:animEffect transition="in" filter="fade">
                                      <p:cBhvr>
                                        <p:cTn id="7" dur="500"/>
                                        <p:tgtEl>
                                          <p:spTgt spid="104864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097164"/>
                                        </p:tgtEl>
                                        <p:attrNameLst>
                                          <p:attrName>style.visibility</p:attrName>
                                        </p:attrNameLst>
                                      </p:cBhvr>
                                      <p:to>
                                        <p:strVal val="visible"/>
                                      </p:to>
                                    </p:set>
                                    <p:animEffect transition="in" filter="fade">
                                      <p:cBhvr>
                                        <p:cTn id="12" dur="1000"/>
                                        <p:tgtEl>
                                          <p:spTgt spid="2097164"/>
                                        </p:tgtEl>
                                      </p:cBhvr>
                                    </p:animEffect>
                                    <p:anim calcmode="lin" valueType="num">
                                      <p:cBhvr>
                                        <p:cTn id="13" dur="1000" fill="hold"/>
                                        <p:tgtEl>
                                          <p:spTgt spid="2097164"/>
                                        </p:tgtEl>
                                        <p:attrNameLst>
                                          <p:attrName>ppt_x</p:attrName>
                                        </p:attrNameLst>
                                      </p:cBhvr>
                                      <p:tavLst>
                                        <p:tav tm="0">
                                          <p:val>
                                            <p:strVal val="#ppt_x"/>
                                          </p:val>
                                        </p:tav>
                                        <p:tav tm="100000">
                                          <p:val>
                                            <p:strVal val="#ppt_x"/>
                                          </p:val>
                                        </p:tav>
                                      </p:tavLst>
                                    </p:anim>
                                    <p:anim calcmode="lin" valueType="num">
                                      <p:cBhvr>
                                        <p:cTn id="14" dur="1000" fill="hold"/>
                                        <p:tgtEl>
                                          <p:spTgt spid="20971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48655" name="Rectangle 17"/>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19"/>
          <p:cNvGrpSpPr>
            <a:grpSpLocks noGrp="1" noRot="1" noChangeAspect="1" noMove="1" noResize="1"/>
          </p:cNvGrpSpPr>
          <p:nvPr/>
        </p:nvGrpSpPr>
        <p:grpSpPr>
          <a:xfrm>
            <a:off x="4" y="1216597"/>
            <a:ext cx="731521" cy="673460"/>
            <a:chOff x="3940602" y="308034"/>
            <a:chExt cx="2116791" cy="3428999"/>
          </a:xfrm>
          <a:solidFill>
            <a:schemeClr val="accent4"/>
          </a:solidFill>
        </p:grpSpPr>
        <p:sp>
          <p:nvSpPr>
            <p:cNvPr id="1048656" name="Rectangle 20"/>
            <p:cNvSpPr/>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57" name="Rectangle 21"/>
            <p:cNvSpPr/>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58" name="Rectangle 22"/>
            <p:cNvSpPr/>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8659" name="Rectangle 24"/>
          <p:cNvSpPr>
            <a:spLocks noGrp="1" noRot="1" noChangeAspect="1" noMove="1" noResize="1" noEditPoints="1" noAdjustHandles="1" noChangeArrowheads="1" noChangeShapeType="1" noTextEdit="1"/>
          </p:cNvSpPr>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60" name="Title 1"/>
          <p:cNvSpPr>
            <a:spLocks noGrp="1"/>
          </p:cNvSpPr>
          <p:nvPr>
            <p:ph type="title"/>
          </p:nvPr>
        </p:nvSpPr>
        <p:spPr>
          <a:xfrm>
            <a:off x="1043631" y="809898"/>
            <a:ext cx="10173010" cy="1554480"/>
          </a:xfrm>
        </p:spPr>
        <p:txBody>
          <a:bodyPr anchor="ctr">
            <a:normAutofit/>
          </a:bodyPr>
          <a:lstStyle/>
          <a:p>
            <a:r>
              <a:rPr lang="en-US" sz="6000" dirty="0">
                <a:effectLst>
                  <a:outerShdw blurRad="38100" dist="38100" dir="2700000" algn="tl">
                    <a:srgbClr val="000000">
                      <a:alpha val="43137"/>
                    </a:srgbClr>
                  </a:outerShdw>
                </a:effectLst>
                <a:latin typeface="Bernard MT Condensed" panose="02050806060905020404" pitchFamily="18" charset="0"/>
              </a:rPr>
              <a:t>Next Topic</a:t>
            </a:r>
            <a:endParaRPr lang="en-ID" sz="6000" dirty="0">
              <a:effectLst>
                <a:outerShdw blurRad="38100" dist="38100" dir="2700000" algn="tl">
                  <a:srgbClr val="000000">
                    <a:alpha val="43137"/>
                  </a:srgbClr>
                </a:outerShdw>
              </a:effectLst>
              <a:latin typeface="Bernard MT Condensed" panose="02050806060905020404" pitchFamily="18" charset="0"/>
            </a:endParaRPr>
          </a:p>
        </p:txBody>
      </p:sp>
      <p:cxnSp>
        <p:nvCxnSpPr>
          <p:cNvPr id="3145728" name="Straight Connector 26"/>
          <p:cNvCxnSpPr>
            <a:cxnSpLocks noGrp="1" noRot="1" noChangeAspect="1" noMove="1" noResize="1" noEditPoints="1" noAdjustHandles="1" noChangeArrowheads="1" noChangeShapeType="1"/>
          </p:cNvCxnSpPr>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194304" name="Content Placeholder 2"/>
          <p:cNvGraphicFramePr>
            <a:graphicFrameLocks noGrp="1"/>
          </p:cNvGraphicFramePr>
          <p:nvPr>
            <p:ph idx="1"/>
            <p:extLst>
              <p:ext uri="{D42A27DB-BD31-4B8C-83A1-F6EECF244321}">
                <p14:modId xmlns:p14="http://schemas.microsoft.com/office/powerpoint/2010/main" val="3920668740"/>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1527048" y="1975104"/>
            <a:ext cx="6012742" cy="2757318"/>
          </a:xfrm>
        </p:spPr>
        <p:txBody>
          <a:bodyPr/>
          <a:lstStyle/>
          <a:p>
            <a:pPr>
              <a:lnSpc>
                <a:spcPct val="100000"/>
              </a:lnSpc>
            </a:pPr>
            <a:r>
              <a:rPr lang="en-US" sz="9600" dirty="0"/>
              <a:t>THANK YOU</a:t>
            </a:r>
          </a:p>
        </p:txBody>
      </p:sp>
    </p:spTree>
    <p:extLst>
      <p:ext uri="{BB962C8B-B14F-4D97-AF65-F5344CB8AC3E}">
        <p14:creationId xmlns:p14="http://schemas.microsoft.com/office/powerpoint/2010/main" val="1003962426"/>
      </p:ext>
    </p:extLst>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Color-Block_Win32_jx_v9.potx" id="{B1D493D9-AF74-4AD6-8F0C-5B1308D7041B}" vid="{1AA99070-5A1F-42D2-9F5B-E7354C9646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{CA5B7D95-CAE4-4932-9003-96D681D370C1}tf78438558_win32</Template>
  <TotalTime>125</TotalTime>
  <Words>579</Words>
  <Application>Microsoft Office PowerPoint</Application>
  <PresentationFormat>Widescreen</PresentationFormat>
  <Paragraphs>44</Paragraphs>
  <Slides>43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Angsana New</vt:lpstr>
      <vt:lpstr>Arial</vt:lpstr>
      <vt:lpstr>Arial Black</vt:lpstr>
      <vt:lpstr>Arial,Italic</vt:lpstr>
      <vt:lpstr>Bernard MT Condensed</vt:lpstr>
      <vt:lpstr>Sabon Next LT</vt:lpstr>
      <vt:lpstr>Office Theme</vt:lpstr>
      <vt:lpstr>SISTEM AKUNTANSI</vt:lpstr>
      <vt:lpstr>NERACA SALDO</vt:lpstr>
      <vt:lpstr>PROSEDUR PENYIAPAN NERACA SALDO</vt:lpstr>
      <vt:lpstr>PowerPoint Presentation</vt:lpstr>
      <vt:lpstr>PowerPoint Presentation</vt:lpstr>
      <vt:lpstr>JURNAL PENYESUAIAN</vt:lpstr>
      <vt:lpstr>PENYESUAIAN JURNAL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Penyesuaian buku besar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Laporan keuangan</vt:lpstr>
      <vt:lpstr>PowerPoint Presentation</vt:lpstr>
      <vt:lpstr>PENDEKATAN PENCATATAN</vt:lpstr>
      <vt:lpstr>JENIS LAPORAN KEUANGAN</vt:lpstr>
      <vt:lpstr>Contoh laporan keuangan</vt:lpstr>
      <vt:lpstr>Apa yang didapatkan Hari ini?</vt:lpstr>
      <vt:lpstr>Next Topic</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LAPORAN KEUANGAN</dc:title>
  <dc:subject/>
  <dc:creator>Mita Sndy</dc:creator>
  <cp:lastModifiedBy>Mita Sndy</cp:lastModifiedBy>
  <cp:revision>8</cp:revision>
  <dcterms:created xsi:type="dcterms:W3CDTF">2022-11-28T08:25:26Z</dcterms:created>
  <dcterms:modified xsi:type="dcterms:W3CDTF">2025-02-04T07:38:18Z</dcterms:modified>
</cp:coreProperties>
</file>