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6858000" cx="12192000"/>
  <p:notesSz cx="6858000" cy="9144000"/>
  <p:embeddedFontLst>
    <p:embeddedFont>
      <p:font typeface="Overlock"/>
      <p:regular r:id="rId44"/>
      <p:bold r:id="rId45"/>
      <p:italic r:id="rId46"/>
      <p:boldItalic r:id="rId47"/>
    </p:embeddedFont>
    <p:embeddedFont>
      <p:font typeface="Nunit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http://customooxmlschemas.google.com/">
      <go:slidesCustomData xmlns:go="http://customooxmlschemas.google.com/" r:id="rId52" roundtripDataSignature="AMtx7mi9P+OMMfWJm3YMisKqL73nHajk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4EB369-75F2-4E0B-95F8-B342EE0B7100}">
  <a:tblStyle styleId="{EC4EB369-75F2-4E0B-95F8-B342EE0B7100}" styleName="Table_0">
    <a:wholeTbl>
      <a:tcTxStyle b="off" i="off">
        <a:font>
          <a:latin typeface="Calibri"/>
          <a:ea typeface="Calibri"/>
          <a:cs typeface="Calibri"/>
        </a:font>
        <a:schemeClr val="dk1"/>
      </a:tcTxStyle>
      <a:tcStyle>
        <a:tcBdr>
          <a:left>
            <a:ln cap="flat" cmpd="sng" w="12700">
              <a:solidFill>
                <a:schemeClr val="accent4"/>
              </a:solidFill>
              <a:prstDash val="solid"/>
              <a:round/>
              <a:headEnd len="sm" w="sm" type="none"/>
              <a:tailEnd len="sm" w="sm" type="none"/>
            </a:ln>
          </a:left>
          <a:right>
            <a:ln cap="flat" cmpd="sng" w="12700">
              <a:solidFill>
                <a:schemeClr val="accent4"/>
              </a:solidFill>
              <a:prstDash val="solid"/>
              <a:round/>
              <a:headEnd len="sm" w="sm" type="none"/>
              <a:tailEnd len="sm" w="sm" type="none"/>
            </a:ln>
          </a:right>
          <a:top>
            <a:ln cap="flat" cmpd="sng" w="12700">
              <a:solidFill>
                <a:schemeClr val="accent4"/>
              </a:solidFill>
              <a:prstDash val="solid"/>
              <a:round/>
              <a:headEnd len="sm" w="sm" type="none"/>
              <a:tailEnd len="sm" w="sm" type="none"/>
            </a:ln>
          </a:top>
          <a:bottom>
            <a:ln cap="flat" cmpd="sng" w="12700">
              <a:solidFill>
                <a:schemeClr val="accent4"/>
              </a:solidFill>
              <a:prstDash val="solid"/>
              <a:round/>
              <a:headEnd len="sm" w="sm" type="none"/>
              <a:tailEnd len="sm" w="sm" type="none"/>
            </a:ln>
          </a:bottom>
          <a:insideH>
            <a:ln cap="flat" cmpd="sng" w="12700">
              <a:solidFill>
                <a:schemeClr val="accent4"/>
              </a:solidFill>
              <a:prstDash val="solid"/>
              <a:round/>
              <a:headEnd len="sm" w="sm" type="none"/>
              <a:tailEnd len="sm" w="sm" type="none"/>
            </a:ln>
          </a:insideH>
          <a:insideV>
            <a:ln cap="flat" cmpd="sng" w="12700">
              <a:solidFill>
                <a:schemeClr val="accent4"/>
              </a:solidFill>
              <a:prstDash val="solid"/>
              <a:round/>
              <a:headEnd len="sm" w="sm" type="none"/>
              <a:tailEnd len="sm" w="sm" type="none"/>
            </a:ln>
          </a:insideV>
        </a:tcBdr>
        <a:fill>
          <a:solidFill>
            <a:srgbClr val="FFF4E6"/>
          </a:solidFill>
        </a:fill>
      </a:tcStyle>
    </a:wholeTbl>
    <a:band1H>
      <a:tcTxStyle/>
      <a:tcStyle>
        <a:fill>
          <a:solidFill>
            <a:srgbClr val="FFE8CA"/>
          </a:solidFill>
        </a:fill>
      </a:tcStyle>
    </a:band1H>
    <a:band2H>
      <a:tcTxStyle/>
    </a:band2H>
    <a:band1V>
      <a:tcTxStyle/>
      <a:tcStyle>
        <a:fill>
          <a:solidFill>
            <a:srgbClr val="FFE8CA"/>
          </a:solidFill>
        </a:fill>
      </a:tcStyle>
    </a:band1V>
    <a:band2V>
      <a:tcTxStyle/>
    </a:band2V>
    <a:lastCol>
      <a:tcTxStyle b="on" i="off"/>
    </a:lastCol>
    <a:firstCol>
      <a:tcTxStyle b="on" i="off"/>
    </a:firstCol>
    <a:lastRow>
      <a:tcTxStyle b="on" i="off"/>
      <a:tcStyle>
        <a:tcBdr>
          <a:top>
            <a:ln cap="flat" cmpd="sng" w="25400">
              <a:solidFill>
                <a:schemeClr val="accent4"/>
              </a:solidFill>
              <a:prstDash val="solid"/>
              <a:round/>
              <a:headEnd len="sm" w="sm" type="none"/>
              <a:tailEnd len="sm" w="sm" type="none"/>
            </a:ln>
          </a:top>
        </a:tcBdr>
        <a:fill>
          <a:solidFill>
            <a:srgbClr val="FFF4E6"/>
          </a:solidFill>
        </a:fill>
      </a:tcStyle>
    </a:lastRow>
    <a:seCell>
      <a:tcTxStyle/>
    </a:seCell>
    <a:swCell>
      <a:tcTxStyle/>
    </a:swCell>
    <a:firstRow>
      <a:tcTxStyle b="on" i="off"/>
      <a:tcStyle>
        <a:fill>
          <a:solidFill>
            <a:srgbClr val="FFF4E6"/>
          </a:solidFill>
        </a:fill>
      </a:tcStyle>
    </a:firstRow>
    <a:neCell>
      <a:tcTxStyle/>
    </a:neCell>
    <a:nwCell>
      <a:tcTxStyle/>
    </a:nwCell>
  </a:tblStyle>
  <a:tblStyle styleId="{292D6408-4200-4D1F-94EE-6CFA0FCB0BF6}"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0157BEA7-82FA-4515-A05D-2D9F716986CC}" styleName="Table_2">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CECE7"/>
          </a:solidFill>
        </a:fill>
      </a:tcStyle>
    </a:wholeTbl>
    <a:band1H>
      <a:tcTxStyle/>
      <a:tcStyle>
        <a:fill>
          <a:solidFill>
            <a:srgbClr val="F8D6CC"/>
          </a:solidFill>
        </a:fill>
      </a:tcStyle>
    </a:band1H>
    <a:band2H>
      <a:tcTxStyle/>
    </a:band2H>
    <a:band1V>
      <a:tcTxStyle/>
      <a:tcStyle>
        <a:fill>
          <a:solidFill>
            <a:srgbClr val="F8D6CC"/>
          </a:solidFill>
        </a:fill>
      </a:tcStyle>
    </a:band1V>
    <a:band2V>
      <a:tcTxStyle/>
    </a:band2V>
    <a:lastCol>
      <a:tcTxStyle b="on" i="off">
        <a:font>
          <a:latin typeface="Calibri"/>
          <a:ea typeface="Calibri"/>
          <a:cs typeface="Calibri"/>
        </a:font>
        <a:schemeClr val="lt1"/>
      </a:tcTxStyle>
      <a:tcStyle>
        <a:fill>
          <a:solidFill>
            <a:schemeClr val="accent2"/>
          </a:solidFill>
        </a:fill>
      </a:tcStyle>
    </a:lastCol>
    <a:firstCol>
      <a:tcTxStyle b="on" i="off">
        <a:font>
          <a:latin typeface="Calibri"/>
          <a:ea typeface="Calibri"/>
          <a:cs typeface="Calibri"/>
        </a:font>
        <a:schemeClr val="lt1"/>
      </a:tcTxStyle>
      <a:tcStyle>
        <a:fill>
          <a:solidFill>
            <a:schemeClr val="accent2"/>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2"/>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2"/>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font" Target="fonts/Overlock-regular.fntdata"/><Relationship Id="rId43" Type="http://schemas.openxmlformats.org/officeDocument/2006/relationships/slide" Target="slides/slide37.xml"/><Relationship Id="rId46" Type="http://schemas.openxmlformats.org/officeDocument/2006/relationships/font" Target="fonts/Overlock-italic.fntdata"/><Relationship Id="rId45" Type="http://schemas.openxmlformats.org/officeDocument/2006/relationships/font" Target="fonts/Overlock-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Nunito-regular.fntdata"/><Relationship Id="rId47" Type="http://schemas.openxmlformats.org/officeDocument/2006/relationships/font" Target="fonts/Overlock-boldItalic.fntdata"/><Relationship Id="rId49" Type="http://schemas.openxmlformats.org/officeDocument/2006/relationships/font" Target="fonts/Nunit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Nunito-boldItalic.fntdata"/><Relationship Id="rId50" Type="http://schemas.openxmlformats.org/officeDocument/2006/relationships/font" Target="fonts/Nunito-italic.fntdata"/><Relationship Id="rId52"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5" name="Google Shape;30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7" name="Google Shape;31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9" name="Google Shape;32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41" name="Google Shape;34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3" name="Google Shape;3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1" name="Google Shape;37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
        <p:nvSpPr>
          <p:cNvPr id="407" name="Google Shape;407;p7:notes"/>
          <p:cNvSpPr/>
          <p:nvPr>
            <p:ph idx="2" type="sldImg"/>
          </p:nvPr>
        </p:nvSpPr>
        <p:spPr>
          <a:xfrm>
            <a:off x="381000" y="695325"/>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08" name="Google Shape;408;p7: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57" name="Google Shape;45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69" name="Google Shape;46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81" name="Google Shape;48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94" name="Google Shape;49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08" name="Google Shape;50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21" name="Google Shape;52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34" name="Google Shape;53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 name="Google Shape;53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49" name="Google Shape;54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0" name="Google Shape;55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64" name="Google Shape;56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76" name="Google Shape;57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7" name="Google Shape;57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23" name="Google Shape;62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37" name="Google Shape;63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60" name="Google Shape;66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1" name="Google Shape;66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39" name="Google Shape;73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0" name="Google Shape;74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00" name="Google Shape;80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1" name="Google Shape;80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16" name="Google Shape;81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7" name="Google Shape;81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31" name="Google Shape;83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 name="Google Shape;83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47" name="Google Shape;84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8" name="Google Shape;84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63" name="Google Shape;863;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4" name="Google Shape;864;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75" name="Google Shape;87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6" name="Google Shape;87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37" name="Google Shape;93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8" name="Google Shape;93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54" name="Google Shape;95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5" name="Google Shape;955;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66" name="Google Shape;96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7" name="Google Shape;967;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83" name="Google Shape;98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92" name="Google Shape;99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00" name="Google Shape;100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09" name="Google Shape;1009;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18" name="Google Shape;101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27" name="Google Shape;102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36" name="Google Shape;1036;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7" name="Google Shape;1037;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3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Calibri"/>
                <a:ea typeface="Calibri"/>
                <a:cs typeface="Calibri"/>
                <a:sym typeface="Calibri"/>
              </a:defRPr>
            </a:lvl1pPr>
            <a:lvl2pPr indent="0" lvl="1" marL="0" algn="r">
              <a:spcBef>
                <a:spcPts val="0"/>
              </a:spcBef>
              <a:spcAft>
                <a:spcPts val="0"/>
              </a:spcAft>
              <a:buNone/>
              <a:defRPr b="0" i="0" sz="1200" u="none" cap="none" strike="noStrike">
                <a:solidFill>
                  <a:srgbClr val="898989"/>
                </a:solidFill>
                <a:latin typeface="Calibri"/>
                <a:ea typeface="Calibri"/>
                <a:cs typeface="Calibri"/>
                <a:sym typeface="Calibri"/>
              </a:defRPr>
            </a:lvl2pPr>
            <a:lvl3pPr indent="0" lvl="2" marL="0" algn="r">
              <a:spcBef>
                <a:spcPts val="0"/>
              </a:spcBef>
              <a:spcAft>
                <a:spcPts val="0"/>
              </a:spcAft>
              <a:buNone/>
              <a:defRPr b="0" i="0" sz="1200" u="none" cap="none" strike="noStrike">
                <a:solidFill>
                  <a:srgbClr val="898989"/>
                </a:solidFill>
                <a:latin typeface="Calibri"/>
                <a:ea typeface="Calibri"/>
                <a:cs typeface="Calibri"/>
                <a:sym typeface="Calibri"/>
              </a:defRPr>
            </a:lvl3pPr>
            <a:lvl4pPr indent="0" lvl="3" marL="0" algn="r">
              <a:spcBef>
                <a:spcPts val="0"/>
              </a:spcBef>
              <a:spcAft>
                <a:spcPts val="0"/>
              </a:spcAft>
              <a:buNone/>
              <a:defRPr b="0" i="0" sz="1200" u="none" cap="none" strike="noStrike">
                <a:solidFill>
                  <a:srgbClr val="898989"/>
                </a:solidFill>
                <a:latin typeface="Calibri"/>
                <a:ea typeface="Calibri"/>
                <a:cs typeface="Calibri"/>
                <a:sym typeface="Calibri"/>
              </a:defRPr>
            </a:lvl4pPr>
            <a:lvl5pPr indent="0" lvl="4" marL="0" algn="r">
              <a:spcBef>
                <a:spcPts val="0"/>
              </a:spcBef>
              <a:spcAft>
                <a:spcPts val="0"/>
              </a:spcAft>
              <a:buNone/>
              <a:defRPr b="0" i="0" sz="1200" u="none" cap="none" strike="noStrike">
                <a:solidFill>
                  <a:srgbClr val="898989"/>
                </a:solidFill>
                <a:latin typeface="Calibri"/>
                <a:ea typeface="Calibri"/>
                <a:cs typeface="Calibri"/>
                <a:sym typeface="Calibri"/>
              </a:defRPr>
            </a:lvl5pPr>
            <a:lvl6pPr indent="0" lvl="5" marL="0" algn="r">
              <a:spcBef>
                <a:spcPts val="0"/>
              </a:spcBef>
              <a:spcAft>
                <a:spcPts val="0"/>
              </a:spcAft>
              <a:buNone/>
              <a:defRPr b="0" i="0" sz="1200" u="none" cap="none" strike="noStrike">
                <a:solidFill>
                  <a:srgbClr val="898989"/>
                </a:solidFill>
                <a:latin typeface="Calibri"/>
                <a:ea typeface="Calibri"/>
                <a:cs typeface="Calibri"/>
                <a:sym typeface="Calibri"/>
              </a:defRPr>
            </a:lvl6pPr>
            <a:lvl7pPr indent="0" lvl="6" marL="0" algn="r">
              <a:spcBef>
                <a:spcPts val="0"/>
              </a:spcBef>
              <a:spcAft>
                <a:spcPts val="0"/>
              </a:spcAft>
              <a:buNone/>
              <a:defRPr b="0" i="0" sz="1200" u="none" cap="none" strike="noStrike">
                <a:solidFill>
                  <a:srgbClr val="898989"/>
                </a:solidFill>
                <a:latin typeface="Calibri"/>
                <a:ea typeface="Calibri"/>
                <a:cs typeface="Calibri"/>
                <a:sym typeface="Calibri"/>
              </a:defRPr>
            </a:lvl7pPr>
            <a:lvl8pPr indent="0" lvl="7" marL="0" algn="r">
              <a:spcBef>
                <a:spcPts val="0"/>
              </a:spcBef>
              <a:spcAft>
                <a:spcPts val="0"/>
              </a:spcAft>
              <a:buNone/>
              <a:defRPr b="0" i="0" sz="1200" u="none" cap="none" strike="noStrike">
                <a:solidFill>
                  <a:srgbClr val="898989"/>
                </a:solidFill>
                <a:latin typeface="Calibri"/>
                <a:ea typeface="Calibri"/>
                <a:cs typeface="Calibri"/>
                <a:sym typeface="Calibri"/>
              </a:defRPr>
            </a:lvl8pPr>
            <a:lvl9pPr indent="0" lvl="8" marL="0" algn="r">
              <a:spcBef>
                <a:spcPts val="0"/>
              </a:spcBef>
              <a:spcAft>
                <a:spcPts val="0"/>
              </a:spcAft>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icture with Content">
  <p:cSld name="2_Picture with Content">
    <p:spTree>
      <p:nvGrpSpPr>
        <p:cNvPr id="21" name="Shape 21"/>
        <p:cNvGrpSpPr/>
        <p:nvPr/>
      </p:nvGrpSpPr>
      <p:grpSpPr>
        <a:xfrm>
          <a:off x="0" y="0"/>
          <a:ext cx="0" cy="0"/>
          <a:chOff x="0" y="0"/>
          <a:chExt cx="0" cy="0"/>
        </a:xfrm>
      </p:grpSpPr>
      <p:sp>
        <p:nvSpPr>
          <p:cNvPr id="22" name="Google Shape;22;p40"/>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 name="Google Shape;23;p40"/>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24" name="Google Shape;24;p40"/>
          <p:cNvSpPr/>
          <p:nvPr>
            <p:ph idx="2" type="pic"/>
          </p:nvPr>
        </p:nvSpPr>
        <p:spPr>
          <a:xfrm>
            <a:off x="0" y="0"/>
            <a:ext cx="12192000" cy="6408000"/>
          </a:xfrm>
          <a:prstGeom prst="rect">
            <a:avLst/>
          </a:prstGeom>
          <a:noFill/>
          <a:ln>
            <a:noFill/>
          </a:ln>
        </p:spPr>
      </p:sp>
      <p:sp>
        <p:nvSpPr>
          <p:cNvPr id="25" name="Google Shape;25;p40"/>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6" name="Google Shape;26;p40"/>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Calibri"/>
                <a:ea typeface="Calibri"/>
                <a:cs typeface="Calibri"/>
                <a:sym typeface="Calibri"/>
              </a:defRPr>
            </a:lvl1pPr>
            <a:lvl2pPr indent="0" lvl="1" marL="0" algn="r">
              <a:spcBef>
                <a:spcPts val="0"/>
              </a:spcBef>
              <a:spcAft>
                <a:spcPts val="0"/>
              </a:spcAft>
              <a:buNone/>
              <a:defRPr b="0" i="0" sz="1200" u="none" cap="none" strike="noStrike">
                <a:solidFill>
                  <a:srgbClr val="898989"/>
                </a:solidFill>
                <a:latin typeface="Calibri"/>
                <a:ea typeface="Calibri"/>
                <a:cs typeface="Calibri"/>
                <a:sym typeface="Calibri"/>
              </a:defRPr>
            </a:lvl2pPr>
            <a:lvl3pPr indent="0" lvl="2" marL="0" algn="r">
              <a:spcBef>
                <a:spcPts val="0"/>
              </a:spcBef>
              <a:spcAft>
                <a:spcPts val="0"/>
              </a:spcAft>
              <a:buNone/>
              <a:defRPr b="0" i="0" sz="1200" u="none" cap="none" strike="noStrike">
                <a:solidFill>
                  <a:srgbClr val="898989"/>
                </a:solidFill>
                <a:latin typeface="Calibri"/>
                <a:ea typeface="Calibri"/>
                <a:cs typeface="Calibri"/>
                <a:sym typeface="Calibri"/>
              </a:defRPr>
            </a:lvl3pPr>
            <a:lvl4pPr indent="0" lvl="3" marL="0" algn="r">
              <a:spcBef>
                <a:spcPts val="0"/>
              </a:spcBef>
              <a:spcAft>
                <a:spcPts val="0"/>
              </a:spcAft>
              <a:buNone/>
              <a:defRPr b="0" i="0" sz="1200" u="none" cap="none" strike="noStrike">
                <a:solidFill>
                  <a:srgbClr val="898989"/>
                </a:solidFill>
                <a:latin typeface="Calibri"/>
                <a:ea typeface="Calibri"/>
                <a:cs typeface="Calibri"/>
                <a:sym typeface="Calibri"/>
              </a:defRPr>
            </a:lvl4pPr>
            <a:lvl5pPr indent="0" lvl="4" marL="0" algn="r">
              <a:spcBef>
                <a:spcPts val="0"/>
              </a:spcBef>
              <a:spcAft>
                <a:spcPts val="0"/>
              </a:spcAft>
              <a:buNone/>
              <a:defRPr b="0" i="0" sz="1200" u="none" cap="none" strike="noStrike">
                <a:solidFill>
                  <a:srgbClr val="898989"/>
                </a:solidFill>
                <a:latin typeface="Calibri"/>
                <a:ea typeface="Calibri"/>
                <a:cs typeface="Calibri"/>
                <a:sym typeface="Calibri"/>
              </a:defRPr>
            </a:lvl5pPr>
            <a:lvl6pPr indent="0" lvl="5" marL="0" algn="r">
              <a:spcBef>
                <a:spcPts val="0"/>
              </a:spcBef>
              <a:spcAft>
                <a:spcPts val="0"/>
              </a:spcAft>
              <a:buNone/>
              <a:defRPr b="0" i="0" sz="1200" u="none" cap="none" strike="noStrike">
                <a:solidFill>
                  <a:srgbClr val="898989"/>
                </a:solidFill>
                <a:latin typeface="Calibri"/>
                <a:ea typeface="Calibri"/>
                <a:cs typeface="Calibri"/>
                <a:sym typeface="Calibri"/>
              </a:defRPr>
            </a:lvl6pPr>
            <a:lvl7pPr indent="0" lvl="6" marL="0" algn="r">
              <a:spcBef>
                <a:spcPts val="0"/>
              </a:spcBef>
              <a:spcAft>
                <a:spcPts val="0"/>
              </a:spcAft>
              <a:buNone/>
              <a:defRPr b="0" i="0" sz="1200" u="none" cap="none" strike="noStrike">
                <a:solidFill>
                  <a:srgbClr val="898989"/>
                </a:solidFill>
                <a:latin typeface="Calibri"/>
                <a:ea typeface="Calibri"/>
                <a:cs typeface="Calibri"/>
                <a:sym typeface="Calibri"/>
              </a:defRPr>
            </a:lvl7pPr>
            <a:lvl8pPr indent="0" lvl="7" marL="0" algn="r">
              <a:spcBef>
                <a:spcPts val="0"/>
              </a:spcBef>
              <a:spcAft>
                <a:spcPts val="0"/>
              </a:spcAft>
              <a:buNone/>
              <a:defRPr b="0" i="0" sz="1200" u="none" cap="none" strike="noStrike">
                <a:solidFill>
                  <a:srgbClr val="898989"/>
                </a:solidFill>
                <a:latin typeface="Calibri"/>
                <a:ea typeface="Calibri"/>
                <a:cs typeface="Calibri"/>
                <a:sym typeface="Calibri"/>
              </a:defRPr>
            </a:lvl8pPr>
            <a:lvl9pPr indent="0" lvl="8" marL="0" algn="r">
              <a:spcBef>
                <a:spcPts val="0"/>
              </a:spcBef>
              <a:spcAft>
                <a:spcPts val="0"/>
              </a:spcAft>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 name="Shape 30"/>
        <p:cNvGrpSpPr/>
        <p:nvPr/>
      </p:nvGrpSpPr>
      <p:grpSpPr>
        <a:xfrm>
          <a:off x="0" y="0"/>
          <a:ext cx="0" cy="0"/>
          <a:chOff x="0" y="0"/>
          <a:chExt cx="0" cy="0"/>
        </a:xfrm>
      </p:grpSpPr>
      <p:sp>
        <p:nvSpPr>
          <p:cNvPr id="31" name="Google Shape;31;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Calibri"/>
                <a:ea typeface="Calibri"/>
                <a:cs typeface="Calibri"/>
                <a:sym typeface="Calibri"/>
              </a:defRPr>
            </a:lvl1pPr>
            <a:lvl2pPr indent="0" lvl="1" marL="0" algn="r">
              <a:spcBef>
                <a:spcPts val="0"/>
              </a:spcBef>
              <a:spcAft>
                <a:spcPts val="0"/>
              </a:spcAft>
              <a:buNone/>
              <a:defRPr b="0" i="0" sz="1200" u="none" cap="none" strike="noStrike">
                <a:solidFill>
                  <a:srgbClr val="898989"/>
                </a:solidFill>
                <a:latin typeface="Calibri"/>
                <a:ea typeface="Calibri"/>
                <a:cs typeface="Calibri"/>
                <a:sym typeface="Calibri"/>
              </a:defRPr>
            </a:lvl2pPr>
            <a:lvl3pPr indent="0" lvl="2" marL="0" algn="r">
              <a:spcBef>
                <a:spcPts val="0"/>
              </a:spcBef>
              <a:spcAft>
                <a:spcPts val="0"/>
              </a:spcAft>
              <a:buNone/>
              <a:defRPr b="0" i="0" sz="1200" u="none" cap="none" strike="noStrike">
                <a:solidFill>
                  <a:srgbClr val="898989"/>
                </a:solidFill>
                <a:latin typeface="Calibri"/>
                <a:ea typeface="Calibri"/>
                <a:cs typeface="Calibri"/>
                <a:sym typeface="Calibri"/>
              </a:defRPr>
            </a:lvl3pPr>
            <a:lvl4pPr indent="0" lvl="3" marL="0" algn="r">
              <a:spcBef>
                <a:spcPts val="0"/>
              </a:spcBef>
              <a:spcAft>
                <a:spcPts val="0"/>
              </a:spcAft>
              <a:buNone/>
              <a:defRPr b="0" i="0" sz="1200" u="none" cap="none" strike="noStrike">
                <a:solidFill>
                  <a:srgbClr val="898989"/>
                </a:solidFill>
                <a:latin typeface="Calibri"/>
                <a:ea typeface="Calibri"/>
                <a:cs typeface="Calibri"/>
                <a:sym typeface="Calibri"/>
              </a:defRPr>
            </a:lvl4pPr>
            <a:lvl5pPr indent="0" lvl="4" marL="0" algn="r">
              <a:spcBef>
                <a:spcPts val="0"/>
              </a:spcBef>
              <a:spcAft>
                <a:spcPts val="0"/>
              </a:spcAft>
              <a:buNone/>
              <a:defRPr b="0" i="0" sz="1200" u="none" cap="none" strike="noStrike">
                <a:solidFill>
                  <a:srgbClr val="898989"/>
                </a:solidFill>
                <a:latin typeface="Calibri"/>
                <a:ea typeface="Calibri"/>
                <a:cs typeface="Calibri"/>
                <a:sym typeface="Calibri"/>
              </a:defRPr>
            </a:lvl5pPr>
            <a:lvl6pPr indent="0" lvl="5" marL="0" algn="r">
              <a:spcBef>
                <a:spcPts val="0"/>
              </a:spcBef>
              <a:spcAft>
                <a:spcPts val="0"/>
              </a:spcAft>
              <a:buNone/>
              <a:defRPr b="0" i="0" sz="1200" u="none" cap="none" strike="noStrike">
                <a:solidFill>
                  <a:srgbClr val="898989"/>
                </a:solidFill>
                <a:latin typeface="Calibri"/>
                <a:ea typeface="Calibri"/>
                <a:cs typeface="Calibri"/>
                <a:sym typeface="Calibri"/>
              </a:defRPr>
            </a:lvl6pPr>
            <a:lvl7pPr indent="0" lvl="6" marL="0" algn="r">
              <a:spcBef>
                <a:spcPts val="0"/>
              </a:spcBef>
              <a:spcAft>
                <a:spcPts val="0"/>
              </a:spcAft>
              <a:buNone/>
              <a:defRPr b="0" i="0" sz="1200" u="none" cap="none" strike="noStrike">
                <a:solidFill>
                  <a:srgbClr val="898989"/>
                </a:solidFill>
                <a:latin typeface="Calibri"/>
                <a:ea typeface="Calibri"/>
                <a:cs typeface="Calibri"/>
                <a:sym typeface="Calibri"/>
              </a:defRPr>
            </a:lvl7pPr>
            <a:lvl8pPr indent="0" lvl="7" marL="0" algn="r">
              <a:spcBef>
                <a:spcPts val="0"/>
              </a:spcBef>
              <a:spcAft>
                <a:spcPts val="0"/>
              </a:spcAft>
              <a:buNone/>
              <a:defRPr b="0" i="0" sz="1200" u="none" cap="none" strike="noStrike">
                <a:solidFill>
                  <a:srgbClr val="898989"/>
                </a:solidFill>
                <a:latin typeface="Calibri"/>
                <a:ea typeface="Calibri"/>
                <a:cs typeface="Calibri"/>
                <a:sym typeface="Calibri"/>
              </a:defRPr>
            </a:lvl8pPr>
            <a:lvl9pPr indent="0" lvl="8" marL="0" algn="r">
              <a:spcBef>
                <a:spcPts val="0"/>
              </a:spcBef>
              <a:spcAft>
                <a:spcPts val="0"/>
              </a:spcAft>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4" name="Shape 34"/>
        <p:cNvGrpSpPr/>
        <p:nvPr/>
      </p:nvGrpSpPr>
      <p:grpSpPr>
        <a:xfrm>
          <a:off x="0" y="0"/>
          <a:ext cx="0" cy="0"/>
          <a:chOff x="0" y="0"/>
          <a:chExt cx="0" cy="0"/>
        </a:xfrm>
      </p:grpSpPr>
      <p:sp>
        <p:nvSpPr>
          <p:cNvPr id="35" name="Google Shape;35;p4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6" name="Google Shape;36;p42"/>
          <p:cNvSpPr/>
          <p:nvPr>
            <p:ph idx="2" type="pic"/>
          </p:nvPr>
        </p:nvSpPr>
        <p:spPr>
          <a:xfrm>
            <a:off x="5183188" y="987425"/>
            <a:ext cx="6172200" cy="4873625"/>
          </a:xfrm>
          <a:prstGeom prst="rect">
            <a:avLst/>
          </a:prstGeom>
          <a:noFill/>
          <a:ln>
            <a:noFill/>
          </a:ln>
        </p:spPr>
      </p:sp>
      <p:sp>
        <p:nvSpPr>
          <p:cNvPr id="37" name="Google Shape;37;p4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8" name="Google Shape;38;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1" name="Shape 41"/>
        <p:cNvGrpSpPr/>
        <p:nvPr/>
      </p:nvGrpSpPr>
      <p:grpSpPr>
        <a:xfrm>
          <a:off x="0" y="0"/>
          <a:ext cx="0" cy="0"/>
          <a:chOff x="0" y="0"/>
          <a:chExt cx="0" cy="0"/>
        </a:xfrm>
      </p:grpSpPr>
      <p:sp>
        <p:nvSpPr>
          <p:cNvPr id="42" name="Google Shape;42;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3" name="Google Shape;43;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7" name="Shape 47"/>
        <p:cNvGrpSpPr/>
        <p:nvPr/>
      </p:nvGrpSpPr>
      <p:grpSpPr>
        <a:xfrm>
          <a:off x="0" y="0"/>
          <a:ext cx="0" cy="0"/>
          <a:chOff x="0" y="0"/>
          <a:chExt cx="0" cy="0"/>
        </a:xfrm>
      </p:grpSpPr>
      <p:cxnSp>
        <p:nvCxnSpPr>
          <p:cNvPr id="48" name="Google Shape;48;p44"/>
          <p:cNvCxnSpPr/>
          <p:nvPr/>
        </p:nvCxnSpPr>
        <p:spPr>
          <a:xfrm>
            <a:off x="1208088" y="4484688"/>
            <a:ext cx="9875837" cy="0"/>
          </a:xfrm>
          <a:prstGeom prst="straightConnector1">
            <a:avLst/>
          </a:prstGeom>
          <a:noFill/>
          <a:ln cap="flat" cmpd="sng" w="12700">
            <a:solidFill>
              <a:srgbClr val="3F3F3F"/>
            </a:solidFill>
            <a:prstDash val="solid"/>
            <a:miter lim="800000"/>
            <a:headEnd len="sm" w="sm" type="none"/>
            <a:tailEnd len="sm" w="sm" type="none"/>
          </a:ln>
        </p:spPr>
      </p:cxnSp>
      <p:sp>
        <p:nvSpPr>
          <p:cNvPr id="49" name="Google Shape;49;p4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0" name="Google Shape;50;p4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51" name="Google Shape;51;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4" name="Shape 54"/>
        <p:cNvGrpSpPr/>
        <p:nvPr/>
      </p:nvGrpSpPr>
      <p:grpSpPr>
        <a:xfrm>
          <a:off x="0" y="0"/>
          <a:ext cx="0" cy="0"/>
          <a:chOff x="0" y="0"/>
          <a:chExt cx="0" cy="0"/>
        </a:xfrm>
      </p:grpSpPr>
      <p:sp>
        <p:nvSpPr>
          <p:cNvPr id="55" name="Google Shape;55;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6" name="Google Shape;56;p4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4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4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3" name="Google Shape;63;p4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4" name="Google Shape;64;p4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4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6" name="Google Shape;66;p4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2" name="Google Shape;72;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4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7" name="Google Shape;77;p4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4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4" name="Google Shape;84;p4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5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90" name="Google Shape;90;p5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spTree>
      <p:nvGrpSpPr>
        <p:cNvPr id="94" name="Shape 94"/>
        <p:cNvGrpSpPr/>
        <p:nvPr/>
      </p:nvGrpSpPr>
      <p:grpSpPr>
        <a:xfrm>
          <a:off x="0" y="0"/>
          <a:ext cx="0" cy="0"/>
          <a:chOff x="0" y="0"/>
          <a:chExt cx="0" cy="0"/>
        </a:xfrm>
      </p:grpSpPr>
      <p:sp>
        <p:nvSpPr>
          <p:cNvPr id="95" name="Google Shape;95;p51"/>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6" name="Google Shape;96;p51"/>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97" name="Google Shape;97;p51"/>
          <p:cNvSpPr/>
          <p:nvPr>
            <p:ph idx="2" type="pic"/>
          </p:nvPr>
        </p:nvSpPr>
        <p:spPr>
          <a:xfrm>
            <a:off x="0" y="0"/>
            <a:ext cx="12192000" cy="6408000"/>
          </a:xfrm>
          <a:prstGeom prst="rect">
            <a:avLst/>
          </a:prstGeom>
          <a:noFill/>
          <a:ln>
            <a:noFill/>
          </a:ln>
        </p:spPr>
      </p:sp>
      <p:sp>
        <p:nvSpPr>
          <p:cNvPr id="98" name="Google Shape;98;p51"/>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720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99" name="Google Shape;99;p51"/>
          <p:cNvSpPr txBox="1"/>
          <p:nvPr>
            <p:ph idx="1" type="body"/>
          </p:nvPr>
        </p:nvSpPr>
        <p:spPr>
          <a:xfrm>
            <a:off x="744355" y="1812759"/>
            <a:ext cx="4954159" cy="374819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51"/>
          <p:cNvSpPr txBox="1"/>
          <p:nvPr>
            <p:ph idx="3" type="body"/>
          </p:nvPr>
        </p:nvSpPr>
        <p:spPr>
          <a:xfrm>
            <a:off x="6499901" y="1812759"/>
            <a:ext cx="4954159" cy="3748194"/>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icture with Content">
  <p:cSld name="1_Picture with Content">
    <p:spTree>
      <p:nvGrpSpPr>
        <p:cNvPr id="104" name="Shape 104"/>
        <p:cNvGrpSpPr/>
        <p:nvPr/>
      </p:nvGrpSpPr>
      <p:grpSpPr>
        <a:xfrm>
          <a:off x="0" y="0"/>
          <a:ext cx="0" cy="0"/>
          <a:chOff x="0" y="0"/>
          <a:chExt cx="0" cy="0"/>
        </a:xfrm>
      </p:grpSpPr>
      <p:sp>
        <p:nvSpPr>
          <p:cNvPr id="105" name="Google Shape;105;p52"/>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6" name="Google Shape;106;p52"/>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107" name="Google Shape;107;p52"/>
          <p:cNvSpPr/>
          <p:nvPr>
            <p:ph idx="2" type="pic"/>
          </p:nvPr>
        </p:nvSpPr>
        <p:spPr>
          <a:xfrm>
            <a:off x="0" y="0"/>
            <a:ext cx="12192000" cy="6408000"/>
          </a:xfrm>
          <a:prstGeom prst="rect">
            <a:avLst/>
          </a:prstGeom>
          <a:noFill/>
          <a:ln>
            <a:noFill/>
          </a:ln>
        </p:spPr>
      </p:sp>
      <p:sp>
        <p:nvSpPr>
          <p:cNvPr id="108" name="Google Shape;108;p52"/>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09" name="Google Shape;109;p52"/>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_1">
  <p:cSld name="Two Content_1">
    <p:spTree>
      <p:nvGrpSpPr>
        <p:cNvPr id="113" name="Shape 113"/>
        <p:cNvGrpSpPr/>
        <p:nvPr/>
      </p:nvGrpSpPr>
      <p:grpSpPr>
        <a:xfrm>
          <a:off x="0" y="0"/>
          <a:ext cx="0" cy="0"/>
          <a:chOff x="0" y="0"/>
          <a:chExt cx="0" cy="0"/>
        </a:xfrm>
      </p:grpSpPr>
      <p:cxnSp>
        <p:nvCxnSpPr>
          <p:cNvPr id="114" name="Google Shape;114;p53"/>
          <p:cNvCxnSpPr/>
          <p:nvPr/>
        </p:nvCxnSpPr>
        <p:spPr>
          <a:xfrm>
            <a:off x="0" y="1900238"/>
            <a:ext cx="12192000" cy="0"/>
          </a:xfrm>
          <a:prstGeom prst="straightConnector1">
            <a:avLst/>
          </a:prstGeom>
          <a:noFill/>
          <a:ln cap="flat" cmpd="sng" w="9525">
            <a:solidFill>
              <a:srgbClr val="262626"/>
            </a:solidFill>
            <a:prstDash val="solid"/>
            <a:miter lim="800000"/>
            <a:headEnd len="sm" w="sm" type="none"/>
            <a:tailEnd len="sm" w="sm" type="none"/>
          </a:ln>
        </p:spPr>
      </p:cxnSp>
      <p:sp>
        <p:nvSpPr>
          <p:cNvPr id="115" name="Google Shape;115;p53"/>
          <p:cNvSpPr/>
          <p:nvPr>
            <p:ph idx="2" type="pic"/>
          </p:nvPr>
        </p:nvSpPr>
        <p:spPr>
          <a:xfrm>
            <a:off x="0" y="1907362"/>
            <a:ext cx="12192000" cy="4493433"/>
          </a:xfrm>
          <a:prstGeom prst="rect">
            <a:avLst/>
          </a:prstGeom>
          <a:noFill/>
          <a:ln>
            <a:noFill/>
          </a:ln>
        </p:spPr>
      </p:sp>
      <p:sp>
        <p:nvSpPr>
          <p:cNvPr id="116" name="Google Shape;116;p53"/>
          <p:cNvSpPr txBox="1"/>
          <p:nvPr>
            <p:ph type="title"/>
          </p:nvPr>
        </p:nvSpPr>
        <p:spPr>
          <a:xfrm>
            <a:off x="1097280" y="230332"/>
            <a:ext cx="10058400" cy="145075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17" name="Google Shape;117;p53"/>
          <p:cNvSpPr txBox="1"/>
          <p:nvPr>
            <p:ph idx="1" type="body"/>
          </p:nvPr>
        </p:nvSpPr>
        <p:spPr>
          <a:xfrm>
            <a:off x="1097280" y="2464540"/>
            <a:ext cx="10058400" cy="3748194"/>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121" name="Shape 121"/>
        <p:cNvGrpSpPr/>
        <p:nvPr/>
      </p:nvGrpSpPr>
      <p:grpSpPr>
        <a:xfrm>
          <a:off x="0" y="0"/>
          <a:ext cx="0" cy="0"/>
          <a:chOff x="0" y="0"/>
          <a:chExt cx="0" cy="0"/>
        </a:xfrm>
      </p:grpSpPr>
      <p:sp>
        <p:nvSpPr>
          <p:cNvPr id="122" name="Google Shape;122;p54"/>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3" name="Google Shape;123;p54"/>
          <p:cNvCxnSpPr/>
          <p:nvPr/>
        </p:nvCxnSpPr>
        <p:spPr>
          <a:xfrm>
            <a:off x="0" y="1900238"/>
            <a:ext cx="12192000" cy="0"/>
          </a:xfrm>
          <a:prstGeom prst="straightConnector1">
            <a:avLst/>
          </a:prstGeom>
          <a:noFill/>
          <a:ln cap="flat" cmpd="sng" w="9525">
            <a:solidFill>
              <a:srgbClr val="262626"/>
            </a:solidFill>
            <a:prstDash val="solid"/>
            <a:miter lim="800000"/>
            <a:headEnd len="sm" w="sm" type="none"/>
            <a:tailEnd len="sm" w="sm" type="none"/>
          </a:ln>
        </p:spPr>
      </p:cxnSp>
      <p:sp>
        <p:nvSpPr>
          <p:cNvPr id="124" name="Google Shape;124;p54"/>
          <p:cNvSpPr/>
          <p:nvPr>
            <p:ph idx="2" type="pic"/>
          </p:nvPr>
        </p:nvSpPr>
        <p:spPr>
          <a:xfrm>
            <a:off x="0" y="1907362"/>
            <a:ext cx="12192000" cy="4493433"/>
          </a:xfrm>
          <a:prstGeom prst="rect">
            <a:avLst/>
          </a:prstGeom>
          <a:noFill/>
          <a:ln>
            <a:noFill/>
          </a:ln>
        </p:spPr>
      </p:sp>
      <p:sp>
        <p:nvSpPr>
          <p:cNvPr id="125" name="Google Shape;125;p54"/>
          <p:cNvSpPr txBox="1"/>
          <p:nvPr>
            <p:ph type="title"/>
          </p:nvPr>
        </p:nvSpPr>
        <p:spPr>
          <a:xfrm>
            <a:off x="1097280" y="230332"/>
            <a:ext cx="10058400" cy="145075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26" name="Google Shape;126;p54"/>
          <p:cNvSpPr txBox="1"/>
          <p:nvPr>
            <p:ph idx="1" type="body"/>
          </p:nvPr>
        </p:nvSpPr>
        <p:spPr>
          <a:xfrm>
            <a:off x="1080347" y="2346008"/>
            <a:ext cx="10058400" cy="3748194"/>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1000"/>
              </a:spcBef>
              <a:spcAft>
                <a:spcPts val="0"/>
              </a:spcAft>
              <a:buClr>
                <a:schemeClr val="dk1"/>
              </a:buClr>
              <a:buSzPts val="1600"/>
              <a:buChar char="•"/>
              <a:defRPr sz="1600"/>
            </a:lvl1pPr>
            <a:lvl2pPr indent="-330200" lvl="1" marL="914400" algn="l">
              <a:lnSpc>
                <a:spcPct val="90000"/>
              </a:lnSpc>
              <a:spcBef>
                <a:spcPts val="500"/>
              </a:spcBef>
              <a:spcAft>
                <a:spcPts val="0"/>
              </a:spcAft>
              <a:buClr>
                <a:schemeClr val="dk1"/>
              </a:buClr>
              <a:buSzPts val="1600"/>
              <a:buChar char="•"/>
              <a:defRPr sz="1600"/>
            </a:lvl2pPr>
            <a:lvl3pPr indent="-330200" lvl="2" marL="1371600" algn="l">
              <a:lnSpc>
                <a:spcPct val="90000"/>
              </a:lnSpc>
              <a:spcBef>
                <a:spcPts val="500"/>
              </a:spcBef>
              <a:spcAft>
                <a:spcPts val="0"/>
              </a:spcAft>
              <a:buClr>
                <a:schemeClr val="dk1"/>
              </a:buClr>
              <a:buSzPts val="1600"/>
              <a:buChar char="•"/>
              <a:defRPr sz="16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 name="Google Shape;127;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with Caption">
  <p:cSld name="1_Content with Caption">
    <p:spTree>
      <p:nvGrpSpPr>
        <p:cNvPr id="130" name="Shape 130"/>
        <p:cNvGrpSpPr/>
        <p:nvPr/>
      </p:nvGrpSpPr>
      <p:grpSpPr>
        <a:xfrm>
          <a:off x="0" y="0"/>
          <a:ext cx="0" cy="0"/>
          <a:chOff x="0" y="0"/>
          <a:chExt cx="0" cy="0"/>
        </a:xfrm>
      </p:grpSpPr>
      <p:sp>
        <p:nvSpPr>
          <p:cNvPr id="131" name="Google Shape;131;p55"/>
          <p:cNvSpPr/>
          <p:nvPr/>
        </p:nvSpPr>
        <p:spPr>
          <a:xfrm>
            <a:off x="4803775" y="0"/>
            <a:ext cx="7388225" cy="6446838"/>
          </a:xfrm>
          <a:prstGeom prst="rect">
            <a:avLst/>
          </a:prstGeom>
          <a:solidFill>
            <a:srgbClr val="2F5496">
              <a:alpha val="2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5"/>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3" name="Google Shape;133;p55"/>
          <p:cNvCxnSpPr/>
          <p:nvPr/>
        </p:nvCxnSpPr>
        <p:spPr>
          <a:xfrm>
            <a:off x="723900" y="1768475"/>
            <a:ext cx="3290888" cy="0"/>
          </a:xfrm>
          <a:prstGeom prst="straightConnector1">
            <a:avLst/>
          </a:prstGeom>
          <a:noFill/>
          <a:ln cap="flat" cmpd="sng" w="15875">
            <a:solidFill>
              <a:srgbClr val="262626"/>
            </a:solidFill>
            <a:prstDash val="solid"/>
            <a:miter lim="800000"/>
            <a:headEnd len="sm" w="sm" type="none"/>
            <a:tailEnd len="sm" w="sm" type="none"/>
          </a:ln>
        </p:spPr>
      </p:cxnSp>
      <p:sp>
        <p:nvSpPr>
          <p:cNvPr id="134" name="Google Shape;134;p55"/>
          <p:cNvSpPr/>
          <p:nvPr>
            <p:ph idx="2" type="pic"/>
          </p:nvPr>
        </p:nvSpPr>
        <p:spPr>
          <a:xfrm>
            <a:off x="0" y="0"/>
            <a:ext cx="12192000" cy="6400165"/>
          </a:xfrm>
          <a:prstGeom prst="rect">
            <a:avLst/>
          </a:prstGeom>
          <a:noFill/>
          <a:ln>
            <a:noFill/>
          </a:ln>
        </p:spPr>
      </p:sp>
      <p:sp>
        <p:nvSpPr>
          <p:cNvPr id="135" name="Google Shape;135;p55"/>
          <p:cNvSpPr txBox="1"/>
          <p:nvPr>
            <p:ph type="title"/>
          </p:nvPr>
        </p:nvSpPr>
        <p:spPr>
          <a:xfrm>
            <a:off x="643466" y="488254"/>
            <a:ext cx="3517567" cy="108797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b="0" sz="3600">
                <a:solidFill>
                  <a:srgbClr val="1F3864"/>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36" name="Google Shape;136;p55"/>
          <p:cNvSpPr txBox="1"/>
          <p:nvPr>
            <p:ph idx="1" type="body"/>
          </p:nvPr>
        </p:nvSpPr>
        <p:spPr>
          <a:xfrm>
            <a:off x="403625" y="2038720"/>
            <a:ext cx="3517567" cy="331170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Font typeface="Noto Sans Symbols"/>
              <a:buChar char="▪"/>
              <a:defRPr sz="1800">
                <a:solidFill>
                  <a:schemeClr val="dk1"/>
                </a:solidFill>
              </a:defRPr>
            </a:lvl1pPr>
            <a:lvl2pPr indent="-228600" lvl="1" marL="914400" algn="l">
              <a:lnSpc>
                <a:spcPct val="90000"/>
              </a:lnSpc>
              <a:spcBef>
                <a:spcPts val="500"/>
              </a:spcBef>
              <a:spcAft>
                <a:spcPts val="0"/>
              </a:spcAft>
              <a:buClr>
                <a:schemeClr val="dk1"/>
              </a:buClr>
              <a:buSzPts val="1200"/>
              <a:buNone/>
              <a:defRPr sz="1200"/>
            </a:lvl2pPr>
            <a:lvl3pPr indent="-228600" lvl="2" marL="1371600" algn="l">
              <a:lnSpc>
                <a:spcPct val="90000"/>
              </a:lnSpc>
              <a:spcBef>
                <a:spcPts val="500"/>
              </a:spcBef>
              <a:spcAft>
                <a:spcPts val="0"/>
              </a:spcAft>
              <a:buClr>
                <a:schemeClr val="dk1"/>
              </a:buClr>
              <a:buSzPts val="1000"/>
              <a:buNone/>
              <a:defRPr sz="1000"/>
            </a:lvl3pPr>
            <a:lvl4pPr indent="-228600" lvl="3" marL="1828800" algn="l">
              <a:lnSpc>
                <a:spcPct val="90000"/>
              </a:lnSpc>
              <a:spcBef>
                <a:spcPts val="500"/>
              </a:spcBef>
              <a:spcAft>
                <a:spcPts val="0"/>
              </a:spcAft>
              <a:buClr>
                <a:schemeClr val="dk1"/>
              </a:buClr>
              <a:buSzPts val="900"/>
              <a:buNone/>
              <a:defRPr sz="900"/>
            </a:lvl4pPr>
            <a:lvl5pPr indent="-228600" lvl="4" marL="2286000" algn="l">
              <a:lnSpc>
                <a:spcPct val="90000"/>
              </a:lnSpc>
              <a:spcBef>
                <a:spcPts val="500"/>
              </a:spcBef>
              <a:spcAft>
                <a:spcPts val="0"/>
              </a:spcAft>
              <a:buClr>
                <a:schemeClr val="dk1"/>
              </a:buClr>
              <a:buSzPts val="900"/>
              <a:buNone/>
              <a:defRPr sz="900"/>
            </a:lvl5pPr>
            <a:lvl6pPr indent="-228600" lvl="5" marL="2743200" algn="l">
              <a:lnSpc>
                <a:spcPct val="90000"/>
              </a:lnSpc>
              <a:spcBef>
                <a:spcPts val="500"/>
              </a:spcBef>
              <a:spcAft>
                <a:spcPts val="0"/>
              </a:spcAft>
              <a:buClr>
                <a:schemeClr val="dk1"/>
              </a:buClr>
              <a:buSzPts val="900"/>
              <a:buNone/>
              <a:defRPr sz="900"/>
            </a:lvl6pPr>
            <a:lvl7pPr indent="-228600" lvl="6" marL="3200400" algn="l">
              <a:lnSpc>
                <a:spcPct val="90000"/>
              </a:lnSpc>
              <a:spcBef>
                <a:spcPts val="500"/>
              </a:spcBef>
              <a:spcAft>
                <a:spcPts val="0"/>
              </a:spcAft>
              <a:buClr>
                <a:schemeClr val="dk1"/>
              </a:buClr>
              <a:buSzPts val="900"/>
              <a:buNone/>
              <a:defRPr sz="900"/>
            </a:lvl7pPr>
            <a:lvl8pPr indent="-228600" lvl="7" marL="3657600" algn="l">
              <a:lnSpc>
                <a:spcPct val="90000"/>
              </a:lnSpc>
              <a:spcBef>
                <a:spcPts val="500"/>
              </a:spcBef>
              <a:spcAft>
                <a:spcPts val="0"/>
              </a:spcAft>
              <a:buClr>
                <a:schemeClr val="dk1"/>
              </a:buClr>
              <a:buSzPts val="900"/>
              <a:buNone/>
              <a:defRPr sz="900"/>
            </a:lvl8pPr>
            <a:lvl9pPr indent="-228600" lvl="8" marL="4114800" algn="l">
              <a:lnSpc>
                <a:spcPct val="90000"/>
              </a:lnSpc>
              <a:spcBef>
                <a:spcPts val="500"/>
              </a:spcBef>
              <a:spcAft>
                <a:spcPts val="0"/>
              </a:spcAft>
              <a:buClr>
                <a:schemeClr val="dk1"/>
              </a:buClr>
              <a:buSzPts val="900"/>
              <a:buNone/>
              <a:defRPr sz="900"/>
            </a:lvl9pPr>
          </a:lstStyle>
          <a:p/>
        </p:txBody>
      </p:sp>
      <p:sp>
        <p:nvSpPr>
          <p:cNvPr id="137" name="Google Shape;137;p55"/>
          <p:cNvSpPr/>
          <p:nvPr>
            <p:ph idx="3" type="pic"/>
          </p:nvPr>
        </p:nvSpPr>
        <p:spPr>
          <a:xfrm>
            <a:off x="5599113" y="1692275"/>
            <a:ext cx="6592887" cy="3190875"/>
          </a:xfrm>
          <a:prstGeom prst="rect">
            <a:avLst/>
          </a:prstGeom>
          <a:solidFill>
            <a:srgbClr val="D8D8D8">
              <a:alpha val="49803"/>
            </a:srgbClr>
          </a:solidFill>
          <a:ln>
            <a:noFill/>
          </a:ln>
        </p:spPr>
      </p:sp>
      <p:sp>
        <p:nvSpPr>
          <p:cNvPr id="138" name="Google Shape;138;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 with Caption">
  <p:cSld name="2_Content with Caption">
    <p:spTree>
      <p:nvGrpSpPr>
        <p:cNvPr id="141" name="Shape 141"/>
        <p:cNvGrpSpPr/>
        <p:nvPr/>
      </p:nvGrpSpPr>
      <p:grpSpPr>
        <a:xfrm>
          <a:off x="0" y="0"/>
          <a:ext cx="0" cy="0"/>
          <a:chOff x="0" y="0"/>
          <a:chExt cx="0" cy="0"/>
        </a:xfrm>
      </p:grpSpPr>
      <p:sp>
        <p:nvSpPr>
          <p:cNvPr id="142" name="Google Shape;142;p56"/>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6"/>
          <p:cNvSpPr/>
          <p:nvPr>
            <p:ph idx="2" type="pic"/>
          </p:nvPr>
        </p:nvSpPr>
        <p:spPr>
          <a:xfrm>
            <a:off x="0" y="0"/>
            <a:ext cx="12193200" cy="6400800"/>
          </a:xfrm>
          <a:prstGeom prst="rect">
            <a:avLst/>
          </a:prstGeom>
          <a:noFill/>
          <a:ln>
            <a:noFill/>
          </a:ln>
        </p:spPr>
      </p:sp>
      <p:sp>
        <p:nvSpPr>
          <p:cNvPr id="144" name="Google Shape;144;p56"/>
          <p:cNvSpPr txBox="1"/>
          <p:nvPr>
            <p:ph idx="1" type="body"/>
          </p:nvPr>
        </p:nvSpPr>
        <p:spPr>
          <a:xfrm>
            <a:off x="5356422" y="5034909"/>
            <a:ext cx="6835291" cy="817251"/>
          </a:xfrm>
          <a:prstGeom prst="rect">
            <a:avLst/>
          </a:prstGeom>
          <a:solidFill>
            <a:srgbClr val="262626"/>
          </a:solidFill>
          <a:ln>
            <a:noFill/>
          </a:ln>
        </p:spPr>
        <p:txBody>
          <a:bodyPr anchorCtr="0" anchor="ctr" bIns="45700" lIns="396000" spcFirstLastPara="1" rIns="91425" wrap="square" tIns="0">
            <a:normAutofit/>
          </a:bodyPr>
          <a:lstStyle>
            <a:lvl1pPr indent="-381000" lvl="0" marL="457200" algn="l">
              <a:lnSpc>
                <a:spcPct val="90000"/>
              </a:lnSpc>
              <a:spcBef>
                <a:spcPts val="1000"/>
              </a:spcBef>
              <a:spcAft>
                <a:spcPts val="0"/>
              </a:spcAft>
              <a:buClr>
                <a:srgbClr val="B3C6E7"/>
              </a:buClr>
              <a:buSzPts val="2400"/>
              <a:buChar char="•"/>
              <a:defRPr sz="2400">
                <a:solidFill>
                  <a:srgbClr val="B3C6E7"/>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 name="Google Shape;145;p56"/>
          <p:cNvSpPr txBox="1"/>
          <p:nvPr>
            <p:ph type="title"/>
          </p:nvPr>
        </p:nvSpPr>
        <p:spPr>
          <a:xfrm>
            <a:off x="5356143" y="3975295"/>
            <a:ext cx="6835858" cy="1089350"/>
          </a:xfrm>
          <a:prstGeom prst="rect">
            <a:avLst/>
          </a:prstGeom>
          <a:solidFill>
            <a:srgbClr val="262626"/>
          </a:solidFill>
          <a:ln>
            <a:noFill/>
          </a:ln>
        </p:spPr>
        <p:txBody>
          <a:bodyPr anchorCtr="0" anchor="t" bIns="45700" lIns="396000" spcFirstLastPara="1" rIns="91425" wrap="square" tIns="252000">
            <a:noAutofit/>
          </a:bodyPr>
          <a:lstStyle>
            <a:lvl1pPr lvl="0" algn="l">
              <a:lnSpc>
                <a:spcPct val="90000"/>
              </a:lnSpc>
              <a:spcBef>
                <a:spcPts val="0"/>
              </a:spcBef>
              <a:spcAft>
                <a:spcPts val="0"/>
              </a:spcAft>
              <a:buSzPts val="1400"/>
              <a:buNone/>
              <a:defRPr b="0" sz="360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46" name="Google Shape;146;p56"/>
          <p:cNvSpPr txBox="1"/>
          <p:nvPr>
            <p:ph idx="3" type="body"/>
          </p:nvPr>
        </p:nvSpPr>
        <p:spPr>
          <a:xfrm>
            <a:off x="678635" y="0"/>
            <a:ext cx="3998873" cy="5852160"/>
          </a:xfrm>
          <a:prstGeom prst="rect">
            <a:avLst/>
          </a:prstGeom>
          <a:solidFill>
            <a:srgbClr val="262626"/>
          </a:solidFill>
          <a:ln>
            <a:noFill/>
          </a:ln>
        </p:spPr>
        <p:txBody>
          <a:bodyPr anchorCtr="0" anchor="ctr" bIns="45700" lIns="360000" spcFirstLastPara="1" rIns="360000" wrap="square" tIns="46800">
            <a:normAutofit/>
          </a:bodyPr>
          <a:lstStyle>
            <a:lvl1pPr indent="-228600" lvl="0" marL="457200" algn="l">
              <a:lnSpc>
                <a:spcPct val="90000"/>
              </a:lnSpc>
              <a:spcBef>
                <a:spcPts val="1000"/>
              </a:spcBef>
              <a:spcAft>
                <a:spcPts val="0"/>
              </a:spcAft>
              <a:buClr>
                <a:schemeClr val="lt1"/>
              </a:buClr>
              <a:buSzPts val="2800"/>
              <a:buNone/>
              <a:defRPr>
                <a:solidFill>
                  <a:schemeClr val="lt1"/>
                </a:solidFill>
              </a:defRPr>
            </a:lvl1pPr>
            <a:lvl2pPr indent="-228600" lvl="1" marL="914400" algn="l">
              <a:lnSpc>
                <a:spcPct val="90000"/>
              </a:lnSpc>
              <a:spcBef>
                <a:spcPts val="500"/>
              </a:spcBef>
              <a:spcAft>
                <a:spcPts val="0"/>
              </a:spcAft>
              <a:buClr>
                <a:schemeClr val="dk1"/>
              </a:buClr>
              <a:buSzPts val="1200"/>
              <a:buNone/>
              <a:defRPr sz="1200"/>
            </a:lvl2pPr>
            <a:lvl3pPr indent="-228600" lvl="2" marL="1371600" algn="l">
              <a:lnSpc>
                <a:spcPct val="90000"/>
              </a:lnSpc>
              <a:spcBef>
                <a:spcPts val="500"/>
              </a:spcBef>
              <a:spcAft>
                <a:spcPts val="0"/>
              </a:spcAft>
              <a:buClr>
                <a:schemeClr val="dk1"/>
              </a:buClr>
              <a:buSzPts val="1000"/>
              <a:buNone/>
              <a:defRPr sz="1000"/>
            </a:lvl3pPr>
            <a:lvl4pPr indent="-228600" lvl="3" marL="1828800" algn="l">
              <a:lnSpc>
                <a:spcPct val="90000"/>
              </a:lnSpc>
              <a:spcBef>
                <a:spcPts val="500"/>
              </a:spcBef>
              <a:spcAft>
                <a:spcPts val="0"/>
              </a:spcAft>
              <a:buClr>
                <a:schemeClr val="dk1"/>
              </a:buClr>
              <a:buSzPts val="900"/>
              <a:buNone/>
              <a:defRPr sz="900"/>
            </a:lvl4pPr>
            <a:lvl5pPr indent="-228600" lvl="4" marL="2286000" algn="l">
              <a:lnSpc>
                <a:spcPct val="90000"/>
              </a:lnSpc>
              <a:spcBef>
                <a:spcPts val="500"/>
              </a:spcBef>
              <a:spcAft>
                <a:spcPts val="0"/>
              </a:spcAft>
              <a:buClr>
                <a:schemeClr val="dk1"/>
              </a:buClr>
              <a:buSzPts val="900"/>
              <a:buNone/>
              <a:defRPr sz="900"/>
            </a:lvl5pPr>
            <a:lvl6pPr indent="-228600" lvl="5" marL="2743200" algn="l">
              <a:lnSpc>
                <a:spcPct val="90000"/>
              </a:lnSpc>
              <a:spcBef>
                <a:spcPts val="500"/>
              </a:spcBef>
              <a:spcAft>
                <a:spcPts val="0"/>
              </a:spcAft>
              <a:buClr>
                <a:schemeClr val="dk1"/>
              </a:buClr>
              <a:buSzPts val="900"/>
              <a:buNone/>
              <a:defRPr sz="900"/>
            </a:lvl6pPr>
            <a:lvl7pPr indent="-228600" lvl="6" marL="3200400" algn="l">
              <a:lnSpc>
                <a:spcPct val="90000"/>
              </a:lnSpc>
              <a:spcBef>
                <a:spcPts val="500"/>
              </a:spcBef>
              <a:spcAft>
                <a:spcPts val="0"/>
              </a:spcAft>
              <a:buClr>
                <a:schemeClr val="dk1"/>
              </a:buClr>
              <a:buSzPts val="900"/>
              <a:buNone/>
              <a:defRPr sz="900"/>
            </a:lvl7pPr>
            <a:lvl8pPr indent="-228600" lvl="7" marL="3657600" algn="l">
              <a:lnSpc>
                <a:spcPct val="90000"/>
              </a:lnSpc>
              <a:spcBef>
                <a:spcPts val="500"/>
              </a:spcBef>
              <a:spcAft>
                <a:spcPts val="0"/>
              </a:spcAft>
              <a:buClr>
                <a:schemeClr val="dk1"/>
              </a:buClr>
              <a:buSzPts val="900"/>
              <a:buNone/>
              <a:defRPr sz="900"/>
            </a:lvl8pPr>
            <a:lvl9pPr indent="-228600" lvl="8" marL="4114800" algn="l">
              <a:lnSpc>
                <a:spcPct val="90000"/>
              </a:lnSpc>
              <a:spcBef>
                <a:spcPts val="500"/>
              </a:spcBef>
              <a:spcAft>
                <a:spcPts val="0"/>
              </a:spcAft>
              <a:buClr>
                <a:schemeClr val="dk1"/>
              </a:buClr>
              <a:buSzPts val="900"/>
              <a:buNone/>
              <a:defRPr sz="900"/>
            </a:lvl9pPr>
          </a:lstStyle>
          <a:p/>
        </p:txBody>
      </p:sp>
      <p:sp>
        <p:nvSpPr>
          <p:cNvPr id="147" name="Google Shape;147;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icture with Content">
  <p:cSld name="3_Picture with Content">
    <p:spTree>
      <p:nvGrpSpPr>
        <p:cNvPr id="150" name="Shape 150"/>
        <p:cNvGrpSpPr/>
        <p:nvPr/>
      </p:nvGrpSpPr>
      <p:grpSpPr>
        <a:xfrm>
          <a:off x="0" y="0"/>
          <a:ext cx="0" cy="0"/>
          <a:chOff x="0" y="0"/>
          <a:chExt cx="0" cy="0"/>
        </a:xfrm>
      </p:grpSpPr>
      <p:sp>
        <p:nvSpPr>
          <p:cNvPr id="151" name="Google Shape;151;p57"/>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2" name="Google Shape;152;p57"/>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153" name="Google Shape;153;p57"/>
          <p:cNvSpPr/>
          <p:nvPr>
            <p:ph idx="2" type="pic"/>
          </p:nvPr>
        </p:nvSpPr>
        <p:spPr>
          <a:xfrm>
            <a:off x="0" y="0"/>
            <a:ext cx="12192000" cy="6408000"/>
          </a:xfrm>
          <a:prstGeom prst="rect">
            <a:avLst/>
          </a:prstGeom>
          <a:noFill/>
          <a:ln>
            <a:noFill/>
          </a:ln>
        </p:spPr>
      </p:sp>
      <p:sp>
        <p:nvSpPr>
          <p:cNvPr id="154" name="Google Shape;154;p57"/>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55" name="Google Shape;155;p57"/>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Picture with Content">
  <p:cSld name="4_Picture with Content">
    <p:spTree>
      <p:nvGrpSpPr>
        <p:cNvPr id="159" name="Shape 159"/>
        <p:cNvGrpSpPr/>
        <p:nvPr/>
      </p:nvGrpSpPr>
      <p:grpSpPr>
        <a:xfrm>
          <a:off x="0" y="0"/>
          <a:ext cx="0" cy="0"/>
          <a:chOff x="0" y="0"/>
          <a:chExt cx="0" cy="0"/>
        </a:xfrm>
      </p:grpSpPr>
      <p:sp>
        <p:nvSpPr>
          <p:cNvPr id="160" name="Google Shape;160;p58"/>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1" name="Google Shape;161;p58"/>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162" name="Google Shape;162;p58"/>
          <p:cNvSpPr/>
          <p:nvPr>
            <p:ph idx="2" type="pic"/>
          </p:nvPr>
        </p:nvSpPr>
        <p:spPr>
          <a:xfrm>
            <a:off x="0" y="0"/>
            <a:ext cx="12192000" cy="6408000"/>
          </a:xfrm>
          <a:prstGeom prst="rect">
            <a:avLst/>
          </a:prstGeom>
          <a:noFill/>
          <a:ln>
            <a:noFill/>
          </a:ln>
        </p:spPr>
      </p:sp>
      <p:sp>
        <p:nvSpPr>
          <p:cNvPr id="163" name="Google Shape;163;p58"/>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64" name="Google Shape;164;p58"/>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 name="Google Shape;165;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Picture with Content">
  <p:cSld name="5_Picture with Content">
    <p:spTree>
      <p:nvGrpSpPr>
        <p:cNvPr id="168" name="Shape 168"/>
        <p:cNvGrpSpPr/>
        <p:nvPr/>
      </p:nvGrpSpPr>
      <p:grpSpPr>
        <a:xfrm>
          <a:off x="0" y="0"/>
          <a:ext cx="0" cy="0"/>
          <a:chOff x="0" y="0"/>
          <a:chExt cx="0" cy="0"/>
        </a:xfrm>
      </p:grpSpPr>
      <p:sp>
        <p:nvSpPr>
          <p:cNvPr id="169" name="Google Shape;169;p59"/>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0" name="Google Shape;170;p59"/>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171" name="Google Shape;171;p59"/>
          <p:cNvSpPr/>
          <p:nvPr>
            <p:ph idx="2" type="pic"/>
          </p:nvPr>
        </p:nvSpPr>
        <p:spPr>
          <a:xfrm>
            <a:off x="0" y="0"/>
            <a:ext cx="12192000" cy="6408000"/>
          </a:xfrm>
          <a:prstGeom prst="rect">
            <a:avLst/>
          </a:prstGeom>
          <a:noFill/>
          <a:ln>
            <a:noFill/>
          </a:ln>
        </p:spPr>
      </p:sp>
      <p:sp>
        <p:nvSpPr>
          <p:cNvPr id="172" name="Google Shape;172;p59"/>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3" name="Google Shape;173;p59"/>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 name="Google Shape;174;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Picture with Content">
  <p:cSld name="6_Picture with Content">
    <p:spTree>
      <p:nvGrpSpPr>
        <p:cNvPr id="177" name="Shape 177"/>
        <p:cNvGrpSpPr/>
        <p:nvPr/>
      </p:nvGrpSpPr>
      <p:grpSpPr>
        <a:xfrm>
          <a:off x="0" y="0"/>
          <a:ext cx="0" cy="0"/>
          <a:chOff x="0" y="0"/>
          <a:chExt cx="0" cy="0"/>
        </a:xfrm>
      </p:grpSpPr>
      <p:sp>
        <p:nvSpPr>
          <p:cNvPr id="178" name="Google Shape;178;p60"/>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9" name="Google Shape;179;p60"/>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180" name="Google Shape;180;p60"/>
          <p:cNvSpPr/>
          <p:nvPr>
            <p:ph idx="2" type="pic"/>
          </p:nvPr>
        </p:nvSpPr>
        <p:spPr>
          <a:xfrm>
            <a:off x="0" y="0"/>
            <a:ext cx="12192000" cy="6408000"/>
          </a:xfrm>
          <a:prstGeom prst="rect">
            <a:avLst/>
          </a:prstGeom>
          <a:noFill/>
          <a:ln>
            <a:noFill/>
          </a:ln>
        </p:spPr>
      </p:sp>
      <p:sp>
        <p:nvSpPr>
          <p:cNvPr id="181" name="Google Shape;181;p60"/>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82" name="Google Shape;182;p60"/>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 name="Google Shape;183;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5" name="Google Shape;185;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Picture with Content">
  <p:cSld name="7_Picture with Content">
    <p:spTree>
      <p:nvGrpSpPr>
        <p:cNvPr id="186" name="Shape 186"/>
        <p:cNvGrpSpPr/>
        <p:nvPr/>
      </p:nvGrpSpPr>
      <p:grpSpPr>
        <a:xfrm>
          <a:off x="0" y="0"/>
          <a:ext cx="0" cy="0"/>
          <a:chOff x="0" y="0"/>
          <a:chExt cx="0" cy="0"/>
        </a:xfrm>
      </p:grpSpPr>
      <p:sp>
        <p:nvSpPr>
          <p:cNvPr id="187" name="Google Shape;187;p61"/>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8" name="Google Shape;188;p61"/>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189" name="Google Shape;189;p61"/>
          <p:cNvSpPr/>
          <p:nvPr>
            <p:ph idx="2" type="pic"/>
          </p:nvPr>
        </p:nvSpPr>
        <p:spPr>
          <a:xfrm>
            <a:off x="0" y="0"/>
            <a:ext cx="12192000" cy="6408000"/>
          </a:xfrm>
          <a:prstGeom prst="rect">
            <a:avLst/>
          </a:prstGeom>
          <a:noFill/>
          <a:ln>
            <a:noFill/>
          </a:ln>
        </p:spPr>
      </p:sp>
      <p:sp>
        <p:nvSpPr>
          <p:cNvPr id="190" name="Google Shape;190;p61"/>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91" name="Google Shape;191;p61"/>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Picture with Content">
  <p:cSld name="8_Picture with Content">
    <p:spTree>
      <p:nvGrpSpPr>
        <p:cNvPr id="195" name="Shape 195"/>
        <p:cNvGrpSpPr/>
        <p:nvPr/>
      </p:nvGrpSpPr>
      <p:grpSpPr>
        <a:xfrm>
          <a:off x="0" y="0"/>
          <a:ext cx="0" cy="0"/>
          <a:chOff x="0" y="0"/>
          <a:chExt cx="0" cy="0"/>
        </a:xfrm>
      </p:grpSpPr>
      <p:sp>
        <p:nvSpPr>
          <p:cNvPr id="196" name="Google Shape;196;p62"/>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7" name="Google Shape;197;p62"/>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198" name="Google Shape;198;p62"/>
          <p:cNvSpPr/>
          <p:nvPr>
            <p:ph idx="2" type="pic"/>
          </p:nvPr>
        </p:nvSpPr>
        <p:spPr>
          <a:xfrm>
            <a:off x="0" y="0"/>
            <a:ext cx="12192000" cy="6408000"/>
          </a:xfrm>
          <a:prstGeom prst="rect">
            <a:avLst/>
          </a:prstGeom>
          <a:noFill/>
          <a:ln>
            <a:noFill/>
          </a:ln>
        </p:spPr>
      </p:sp>
      <p:sp>
        <p:nvSpPr>
          <p:cNvPr id="199" name="Google Shape;199;p62"/>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00" name="Google Shape;200;p62"/>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 name="Google Shape;201;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Picture with Content">
  <p:cSld name="9_Picture with Content">
    <p:spTree>
      <p:nvGrpSpPr>
        <p:cNvPr id="204" name="Shape 204"/>
        <p:cNvGrpSpPr/>
        <p:nvPr/>
      </p:nvGrpSpPr>
      <p:grpSpPr>
        <a:xfrm>
          <a:off x="0" y="0"/>
          <a:ext cx="0" cy="0"/>
          <a:chOff x="0" y="0"/>
          <a:chExt cx="0" cy="0"/>
        </a:xfrm>
      </p:grpSpPr>
      <p:sp>
        <p:nvSpPr>
          <p:cNvPr id="205" name="Google Shape;205;p63"/>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6" name="Google Shape;206;p63"/>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207" name="Google Shape;207;p63"/>
          <p:cNvSpPr/>
          <p:nvPr>
            <p:ph idx="2" type="pic"/>
          </p:nvPr>
        </p:nvSpPr>
        <p:spPr>
          <a:xfrm>
            <a:off x="0" y="0"/>
            <a:ext cx="12192000" cy="6408000"/>
          </a:xfrm>
          <a:prstGeom prst="rect">
            <a:avLst/>
          </a:prstGeom>
          <a:noFill/>
          <a:ln>
            <a:noFill/>
          </a:ln>
        </p:spPr>
      </p:sp>
      <p:sp>
        <p:nvSpPr>
          <p:cNvPr id="208" name="Google Shape;208;p63"/>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09" name="Google Shape;209;p63"/>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 name="Google Shape;210;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 name="Google Shape;211;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2" name="Google Shape;212;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Picture with Content">
  <p:cSld name="10_Picture with Content">
    <p:spTree>
      <p:nvGrpSpPr>
        <p:cNvPr id="213" name="Shape 213"/>
        <p:cNvGrpSpPr/>
        <p:nvPr/>
      </p:nvGrpSpPr>
      <p:grpSpPr>
        <a:xfrm>
          <a:off x="0" y="0"/>
          <a:ext cx="0" cy="0"/>
          <a:chOff x="0" y="0"/>
          <a:chExt cx="0" cy="0"/>
        </a:xfrm>
      </p:grpSpPr>
      <p:sp>
        <p:nvSpPr>
          <p:cNvPr id="214" name="Google Shape;214;p64"/>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5" name="Google Shape;215;p64"/>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216" name="Google Shape;216;p64"/>
          <p:cNvSpPr/>
          <p:nvPr>
            <p:ph idx="2" type="pic"/>
          </p:nvPr>
        </p:nvSpPr>
        <p:spPr>
          <a:xfrm>
            <a:off x="0" y="0"/>
            <a:ext cx="12192000" cy="6408000"/>
          </a:xfrm>
          <a:prstGeom prst="rect">
            <a:avLst/>
          </a:prstGeom>
          <a:noFill/>
          <a:ln>
            <a:noFill/>
          </a:ln>
        </p:spPr>
      </p:sp>
      <p:sp>
        <p:nvSpPr>
          <p:cNvPr id="217" name="Google Shape;217;p64"/>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18" name="Google Shape;218;p64"/>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9" name="Google Shape;219;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Picture with Content">
  <p:cSld name="11_Picture with Content">
    <p:spTree>
      <p:nvGrpSpPr>
        <p:cNvPr id="222" name="Shape 222"/>
        <p:cNvGrpSpPr/>
        <p:nvPr/>
      </p:nvGrpSpPr>
      <p:grpSpPr>
        <a:xfrm>
          <a:off x="0" y="0"/>
          <a:ext cx="0" cy="0"/>
          <a:chOff x="0" y="0"/>
          <a:chExt cx="0" cy="0"/>
        </a:xfrm>
      </p:grpSpPr>
      <p:sp>
        <p:nvSpPr>
          <p:cNvPr id="223" name="Google Shape;223;p65"/>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4" name="Google Shape;224;p65"/>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225" name="Google Shape;225;p65"/>
          <p:cNvSpPr/>
          <p:nvPr>
            <p:ph idx="2" type="pic"/>
          </p:nvPr>
        </p:nvSpPr>
        <p:spPr>
          <a:xfrm>
            <a:off x="0" y="0"/>
            <a:ext cx="12192000" cy="6408000"/>
          </a:xfrm>
          <a:prstGeom prst="rect">
            <a:avLst/>
          </a:prstGeom>
          <a:noFill/>
          <a:ln>
            <a:noFill/>
          </a:ln>
        </p:spPr>
      </p:sp>
      <p:sp>
        <p:nvSpPr>
          <p:cNvPr id="226" name="Google Shape;226;p65"/>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27" name="Google Shape;227;p65"/>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 name="Google Shape;228;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0" name="Google Shape;230;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Picture with Content">
  <p:cSld name="12_Picture with Content">
    <p:spTree>
      <p:nvGrpSpPr>
        <p:cNvPr id="231" name="Shape 231"/>
        <p:cNvGrpSpPr/>
        <p:nvPr/>
      </p:nvGrpSpPr>
      <p:grpSpPr>
        <a:xfrm>
          <a:off x="0" y="0"/>
          <a:ext cx="0" cy="0"/>
          <a:chOff x="0" y="0"/>
          <a:chExt cx="0" cy="0"/>
        </a:xfrm>
      </p:grpSpPr>
      <p:sp>
        <p:nvSpPr>
          <p:cNvPr id="232" name="Google Shape;232;p66"/>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3" name="Google Shape;233;p66"/>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234" name="Google Shape;234;p66"/>
          <p:cNvSpPr/>
          <p:nvPr>
            <p:ph idx="2" type="pic"/>
          </p:nvPr>
        </p:nvSpPr>
        <p:spPr>
          <a:xfrm>
            <a:off x="0" y="0"/>
            <a:ext cx="12192000" cy="6408000"/>
          </a:xfrm>
          <a:prstGeom prst="rect">
            <a:avLst/>
          </a:prstGeom>
          <a:noFill/>
          <a:ln>
            <a:noFill/>
          </a:ln>
        </p:spPr>
      </p:sp>
      <p:sp>
        <p:nvSpPr>
          <p:cNvPr id="235" name="Google Shape;235;p66"/>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36" name="Google Shape;236;p66"/>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 name="Google Shape;237;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Picture with Content">
  <p:cSld name="13_Picture with Content">
    <p:spTree>
      <p:nvGrpSpPr>
        <p:cNvPr id="240" name="Shape 240"/>
        <p:cNvGrpSpPr/>
        <p:nvPr/>
      </p:nvGrpSpPr>
      <p:grpSpPr>
        <a:xfrm>
          <a:off x="0" y="0"/>
          <a:ext cx="0" cy="0"/>
          <a:chOff x="0" y="0"/>
          <a:chExt cx="0" cy="0"/>
        </a:xfrm>
      </p:grpSpPr>
      <p:sp>
        <p:nvSpPr>
          <p:cNvPr id="241" name="Google Shape;241;p67"/>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2" name="Google Shape;242;p67"/>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243" name="Google Shape;243;p67"/>
          <p:cNvSpPr/>
          <p:nvPr>
            <p:ph idx="2" type="pic"/>
          </p:nvPr>
        </p:nvSpPr>
        <p:spPr>
          <a:xfrm>
            <a:off x="0" y="0"/>
            <a:ext cx="12192000" cy="6408000"/>
          </a:xfrm>
          <a:prstGeom prst="rect">
            <a:avLst/>
          </a:prstGeom>
          <a:noFill/>
          <a:ln>
            <a:noFill/>
          </a:ln>
        </p:spPr>
      </p:sp>
      <p:sp>
        <p:nvSpPr>
          <p:cNvPr id="244" name="Google Shape;244;p67"/>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45" name="Google Shape;245;p67"/>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 name="Google Shape;246;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7" name="Google Shape;247;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Picture with Content">
  <p:cSld name="14_Picture with Content">
    <p:spTree>
      <p:nvGrpSpPr>
        <p:cNvPr id="249" name="Shape 249"/>
        <p:cNvGrpSpPr/>
        <p:nvPr/>
      </p:nvGrpSpPr>
      <p:grpSpPr>
        <a:xfrm>
          <a:off x="0" y="0"/>
          <a:ext cx="0" cy="0"/>
          <a:chOff x="0" y="0"/>
          <a:chExt cx="0" cy="0"/>
        </a:xfrm>
      </p:grpSpPr>
      <p:sp>
        <p:nvSpPr>
          <p:cNvPr id="250" name="Google Shape;250;p68"/>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1" name="Google Shape;251;p68"/>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252" name="Google Shape;252;p68"/>
          <p:cNvSpPr/>
          <p:nvPr>
            <p:ph idx="2" type="pic"/>
          </p:nvPr>
        </p:nvSpPr>
        <p:spPr>
          <a:xfrm>
            <a:off x="0" y="0"/>
            <a:ext cx="12192000" cy="6408000"/>
          </a:xfrm>
          <a:prstGeom prst="rect">
            <a:avLst/>
          </a:prstGeom>
          <a:noFill/>
          <a:ln>
            <a:noFill/>
          </a:ln>
        </p:spPr>
      </p:sp>
      <p:sp>
        <p:nvSpPr>
          <p:cNvPr id="253" name="Google Shape;253;p68"/>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54" name="Google Shape;254;p68"/>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5" name="Google Shape;255;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6" name="Google Shape;256;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Picture with Content">
  <p:cSld name="15_Picture with Content">
    <p:spTree>
      <p:nvGrpSpPr>
        <p:cNvPr id="258" name="Shape 258"/>
        <p:cNvGrpSpPr/>
        <p:nvPr/>
      </p:nvGrpSpPr>
      <p:grpSpPr>
        <a:xfrm>
          <a:off x="0" y="0"/>
          <a:ext cx="0" cy="0"/>
          <a:chOff x="0" y="0"/>
          <a:chExt cx="0" cy="0"/>
        </a:xfrm>
      </p:grpSpPr>
      <p:sp>
        <p:nvSpPr>
          <p:cNvPr id="259" name="Google Shape;259;p69"/>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0" name="Google Shape;260;p69"/>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261" name="Google Shape;261;p69"/>
          <p:cNvSpPr/>
          <p:nvPr>
            <p:ph idx="2" type="pic"/>
          </p:nvPr>
        </p:nvSpPr>
        <p:spPr>
          <a:xfrm>
            <a:off x="0" y="0"/>
            <a:ext cx="12192000" cy="6408000"/>
          </a:xfrm>
          <a:prstGeom prst="rect">
            <a:avLst/>
          </a:prstGeom>
          <a:noFill/>
          <a:ln>
            <a:noFill/>
          </a:ln>
        </p:spPr>
      </p:sp>
      <p:sp>
        <p:nvSpPr>
          <p:cNvPr id="262" name="Google Shape;262;p69"/>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63" name="Google Shape;263;p69"/>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 name="Google Shape;264;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5" name="Google Shape;265;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6" name="Google Shape;266;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Picture with Content">
  <p:cSld name="16_Picture with Content">
    <p:spTree>
      <p:nvGrpSpPr>
        <p:cNvPr id="267" name="Shape 267"/>
        <p:cNvGrpSpPr/>
        <p:nvPr/>
      </p:nvGrpSpPr>
      <p:grpSpPr>
        <a:xfrm>
          <a:off x="0" y="0"/>
          <a:ext cx="0" cy="0"/>
          <a:chOff x="0" y="0"/>
          <a:chExt cx="0" cy="0"/>
        </a:xfrm>
      </p:grpSpPr>
      <p:sp>
        <p:nvSpPr>
          <p:cNvPr id="268" name="Google Shape;268;p70"/>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9" name="Google Shape;269;p70"/>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270" name="Google Shape;270;p70"/>
          <p:cNvSpPr/>
          <p:nvPr>
            <p:ph idx="2" type="pic"/>
          </p:nvPr>
        </p:nvSpPr>
        <p:spPr>
          <a:xfrm>
            <a:off x="0" y="0"/>
            <a:ext cx="12192000" cy="6408000"/>
          </a:xfrm>
          <a:prstGeom prst="rect">
            <a:avLst/>
          </a:prstGeom>
          <a:noFill/>
          <a:ln>
            <a:noFill/>
          </a:ln>
        </p:spPr>
      </p:sp>
      <p:sp>
        <p:nvSpPr>
          <p:cNvPr id="271" name="Google Shape;271;p70"/>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72" name="Google Shape;272;p70"/>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3" name="Google Shape;273;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4" name="Google Shape;274;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5" name="Google Shape;275;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Picture with Content">
  <p:cSld name="17_Picture with Content">
    <p:spTree>
      <p:nvGrpSpPr>
        <p:cNvPr id="276" name="Shape 276"/>
        <p:cNvGrpSpPr/>
        <p:nvPr/>
      </p:nvGrpSpPr>
      <p:grpSpPr>
        <a:xfrm>
          <a:off x="0" y="0"/>
          <a:ext cx="0" cy="0"/>
          <a:chOff x="0" y="0"/>
          <a:chExt cx="0" cy="0"/>
        </a:xfrm>
      </p:grpSpPr>
      <p:sp>
        <p:nvSpPr>
          <p:cNvPr id="277" name="Google Shape;277;p71"/>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8" name="Google Shape;278;p71"/>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279" name="Google Shape;279;p71"/>
          <p:cNvSpPr/>
          <p:nvPr>
            <p:ph idx="2" type="pic"/>
          </p:nvPr>
        </p:nvSpPr>
        <p:spPr>
          <a:xfrm>
            <a:off x="0" y="0"/>
            <a:ext cx="12192000" cy="6408000"/>
          </a:xfrm>
          <a:prstGeom prst="rect">
            <a:avLst/>
          </a:prstGeom>
          <a:noFill/>
          <a:ln>
            <a:noFill/>
          </a:ln>
        </p:spPr>
      </p:sp>
      <p:sp>
        <p:nvSpPr>
          <p:cNvPr id="280" name="Google Shape;280;p71"/>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81" name="Google Shape;281;p71"/>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 name="Google Shape;282;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3" name="Google Shape;283;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4" name="Google Shape;284;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Picture with Content">
  <p:cSld name="18_Picture with Content">
    <p:spTree>
      <p:nvGrpSpPr>
        <p:cNvPr id="285" name="Shape 285"/>
        <p:cNvGrpSpPr/>
        <p:nvPr/>
      </p:nvGrpSpPr>
      <p:grpSpPr>
        <a:xfrm>
          <a:off x="0" y="0"/>
          <a:ext cx="0" cy="0"/>
          <a:chOff x="0" y="0"/>
          <a:chExt cx="0" cy="0"/>
        </a:xfrm>
      </p:grpSpPr>
      <p:sp>
        <p:nvSpPr>
          <p:cNvPr id="286" name="Google Shape;286;p72"/>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7" name="Google Shape;287;p72"/>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288" name="Google Shape;288;p72"/>
          <p:cNvSpPr/>
          <p:nvPr>
            <p:ph idx="2" type="pic"/>
          </p:nvPr>
        </p:nvSpPr>
        <p:spPr>
          <a:xfrm>
            <a:off x="0" y="0"/>
            <a:ext cx="12192000" cy="6408000"/>
          </a:xfrm>
          <a:prstGeom prst="rect">
            <a:avLst/>
          </a:prstGeom>
          <a:noFill/>
          <a:ln>
            <a:noFill/>
          </a:ln>
        </p:spPr>
      </p:sp>
      <p:sp>
        <p:nvSpPr>
          <p:cNvPr id="289" name="Google Shape;289;p72"/>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90" name="Google Shape;290;p72"/>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1" name="Google Shape;291;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2" name="Google Shape;292;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3" name="Google Shape;293;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Picture with Content">
  <p:cSld name="19_Picture with Content">
    <p:spTree>
      <p:nvGrpSpPr>
        <p:cNvPr id="294" name="Shape 294"/>
        <p:cNvGrpSpPr/>
        <p:nvPr/>
      </p:nvGrpSpPr>
      <p:grpSpPr>
        <a:xfrm>
          <a:off x="0" y="0"/>
          <a:ext cx="0" cy="0"/>
          <a:chOff x="0" y="0"/>
          <a:chExt cx="0" cy="0"/>
        </a:xfrm>
      </p:grpSpPr>
      <p:sp>
        <p:nvSpPr>
          <p:cNvPr id="295" name="Google Shape;295;p73"/>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6" name="Google Shape;296;p73"/>
          <p:cNvCxnSpPr/>
          <p:nvPr/>
        </p:nvCxnSpPr>
        <p:spPr>
          <a:xfrm>
            <a:off x="0" y="1282700"/>
            <a:ext cx="12192000" cy="0"/>
          </a:xfrm>
          <a:prstGeom prst="straightConnector1">
            <a:avLst/>
          </a:prstGeom>
          <a:noFill/>
          <a:ln cap="flat" cmpd="sng" w="12700">
            <a:solidFill>
              <a:srgbClr val="3F3F3F"/>
            </a:solidFill>
            <a:prstDash val="solid"/>
            <a:miter lim="800000"/>
            <a:headEnd len="sm" w="sm" type="none"/>
            <a:tailEnd len="sm" w="sm" type="none"/>
          </a:ln>
        </p:spPr>
      </p:cxnSp>
      <p:sp>
        <p:nvSpPr>
          <p:cNvPr id="297" name="Google Shape;297;p73"/>
          <p:cNvSpPr/>
          <p:nvPr>
            <p:ph idx="2" type="pic"/>
          </p:nvPr>
        </p:nvSpPr>
        <p:spPr>
          <a:xfrm>
            <a:off x="0" y="0"/>
            <a:ext cx="12192000" cy="6408000"/>
          </a:xfrm>
          <a:prstGeom prst="rect">
            <a:avLst/>
          </a:prstGeom>
          <a:noFill/>
          <a:ln>
            <a:noFill/>
          </a:ln>
        </p:spPr>
      </p:sp>
      <p:sp>
        <p:nvSpPr>
          <p:cNvPr id="298" name="Google Shape;298;p73"/>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99" name="Google Shape;299;p73"/>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0" name="Google Shape;300;p7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1" name="Google Shape;301;p7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2" name="Google Shape;302;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36"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98989"/>
                </a:solidFill>
                <a:latin typeface="Calibri"/>
                <a:ea typeface="Calibri"/>
                <a:cs typeface="Calibri"/>
                <a:sym typeface="Calibri"/>
              </a:defRPr>
            </a:lvl1pPr>
            <a:lvl2pPr indent="0" lvl="1" marL="0" marR="0" rtl="0" algn="r">
              <a:spcBef>
                <a:spcPts val="0"/>
              </a:spcBef>
              <a:spcAft>
                <a:spcPts val="0"/>
              </a:spcAft>
              <a:buNone/>
              <a:defRPr b="0" i="0" sz="1200" u="none" cap="none" strike="noStrike">
                <a:solidFill>
                  <a:srgbClr val="898989"/>
                </a:solidFill>
                <a:latin typeface="Calibri"/>
                <a:ea typeface="Calibri"/>
                <a:cs typeface="Calibri"/>
                <a:sym typeface="Calibri"/>
              </a:defRPr>
            </a:lvl2pPr>
            <a:lvl3pPr indent="0" lvl="2" marL="0" marR="0" rtl="0" algn="r">
              <a:spcBef>
                <a:spcPts val="0"/>
              </a:spcBef>
              <a:spcAft>
                <a:spcPts val="0"/>
              </a:spcAft>
              <a:buNone/>
              <a:defRPr b="0" i="0" sz="1200" u="none" cap="none" strike="noStrike">
                <a:solidFill>
                  <a:srgbClr val="898989"/>
                </a:solidFill>
                <a:latin typeface="Calibri"/>
                <a:ea typeface="Calibri"/>
                <a:cs typeface="Calibri"/>
                <a:sym typeface="Calibri"/>
              </a:defRPr>
            </a:lvl3pPr>
            <a:lvl4pPr indent="0" lvl="3" marL="0" marR="0" rtl="0" algn="r">
              <a:spcBef>
                <a:spcPts val="0"/>
              </a:spcBef>
              <a:spcAft>
                <a:spcPts val="0"/>
              </a:spcAft>
              <a:buNone/>
              <a:defRPr b="0" i="0" sz="1200" u="none" cap="none" strike="noStrike">
                <a:solidFill>
                  <a:srgbClr val="898989"/>
                </a:solidFill>
                <a:latin typeface="Calibri"/>
                <a:ea typeface="Calibri"/>
                <a:cs typeface="Calibri"/>
                <a:sym typeface="Calibri"/>
              </a:defRPr>
            </a:lvl4pPr>
            <a:lvl5pPr indent="0" lvl="4" marL="0" marR="0" rtl="0" algn="r">
              <a:spcBef>
                <a:spcPts val="0"/>
              </a:spcBef>
              <a:spcAft>
                <a:spcPts val="0"/>
              </a:spcAft>
              <a:buNone/>
              <a:defRPr b="0" i="0" sz="1200" u="none" cap="none" strike="noStrike">
                <a:solidFill>
                  <a:srgbClr val="898989"/>
                </a:solidFill>
                <a:latin typeface="Calibri"/>
                <a:ea typeface="Calibri"/>
                <a:cs typeface="Calibri"/>
                <a:sym typeface="Calibri"/>
              </a:defRPr>
            </a:lvl5pPr>
            <a:lvl6pPr indent="0" lvl="5" marL="0" marR="0" rtl="0" algn="r">
              <a:spcBef>
                <a:spcPts val="0"/>
              </a:spcBef>
              <a:spcAft>
                <a:spcPts val="0"/>
              </a:spcAft>
              <a:buNone/>
              <a:defRPr b="0" i="0" sz="1200" u="none" cap="none" strike="noStrike">
                <a:solidFill>
                  <a:srgbClr val="898989"/>
                </a:solidFill>
                <a:latin typeface="Calibri"/>
                <a:ea typeface="Calibri"/>
                <a:cs typeface="Calibri"/>
                <a:sym typeface="Calibri"/>
              </a:defRPr>
            </a:lvl6pPr>
            <a:lvl7pPr indent="0" lvl="6" marL="0" marR="0" rtl="0" algn="r">
              <a:spcBef>
                <a:spcPts val="0"/>
              </a:spcBef>
              <a:spcAft>
                <a:spcPts val="0"/>
              </a:spcAft>
              <a:buNone/>
              <a:defRPr b="0" i="0" sz="1200" u="none" cap="none" strike="noStrike">
                <a:solidFill>
                  <a:srgbClr val="898989"/>
                </a:solidFill>
                <a:latin typeface="Calibri"/>
                <a:ea typeface="Calibri"/>
                <a:cs typeface="Calibri"/>
                <a:sym typeface="Calibri"/>
              </a:defRPr>
            </a:lvl7pPr>
            <a:lvl8pPr indent="0" lvl="7" marL="0" marR="0" rtl="0" algn="r">
              <a:spcBef>
                <a:spcPts val="0"/>
              </a:spcBef>
              <a:spcAft>
                <a:spcPts val="0"/>
              </a:spcAft>
              <a:buNone/>
              <a:defRPr b="0" i="0" sz="1200" u="none" cap="none" strike="noStrike">
                <a:solidFill>
                  <a:srgbClr val="898989"/>
                </a:solidFill>
                <a:latin typeface="Calibri"/>
                <a:ea typeface="Calibri"/>
                <a:cs typeface="Calibri"/>
                <a:sym typeface="Calibri"/>
              </a:defRPr>
            </a:lvl8pPr>
            <a:lvl9pPr indent="0" lvl="8" marL="0" marR="0" rtl="0" algn="r">
              <a:spcBef>
                <a:spcPts val="0"/>
              </a:spcBef>
              <a:spcAft>
                <a:spcPts val="0"/>
              </a:spcAft>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24.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27.png"/><Relationship Id="rId7" Type="http://schemas.openxmlformats.org/officeDocument/2006/relationships/image" Target="../media/image11.png"/><Relationship Id="rId8"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30.png"/><Relationship Id="rId7"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28.png"/><Relationship Id="rId7" Type="http://schemas.openxmlformats.org/officeDocument/2006/relationships/image" Target="../media/image26.png"/><Relationship Id="rId8"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23.png"/><Relationship Id="rId7"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37.png"/><Relationship Id="rId4" Type="http://schemas.openxmlformats.org/officeDocument/2006/relationships/image" Target="../media/image5.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descr="Two women engineers in the laboratory" id="308" name="Google Shape;308;p1"/>
          <p:cNvPicPr preferRelativeResize="0"/>
          <p:nvPr/>
        </p:nvPicPr>
        <p:blipFill rotWithShape="1">
          <a:blip r:embed="rId3">
            <a:alphaModFix/>
          </a:blip>
          <a:srcRect b="0" l="0" r="0" t="0"/>
          <a:stretch/>
        </p:blipFill>
        <p:spPr>
          <a:xfrm>
            <a:off x="0" y="0"/>
            <a:ext cx="12192000" cy="4914900"/>
          </a:xfrm>
          <a:prstGeom prst="rect">
            <a:avLst/>
          </a:prstGeom>
          <a:noFill/>
          <a:ln>
            <a:noFill/>
          </a:ln>
        </p:spPr>
      </p:pic>
      <p:sp>
        <p:nvSpPr>
          <p:cNvPr id="309" name="Google Shape;309;p1"/>
          <p:cNvSpPr/>
          <p:nvPr/>
        </p:nvSpPr>
        <p:spPr>
          <a:xfrm>
            <a:off x="1588" y="4914900"/>
            <a:ext cx="12188825" cy="19431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
          <p:cNvSpPr txBox="1"/>
          <p:nvPr>
            <p:ph type="ctrTitle"/>
          </p:nvPr>
        </p:nvSpPr>
        <p:spPr>
          <a:xfrm>
            <a:off x="828675" y="5121275"/>
            <a:ext cx="7137400" cy="1279525"/>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None/>
            </a:pPr>
            <a:r>
              <a:rPr lang="en-US" sz="4800">
                <a:solidFill>
                  <a:srgbClr val="FFFFFF"/>
                </a:solidFill>
              </a:rPr>
              <a:t>Pengantar Industri Otomotif (PIO)</a:t>
            </a:r>
            <a:br>
              <a:rPr lang="en-US" sz="4800">
                <a:solidFill>
                  <a:srgbClr val="FFFFFF"/>
                </a:solidFill>
              </a:rPr>
            </a:br>
            <a:r>
              <a:rPr lang="en-US" sz="2200">
                <a:solidFill>
                  <a:srgbClr val="FFFFFF"/>
                </a:solidFill>
              </a:rPr>
              <a:t>PROGRAM STUDI SISTEM INFORMASI INDUSTRI OTOMOTIF</a:t>
            </a:r>
            <a:endParaRPr sz="4800">
              <a:solidFill>
                <a:srgbClr val="FFFFFF"/>
              </a:solidFill>
            </a:endParaRPr>
          </a:p>
        </p:txBody>
      </p:sp>
      <p:sp>
        <p:nvSpPr>
          <p:cNvPr id="311" name="Google Shape;311;p1"/>
          <p:cNvSpPr txBox="1"/>
          <p:nvPr>
            <p:ph idx="1" type="subTitle"/>
          </p:nvPr>
        </p:nvSpPr>
        <p:spPr>
          <a:xfrm>
            <a:off x="8289925" y="5165725"/>
            <a:ext cx="3073400" cy="118903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2400"/>
              <a:buNone/>
            </a:pPr>
            <a:r>
              <a:rPr lang="en-US">
                <a:solidFill>
                  <a:schemeClr val="lt1"/>
                </a:solidFill>
                <a:latin typeface="Calibri"/>
                <a:ea typeface="Calibri"/>
                <a:cs typeface="Calibri"/>
                <a:sym typeface="Calibri"/>
              </a:rPr>
              <a:t>Pengantar Proses Produksi</a:t>
            </a:r>
            <a:endParaRPr>
              <a:solidFill>
                <a:schemeClr val="lt1"/>
              </a:solidFill>
              <a:latin typeface="Calibri"/>
              <a:ea typeface="Calibri"/>
              <a:cs typeface="Calibri"/>
              <a:sym typeface="Calibri"/>
            </a:endParaRPr>
          </a:p>
        </p:txBody>
      </p:sp>
      <p:cxnSp>
        <p:nvCxnSpPr>
          <p:cNvPr id="312" name="Google Shape;312;p1"/>
          <p:cNvCxnSpPr/>
          <p:nvPr/>
        </p:nvCxnSpPr>
        <p:spPr>
          <a:xfrm rot="-5400000">
            <a:off x="7531894" y="5760244"/>
            <a:ext cx="1189038" cy="0"/>
          </a:xfrm>
          <a:prstGeom prst="straightConnector1">
            <a:avLst/>
          </a:prstGeom>
          <a:noFill/>
          <a:ln cap="flat" cmpd="sng" w="19050">
            <a:solidFill>
              <a:schemeClr val="accent1"/>
            </a:solidFill>
            <a:prstDash val="solid"/>
            <a:miter lim="800000"/>
            <a:headEnd len="sm" w="sm" type="none"/>
            <a:tailEnd len="sm" w="sm" type="none"/>
          </a:ln>
        </p:spPr>
      </p:cxnSp>
      <p:pic>
        <p:nvPicPr>
          <p:cNvPr id="313" name="Google Shape;313;p1"/>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314" name="Google Shape;314;p1"/>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descr="Two women engineers in the laboratory" id="320" name="Google Shape;320;p2"/>
          <p:cNvPicPr preferRelativeResize="0"/>
          <p:nvPr/>
        </p:nvPicPr>
        <p:blipFill rotWithShape="1">
          <a:blip r:embed="rId3">
            <a:alphaModFix/>
          </a:blip>
          <a:srcRect b="0" l="0" r="0" t="0"/>
          <a:stretch/>
        </p:blipFill>
        <p:spPr>
          <a:xfrm>
            <a:off x="0" y="0"/>
            <a:ext cx="12192000" cy="4914900"/>
          </a:xfrm>
          <a:prstGeom prst="rect">
            <a:avLst/>
          </a:prstGeom>
          <a:noFill/>
          <a:ln>
            <a:noFill/>
          </a:ln>
        </p:spPr>
      </p:pic>
      <p:sp>
        <p:nvSpPr>
          <p:cNvPr id="321" name="Google Shape;321;p2"/>
          <p:cNvSpPr/>
          <p:nvPr/>
        </p:nvSpPr>
        <p:spPr>
          <a:xfrm>
            <a:off x="1588" y="4914900"/>
            <a:ext cx="12188825" cy="19431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
          <p:cNvSpPr txBox="1"/>
          <p:nvPr>
            <p:ph idx="1" type="subTitle"/>
          </p:nvPr>
        </p:nvSpPr>
        <p:spPr>
          <a:xfrm>
            <a:off x="8289925" y="5165725"/>
            <a:ext cx="3902075" cy="158591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2000"/>
              <a:buNone/>
            </a:pPr>
            <a:r>
              <a:rPr lang="en-US" sz="2000">
                <a:solidFill>
                  <a:schemeClr val="lt1"/>
                </a:solidFill>
              </a:rPr>
              <a:t>Prepared by:</a:t>
            </a:r>
            <a:endParaRPr/>
          </a:p>
          <a:p>
            <a:pPr indent="-342900" lvl="0" marL="342900" rtl="0" algn="ctr">
              <a:lnSpc>
                <a:spcPct val="90000"/>
              </a:lnSpc>
              <a:spcBef>
                <a:spcPts val="1000"/>
              </a:spcBef>
              <a:spcAft>
                <a:spcPts val="0"/>
              </a:spcAft>
              <a:buClr>
                <a:schemeClr val="lt1"/>
              </a:buClr>
              <a:buSzPts val="2000"/>
              <a:buFont typeface="Calibri"/>
              <a:buAutoNum type="arabicPeriod"/>
            </a:pPr>
            <a:r>
              <a:rPr lang="en-US" sz="2000">
                <a:solidFill>
                  <a:schemeClr val="lt1"/>
                </a:solidFill>
              </a:rPr>
              <a:t>Dr. Siti Aisyah, S.T., M.T.</a:t>
            </a:r>
            <a:endParaRPr/>
          </a:p>
        </p:txBody>
      </p:sp>
      <p:cxnSp>
        <p:nvCxnSpPr>
          <p:cNvPr id="323" name="Google Shape;323;p2"/>
          <p:cNvCxnSpPr/>
          <p:nvPr/>
        </p:nvCxnSpPr>
        <p:spPr>
          <a:xfrm rot="-5400000">
            <a:off x="7531894" y="5760244"/>
            <a:ext cx="1189038" cy="0"/>
          </a:xfrm>
          <a:prstGeom prst="straightConnector1">
            <a:avLst/>
          </a:prstGeom>
          <a:noFill/>
          <a:ln cap="flat" cmpd="sng" w="19050">
            <a:solidFill>
              <a:schemeClr val="accent1"/>
            </a:solidFill>
            <a:prstDash val="solid"/>
            <a:miter lim="800000"/>
            <a:headEnd len="sm" w="sm" type="none"/>
            <a:tailEnd len="sm" w="sm" type="none"/>
          </a:ln>
        </p:spPr>
      </p:cxnSp>
      <p:pic>
        <p:nvPicPr>
          <p:cNvPr id="324" name="Google Shape;324;p2"/>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325" name="Google Shape;325;p2"/>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sp>
        <p:nvSpPr>
          <p:cNvPr id="326" name="Google Shape;326;p2"/>
          <p:cNvSpPr txBox="1"/>
          <p:nvPr/>
        </p:nvSpPr>
        <p:spPr>
          <a:xfrm>
            <a:off x="828675" y="5121275"/>
            <a:ext cx="7137400" cy="1279525"/>
          </a:xfrm>
          <a:prstGeom prst="rect">
            <a:avLst/>
          </a:prstGeom>
          <a:noFill/>
          <a:ln>
            <a:noFill/>
          </a:ln>
        </p:spPr>
        <p:txBody>
          <a:bodyPr anchorCtr="0" anchor="ctr" bIns="45700" lIns="91425" spcFirstLastPara="1" rIns="91425" wrap="square" tIns="45700">
            <a:normAutofit fontScale="97500"/>
          </a:bodyPr>
          <a:lstStyle/>
          <a:p>
            <a:pPr indent="0" lvl="0" marL="0" marR="0" rtl="0" algn="r">
              <a:lnSpc>
                <a:spcPct val="90000"/>
              </a:lnSpc>
              <a:spcBef>
                <a:spcPts val="0"/>
              </a:spcBef>
              <a:spcAft>
                <a:spcPts val="0"/>
              </a:spcAft>
              <a:buNone/>
            </a:pPr>
            <a:r>
              <a:rPr b="0" i="0" lang="en-US" sz="4800" u="none" cap="none" strike="noStrike">
                <a:solidFill>
                  <a:srgbClr val="FFFFFF"/>
                </a:solidFill>
                <a:latin typeface="Calibri"/>
                <a:ea typeface="Calibri"/>
                <a:cs typeface="Calibri"/>
                <a:sym typeface="Calibri"/>
              </a:rPr>
              <a:t>Pengantar Proses Produksi</a:t>
            </a:r>
            <a:endParaRPr b="0" i="0" sz="4800" u="none" cap="none" strike="noStrike">
              <a:solidFill>
                <a:srgbClr val="FFFFFF"/>
              </a:solidFill>
              <a:latin typeface="Calibri"/>
              <a:ea typeface="Calibri"/>
              <a:cs typeface="Calibri"/>
              <a:sym typeface="Calibri"/>
            </a:endParaRPr>
          </a:p>
          <a:p>
            <a:pPr indent="0" lvl="0" marL="0" marR="0" rtl="0" algn="r">
              <a:lnSpc>
                <a:spcPct val="90000"/>
              </a:lnSpc>
              <a:spcBef>
                <a:spcPts val="0"/>
              </a:spcBef>
              <a:spcAft>
                <a:spcPts val="0"/>
              </a:spcAft>
              <a:buNone/>
            </a:pPr>
            <a:r>
              <a:rPr b="0" i="0" lang="en-US" sz="2200" u="none" cap="none" strike="noStrike">
                <a:solidFill>
                  <a:srgbClr val="FFFFFF"/>
                </a:solidFill>
                <a:latin typeface="Calibri"/>
                <a:ea typeface="Calibri"/>
                <a:cs typeface="Calibri"/>
                <a:sym typeface="Calibri"/>
              </a:rPr>
              <a:t>PROGRAM STUDI TEKNIK INDUSTRI OTOMOTIF</a:t>
            </a:r>
            <a:endParaRPr b="0" i="0" sz="4800" u="none" cap="none" strike="noStrike">
              <a:solidFill>
                <a:srgbClr val="FFFFFF"/>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descr="Man shows something on laptop" id="332" name="Google Shape;332;p3"/>
          <p:cNvPicPr preferRelativeResize="0"/>
          <p:nvPr>
            <p:ph idx="2" type="pic"/>
          </p:nvPr>
        </p:nvPicPr>
        <p:blipFill rotWithShape="1">
          <a:blip r:embed="rId3">
            <a:alphaModFix/>
          </a:blip>
          <a:srcRect b="0" l="0" r="0" t="0"/>
          <a:stretch/>
        </p:blipFill>
        <p:spPr>
          <a:xfrm>
            <a:off x="0" y="13447"/>
            <a:ext cx="12204700" cy="6413500"/>
          </a:xfrm>
          <a:prstGeom prst="rect">
            <a:avLst/>
          </a:prstGeom>
          <a:noFill/>
          <a:ln>
            <a:noFill/>
          </a:ln>
        </p:spPr>
      </p:pic>
      <p:sp>
        <p:nvSpPr>
          <p:cNvPr id="333" name="Google Shape;333;p3"/>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a:solidFill>
                  <a:srgbClr val="3F3F3F"/>
                </a:solidFill>
              </a:rPr>
              <a:t>Konsep Dasar</a:t>
            </a:r>
            <a:endParaRPr b="1">
              <a:solidFill>
                <a:srgbClr val="3F3F3F"/>
              </a:solidFill>
            </a:endParaRPr>
          </a:p>
        </p:txBody>
      </p:sp>
      <p:sp>
        <p:nvSpPr>
          <p:cNvPr id="334" name="Google Shape;334;p3"/>
          <p:cNvSpPr txBox="1"/>
          <p:nvPr>
            <p:ph idx="1" type="body"/>
          </p:nvPr>
        </p:nvSpPr>
        <p:spPr>
          <a:xfrm>
            <a:off x="446088" y="1812925"/>
            <a:ext cx="11207750" cy="408781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3200"/>
              <a:buChar char="•"/>
            </a:pPr>
            <a:r>
              <a:rPr b="1" lang="en-US" sz="3200"/>
              <a:t>Produksi : </a:t>
            </a:r>
            <a:r>
              <a:rPr lang="en-US" sz="3200"/>
              <a:t>Suatu proses pengubah bahan baku menjadi produk jadi</a:t>
            </a:r>
            <a:endParaRPr/>
          </a:p>
          <a:p>
            <a:pPr indent="-25400" lvl="0" marL="228600" rtl="0" algn="l">
              <a:lnSpc>
                <a:spcPct val="90000"/>
              </a:lnSpc>
              <a:spcBef>
                <a:spcPts val="1000"/>
              </a:spcBef>
              <a:spcAft>
                <a:spcPts val="0"/>
              </a:spcAft>
              <a:buClr>
                <a:schemeClr val="dk1"/>
              </a:buClr>
              <a:buSzPts val="3200"/>
              <a:buNone/>
            </a:pPr>
            <a:r>
              <a:t/>
            </a:r>
            <a:endParaRPr sz="3200"/>
          </a:p>
          <a:p>
            <a:pPr indent="-228600" lvl="0" marL="228600" rtl="0" algn="l">
              <a:lnSpc>
                <a:spcPct val="90000"/>
              </a:lnSpc>
              <a:spcBef>
                <a:spcPts val="1000"/>
              </a:spcBef>
              <a:spcAft>
                <a:spcPts val="0"/>
              </a:spcAft>
              <a:buClr>
                <a:schemeClr val="dk1"/>
              </a:buClr>
              <a:buSzPts val="3200"/>
              <a:buChar char="•"/>
            </a:pPr>
            <a:r>
              <a:rPr b="1" lang="en-US" sz="3200"/>
              <a:t>Sistem Produksi : </a:t>
            </a:r>
            <a:r>
              <a:rPr lang="en-US" sz="3200"/>
              <a:t>Sekelompok aktivitas untuk pembuatan suatu produk, dimana dalam pembuatannya melibatkan TK, BB, Energi, Mesin,Informasin, Modal, dll</a:t>
            </a:r>
            <a:endParaRPr/>
          </a:p>
        </p:txBody>
      </p:sp>
      <p:sp>
        <p:nvSpPr>
          <p:cNvPr id="335" name="Google Shape;33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336" name="Google Shape;33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cap="none" strike="noStrike">
                <a:solidFill>
                  <a:srgbClr val="FFFFFF"/>
                </a:solidFill>
                <a:latin typeface="Calibri"/>
                <a:ea typeface="Calibri"/>
                <a:cs typeface="Calibri"/>
                <a:sym typeface="Calibri"/>
              </a:rPr>
              <a:t>‹#›</a:t>
            </a:fld>
            <a:endParaRPr b="0" i="0" sz="1200" u="none" cap="none" strike="noStrike">
              <a:solidFill>
                <a:srgbClr val="FFFFFF"/>
              </a:solidFill>
              <a:latin typeface="Calibri"/>
              <a:ea typeface="Calibri"/>
              <a:cs typeface="Calibri"/>
              <a:sym typeface="Calibri"/>
            </a:endParaRPr>
          </a:p>
        </p:txBody>
      </p:sp>
      <p:pic>
        <p:nvPicPr>
          <p:cNvPr id="337" name="Google Shape;337;p3"/>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338" name="Google Shape;338;p3"/>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descr="Man shows something on laptop" id="344" name="Google Shape;344;p4"/>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345" name="Google Shape;345;p4"/>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a:solidFill>
                  <a:srgbClr val="3F3F3F"/>
                </a:solidFill>
              </a:rPr>
              <a:t>Sistem Produksi Terdiri dari :</a:t>
            </a:r>
            <a:endParaRPr b="1">
              <a:solidFill>
                <a:srgbClr val="3F3F3F"/>
              </a:solidFill>
            </a:endParaRPr>
          </a:p>
        </p:txBody>
      </p:sp>
      <p:graphicFrame>
        <p:nvGraphicFramePr>
          <p:cNvPr id="346" name="Google Shape;346;p4"/>
          <p:cNvGraphicFramePr/>
          <p:nvPr/>
        </p:nvGraphicFramePr>
        <p:xfrm>
          <a:off x="339725" y="1547813"/>
          <a:ext cx="3000000" cy="3000000"/>
        </p:xfrm>
        <a:graphic>
          <a:graphicData uri="http://schemas.openxmlformats.org/drawingml/2006/table">
            <a:tbl>
              <a:tblPr bandRow="1" firstRow="1">
                <a:noFill/>
                <a:tableStyleId>{EC4EB369-75F2-4E0B-95F8-B342EE0B7100}</a:tableStyleId>
              </a:tblPr>
              <a:tblGrid>
                <a:gridCol w="3211175"/>
                <a:gridCol w="8102925"/>
              </a:tblGrid>
              <a:tr h="1497000">
                <a:tc>
                  <a:txBody>
                    <a:bodyPr/>
                    <a:lstStyle/>
                    <a:p>
                      <a:pPr indent="0" lvl="0" marL="0" marR="0" rtl="0" algn="l">
                        <a:spcBef>
                          <a:spcPts val="0"/>
                        </a:spcBef>
                        <a:spcAft>
                          <a:spcPts val="0"/>
                        </a:spcAft>
                        <a:buNone/>
                      </a:pPr>
                      <a:r>
                        <a:rPr lang="en-US" sz="2800" u="none" cap="none" strike="noStrike"/>
                        <a:t>Proses Produksi </a:t>
                      </a:r>
                      <a:endParaRPr/>
                    </a:p>
                  </a:txBody>
                  <a:tcPr marT="45725" marB="45725" marR="91450" marL="91450"/>
                </a:tc>
                <a:tc>
                  <a:txBody>
                    <a:bodyPr/>
                    <a:lstStyle/>
                    <a:p>
                      <a:pPr indent="0" lvl="0" marL="0" marR="0" rtl="0" algn="l">
                        <a:spcBef>
                          <a:spcPts val="0"/>
                        </a:spcBef>
                        <a:spcAft>
                          <a:spcPts val="0"/>
                        </a:spcAft>
                        <a:buNone/>
                      </a:pPr>
                      <a:r>
                        <a:rPr b="0" lang="en-US" sz="2800"/>
                        <a:t>Motode atau Teknik yang digunakan dalam mengolah bahan baku menjadi produk</a:t>
                      </a:r>
                      <a:endParaRPr b="0" sz="2800"/>
                    </a:p>
                  </a:txBody>
                  <a:tcPr marT="45725" marB="45725" marR="91450" marL="91450"/>
                </a:tc>
              </a:tr>
              <a:tr h="1497000">
                <a:tc>
                  <a:txBody>
                    <a:bodyPr/>
                    <a:lstStyle/>
                    <a:p>
                      <a:pPr indent="0" lvl="0" marL="0" marR="0" rtl="0" algn="l">
                        <a:spcBef>
                          <a:spcPts val="0"/>
                        </a:spcBef>
                        <a:spcAft>
                          <a:spcPts val="0"/>
                        </a:spcAft>
                        <a:buNone/>
                      </a:pPr>
                      <a:r>
                        <a:rPr b="1" lang="en-US" sz="2800"/>
                        <a:t>Perencanaan Produksi</a:t>
                      </a:r>
                      <a:endParaRPr b="1" sz="2800"/>
                    </a:p>
                  </a:txBody>
                  <a:tcPr marT="45725" marB="45725" marR="91450" marL="91450"/>
                </a:tc>
                <a:tc>
                  <a:txBody>
                    <a:bodyPr/>
                    <a:lstStyle/>
                    <a:p>
                      <a:pPr indent="0" lvl="0" marL="0" marR="0" rtl="0" algn="l">
                        <a:spcBef>
                          <a:spcPts val="0"/>
                        </a:spcBef>
                        <a:spcAft>
                          <a:spcPts val="0"/>
                        </a:spcAft>
                        <a:buNone/>
                      </a:pPr>
                      <a:r>
                        <a:rPr lang="en-US" sz="2800"/>
                        <a:t>Merupakan tindakan  antisipasi terhadap sesuatu sesuai dengan periode waktu yang direncanakan</a:t>
                      </a:r>
                      <a:endParaRPr sz="2800"/>
                    </a:p>
                  </a:txBody>
                  <a:tcPr marT="45725" marB="45725" marR="91450" marL="91450"/>
                </a:tc>
              </a:tr>
              <a:tr h="1497000">
                <a:tc>
                  <a:txBody>
                    <a:bodyPr/>
                    <a:lstStyle/>
                    <a:p>
                      <a:pPr indent="0" lvl="0" marL="0" marR="0" rtl="0" algn="l">
                        <a:spcBef>
                          <a:spcPts val="0"/>
                        </a:spcBef>
                        <a:spcAft>
                          <a:spcPts val="0"/>
                        </a:spcAft>
                        <a:buNone/>
                      </a:pPr>
                      <a:r>
                        <a:rPr b="1" lang="en-US" sz="2800"/>
                        <a:t>Pengendalian Produksi</a:t>
                      </a:r>
                      <a:endParaRPr b="1" sz="2800"/>
                    </a:p>
                  </a:txBody>
                  <a:tcPr marT="45725" marB="45725" marR="91450" marL="91450"/>
                </a:tc>
                <a:tc>
                  <a:txBody>
                    <a:bodyPr/>
                    <a:lstStyle/>
                    <a:p>
                      <a:pPr indent="0" lvl="0" marL="0" marR="0" rtl="0" algn="l">
                        <a:spcBef>
                          <a:spcPts val="0"/>
                        </a:spcBef>
                        <a:spcAft>
                          <a:spcPts val="0"/>
                        </a:spcAft>
                        <a:buNone/>
                      </a:pPr>
                      <a:r>
                        <a:rPr lang="en-US" sz="2800"/>
                        <a:t>Tindakan yang menjamin bahwa semua kegiatan yang dilaksanakan dalam perencanaan telah dilakukan sesuai dengan target yang telah ditetapkan</a:t>
                      </a:r>
                      <a:endParaRPr sz="2800"/>
                    </a:p>
                  </a:txBody>
                  <a:tcPr marT="45725" marB="45725" marR="91450" marL="91450"/>
                </a:tc>
              </a:tr>
            </a:tbl>
          </a:graphicData>
        </a:graphic>
      </p:graphicFrame>
      <p:sp>
        <p:nvSpPr>
          <p:cNvPr id="347" name="Google Shape;34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348" name="Google Shape;34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cap="none" strike="noStrike">
                <a:solidFill>
                  <a:srgbClr val="FFFFFF"/>
                </a:solidFill>
                <a:latin typeface="Calibri"/>
                <a:ea typeface="Calibri"/>
                <a:cs typeface="Calibri"/>
                <a:sym typeface="Calibri"/>
              </a:rPr>
              <a:t>‹#›</a:t>
            </a:fld>
            <a:endParaRPr b="0" i="0" sz="1200" u="none" cap="none" strike="noStrike">
              <a:solidFill>
                <a:srgbClr val="FFFFFF"/>
              </a:solidFill>
              <a:latin typeface="Calibri"/>
              <a:ea typeface="Calibri"/>
              <a:cs typeface="Calibri"/>
              <a:sym typeface="Calibri"/>
            </a:endParaRPr>
          </a:p>
        </p:txBody>
      </p:sp>
      <p:pic>
        <p:nvPicPr>
          <p:cNvPr id="349" name="Google Shape;349;p4"/>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350" name="Google Shape;350;p4"/>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a:t>Sistem Industri</a:t>
            </a:r>
            <a:endParaRPr b="1"/>
          </a:p>
        </p:txBody>
      </p:sp>
      <p:sp>
        <p:nvSpPr>
          <p:cNvPr id="356" name="Google Shape;356;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357" name="Google Shape;357;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200" u="none" cap="none" strike="noStrike">
              <a:solidFill>
                <a:srgbClr val="898989"/>
              </a:solidFill>
              <a:latin typeface="Calibri"/>
              <a:ea typeface="Calibri"/>
              <a:cs typeface="Calibri"/>
              <a:sym typeface="Calibri"/>
            </a:endParaRPr>
          </a:p>
        </p:txBody>
      </p:sp>
      <p:sp>
        <p:nvSpPr>
          <p:cNvPr id="358" name="Google Shape;358;p5"/>
          <p:cNvSpPr/>
          <p:nvPr/>
        </p:nvSpPr>
        <p:spPr>
          <a:xfrm>
            <a:off x="1063625" y="1590675"/>
            <a:ext cx="2317750" cy="3810000"/>
          </a:xfrm>
          <a:prstGeom prst="roundRect">
            <a:avLst>
              <a:gd fmla="val 16667"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200" u="sng" cap="none" strike="noStrike">
                <a:solidFill>
                  <a:schemeClr val="dk1"/>
                </a:solidFill>
                <a:latin typeface="Calibri"/>
                <a:ea typeface="Calibri"/>
                <a:cs typeface="Calibri"/>
                <a:sym typeface="Calibri"/>
              </a:rPr>
              <a:t>Input :</a:t>
            </a:r>
            <a:endParaRPr/>
          </a:p>
          <a:p>
            <a:pPr indent="0" lvl="0" marL="0" marR="0" rtl="0" algn="ctr">
              <a:spcBef>
                <a:spcPts val="0"/>
              </a:spcBef>
              <a:spcAft>
                <a:spcPts val="0"/>
              </a:spcAft>
              <a:buNone/>
            </a:pPr>
            <a:r>
              <a:t/>
            </a:r>
            <a:endParaRPr b="0" i="0" sz="280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0" i="0" lang="en-US" sz="2800" u="none" cap="none" strike="noStrike">
                <a:solidFill>
                  <a:schemeClr val="dk1"/>
                </a:solidFill>
                <a:latin typeface="Calibri"/>
                <a:ea typeface="Calibri"/>
                <a:cs typeface="Calibri"/>
                <a:sym typeface="Calibri"/>
              </a:rPr>
              <a:t>Material</a:t>
            </a:r>
            <a:endParaRPr/>
          </a:p>
          <a:p>
            <a:pPr indent="0" lvl="0" marL="0" marR="0" rtl="0" algn="ctr">
              <a:spcBef>
                <a:spcPts val="0"/>
              </a:spcBef>
              <a:spcAft>
                <a:spcPts val="0"/>
              </a:spcAft>
              <a:buNone/>
            </a:pPr>
            <a:r>
              <a:rPr b="0" i="0" lang="en-US" sz="2800" u="none" cap="none" strike="noStrike">
                <a:solidFill>
                  <a:schemeClr val="dk1"/>
                </a:solidFill>
                <a:latin typeface="Calibri"/>
                <a:ea typeface="Calibri"/>
                <a:cs typeface="Calibri"/>
                <a:sym typeface="Calibri"/>
              </a:rPr>
              <a:t>Machine</a:t>
            </a:r>
            <a:endParaRPr/>
          </a:p>
          <a:p>
            <a:pPr indent="0" lvl="0" marL="0" marR="0" rtl="0" algn="ctr">
              <a:spcBef>
                <a:spcPts val="0"/>
              </a:spcBef>
              <a:spcAft>
                <a:spcPts val="0"/>
              </a:spcAft>
              <a:buNone/>
            </a:pPr>
            <a:r>
              <a:rPr b="0" i="0" lang="en-US" sz="2800" u="none" cap="none" strike="noStrike">
                <a:solidFill>
                  <a:schemeClr val="dk1"/>
                </a:solidFill>
                <a:latin typeface="Calibri"/>
                <a:ea typeface="Calibri"/>
                <a:cs typeface="Calibri"/>
                <a:sym typeface="Calibri"/>
              </a:rPr>
              <a:t>Money</a:t>
            </a:r>
            <a:endParaRPr/>
          </a:p>
          <a:p>
            <a:pPr indent="0" lvl="0" marL="0" marR="0" rtl="0" algn="ctr">
              <a:spcBef>
                <a:spcPts val="0"/>
              </a:spcBef>
              <a:spcAft>
                <a:spcPts val="0"/>
              </a:spcAft>
              <a:buNone/>
            </a:pPr>
            <a:r>
              <a:rPr b="0" i="0" lang="en-US" sz="2800" u="none" cap="none" strike="noStrike">
                <a:solidFill>
                  <a:schemeClr val="dk1"/>
                </a:solidFill>
                <a:latin typeface="Calibri"/>
                <a:ea typeface="Calibri"/>
                <a:cs typeface="Calibri"/>
                <a:sym typeface="Calibri"/>
              </a:rPr>
              <a:t>Method</a:t>
            </a:r>
            <a:endParaRPr/>
          </a:p>
          <a:p>
            <a:pPr indent="0" lvl="0" marL="0" marR="0" rtl="0" algn="ctr">
              <a:spcBef>
                <a:spcPts val="0"/>
              </a:spcBef>
              <a:spcAft>
                <a:spcPts val="0"/>
              </a:spcAft>
              <a:buNone/>
            </a:pPr>
            <a:r>
              <a:rPr b="0" i="0" lang="en-US" sz="2800" u="none" cap="none" strike="noStrike">
                <a:solidFill>
                  <a:schemeClr val="dk1"/>
                </a:solidFill>
                <a:latin typeface="Calibri"/>
                <a:ea typeface="Calibri"/>
                <a:cs typeface="Calibri"/>
                <a:sym typeface="Calibri"/>
              </a:rPr>
              <a:t>Man</a:t>
            </a:r>
            <a:endParaRPr/>
          </a:p>
          <a:p>
            <a:pPr indent="0" lvl="0" marL="0" marR="0" rtl="0" algn="ctr">
              <a:spcBef>
                <a:spcPts val="0"/>
              </a:spcBef>
              <a:spcAft>
                <a:spcPts val="0"/>
              </a:spcAft>
              <a:buNone/>
            </a:pPr>
            <a:r>
              <a:rPr b="0" i="0" lang="en-US" sz="2800" u="none" cap="none" strike="noStrike">
                <a:solidFill>
                  <a:schemeClr val="dk1"/>
                </a:solidFill>
                <a:latin typeface="Calibri"/>
                <a:ea typeface="Calibri"/>
                <a:cs typeface="Calibri"/>
                <a:sym typeface="Calibri"/>
              </a:rPr>
              <a:t>Information</a:t>
            </a:r>
            <a:endParaRPr/>
          </a:p>
        </p:txBody>
      </p:sp>
      <p:pic>
        <p:nvPicPr>
          <p:cNvPr id="359" name="Google Shape;359;p5"/>
          <p:cNvPicPr preferRelativeResize="0"/>
          <p:nvPr/>
        </p:nvPicPr>
        <p:blipFill rotWithShape="1">
          <a:blip r:embed="rId3">
            <a:alphaModFix/>
          </a:blip>
          <a:srcRect b="0" l="0" r="0" t="0"/>
          <a:stretch/>
        </p:blipFill>
        <p:spPr>
          <a:xfrm>
            <a:off x="11022013" y="106363"/>
            <a:ext cx="1062037" cy="1184275"/>
          </a:xfrm>
          <a:prstGeom prst="rect">
            <a:avLst/>
          </a:prstGeom>
          <a:noFill/>
          <a:ln>
            <a:noFill/>
          </a:ln>
        </p:spPr>
      </p:pic>
      <p:pic>
        <p:nvPicPr>
          <p:cNvPr id="360" name="Google Shape;360;p5"/>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sp>
        <p:nvSpPr>
          <p:cNvPr id="361" name="Google Shape;361;p5"/>
          <p:cNvSpPr/>
          <p:nvPr/>
        </p:nvSpPr>
        <p:spPr>
          <a:xfrm>
            <a:off x="5380038" y="2847975"/>
            <a:ext cx="1849437" cy="1296988"/>
          </a:xfrm>
          <a:prstGeom prst="roundRect">
            <a:avLst>
              <a:gd fmla="val 16667" name="adj"/>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200" u="none" cap="none" strike="noStrike">
                <a:solidFill>
                  <a:schemeClr val="dk1"/>
                </a:solidFill>
                <a:latin typeface="Calibri"/>
                <a:ea typeface="Calibri"/>
                <a:cs typeface="Calibri"/>
                <a:sym typeface="Calibri"/>
              </a:rPr>
              <a:t>Process</a:t>
            </a:r>
            <a:endParaRPr/>
          </a:p>
        </p:txBody>
      </p:sp>
      <p:sp>
        <p:nvSpPr>
          <p:cNvPr id="362" name="Google Shape;362;p5"/>
          <p:cNvSpPr/>
          <p:nvPr/>
        </p:nvSpPr>
        <p:spPr>
          <a:xfrm>
            <a:off x="9531350" y="1590675"/>
            <a:ext cx="2028825" cy="3810000"/>
          </a:xfrm>
          <a:prstGeom prst="roundRect">
            <a:avLst>
              <a:gd fmla="val 16667" name="adj"/>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800" u="sng" cap="none" strike="noStrike">
                <a:solidFill>
                  <a:schemeClr val="dk1"/>
                </a:solidFill>
                <a:latin typeface="Calibri"/>
                <a:ea typeface="Calibri"/>
                <a:cs typeface="Calibri"/>
                <a:sym typeface="Calibri"/>
              </a:rPr>
              <a:t>Output : </a:t>
            </a:r>
            <a:endParaRPr b="0" i="0" sz="280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t/>
            </a:r>
            <a:endParaRPr b="1" i="0" sz="2800" u="sng"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0" i="0" lang="en-US" sz="2800" u="none" cap="none" strike="noStrike">
                <a:solidFill>
                  <a:schemeClr val="dk1"/>
                </a:solidFill>
                <a:latin typeface="Calibri"/>
                <a:ea typeface="Calibri"/>
                <a:cs typeface="Calibri"/>
                <a:sym typeface="Calibri"/>
              </a:rPr>
              <a:t>Barang </a:t>
            </a:r>
            <a:endParaRPr/>
          </a:p>
          <a:p>
            <a:pPr indent="0" lvl="0" marL="0" marR="0" rtl="0" algn="ctr">
              <a:spcBef>
                <a:spcPts val="0"/>
              </a:spcBef>
              <a:spcAft>
                <a:spcPts val="0"/>
              </a:spcAft>
              <a:buNone/>
            </a:pPr>
            <a:r>
              <a:rPr b="0" i="0" lang="en-US" sz="2800" u="none" cap="none" strike="noStrike">
                <a:solidFill>
                  <a:schemeClr val="dk1"/>
                </a:solidFill>
                <a:latin typeface="Calibri"/>
                <a:ea typeface="Calibri"/>
                <a:cs typeface="Calibri"/>
                <a:sym typeface="Calibri"/>
              </a:rPr>
              <a:t>dan </a:t>
            </a:r>
            <a:endParaRPr/>
          </a:p>
          <a:p>
            <a:pPr indent="0" lvl="0" marL="0" marR="0" rtl="0" algn="ctr">
              <a:spcBef>
                <a:spcPts val="0"/>
              </a:spcBef>
              <a:spcAft>
                <a:spcPts val="0"/>
              </a:spcAft>
              <a:buNone/>
            </a:pPr>
            <a:r>
              <a:rPr b="0" i="0" lang="en-US" sz="2800" u="none" cap="none" strike="noStrike">
                <a:solidFill>
                  <a:schemeClr val="dk1"/>
                </a:solidFill>
                <a:latin typeface="Calibri"/>
                <a:ea typeface="Calibri"/>
                <a:cs typeface="Calibri"/>
                <a:sym typeface="Calibri"/>
              </a:rPr>
              <a:t>Jasa </a:t>
            </a:r>
            <a:endParaRPr/>
          </a:p>
        </p:txBody>
      </p:sp>
      <p:sp>
        <p:nvSpPr>
          <p:cNvPr id="363" name="Google Shape;363;p5"/>
          <p:cNvSpPr/>
          <p:nvPr/>
        </p:nvSpPr>
        <p:spPr>
          <a:xfrm>
            <a:off x="3381375" y="3243263"/>
            <a:ext cx="1998663" cy="504825"/>
          </a:xfrm>
          <a:prstGeom prst="rightArrow">
            <a:avLst>
              <a:gd fmla="val 50000" name="adj1"/>
              <a:gd fmla="val 50000" name="adj2"/>
            </a:avLst>
          </a:pr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4" name="Google Shape;364;p5"/>
          <p:cNvSpPr/>
          <p:nvPr/>
        </p:nvSpPr>
        <p:spPr>
          <a:xfrm>
            <a:off x="7229475" y="3243263"/>
            <a:ext cx="2290763" cy="504825"/>
          </a:xfrm>
          <a:prstGeom prst="right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365" name="Google Shape;365;p5"/>
          <p:cNvCxnSpPr>
            <a:stCxn id="362" idx="2"/>
          </p:cNvCxnSpPr>
          <p:nvPr/>
        </p:nvCxnSpPr>
        <p:spPr>
          <a:xfrm>
            <a:off x="10545763" y="5400675"/>
            <a:ext cx="0" cy="576300"/>
          </a:xfrm>
          <a:prstGeom prst="straightConnector1">
            <a:avLst/>
          </a:prstGeom>
          <a:noFill/>
          <a:ln cap="flat" cmpd="sng" w="76200">
            <a:solidFill>
              <a:schemeClr val="accent1"/>
            </a:solidFill>
            <a:prstDash val="solid"/>
            <a:miter lim="800000"/>
            <a:headEnd len="sm" w="sm" type="none"/>
            <a:tailEnd len="sm" w="sm" type="none"/>
          </a:ln>
        </p:spPr>
      </p:cxnSp>
      <p:cxnSp>
        <p:nvCxnSpPr>
          <p:cNvPr id="366" name="Google Shape;366;p5"/>
          <p:cNvCxnSpPr/>
          <p:nvPr/>
        </p:nvCxnSpPr>
        <p:spPr>
          <a:xfrm rot="10800000">
            <a:off x="2222500" y="5976938"/>
            <a:ext cx="8323263" cy="0"/>
          </a:xfrm>
          <a:prstGeom prst="straightConnector1">
            <a:avLst/>
          </a:prstGeom>
          <a:noFill/>
          <a:ln cap="flat" cmpd="sng" w="76200">
            <a:solidFill>
              <a:schemeClr val="accent1"/>
            </a:solidFill>
            <a:prstDash val="solid"/>
            <a:miter lim="800000"/>
            <a:headEnd len="sm" w="sm" type="none"/>
            <a:tailEnd len="sm" w="sm" type="none"/>
          </a:ln>
        </p:spPr>
      </p:cxnSp>
      <p:cxnSp>
        <p:nvCxnSpPr>
          <p:cNvPr id="367" name="Google Shape;367;p5"/>
          <p:cNvCxnSpPr/>
          <p:nvPr/>
        </p:nvCxnSpPr>
        <p:spPr>
          <a:xfrm rot="10800000">
            <a:off x="2222500" y="5400675"/>
            <a:ext cx="0" cy="576263"/>
          </a:xfrm>
          <a:prstGeom prst="straightConnector1">
            <a:avLst/>
          </a:prstGeom>
          <a:noFill/>
          <a:ln cap="flat" cmpd="sng" w="76200">
            <a:solidFill>
              <a:schemeClr val="accent1"/>
            </a:solidFill>
            <a:prstDash val="solid"/>
            <a:miter lim="800000"/>
            <a:headEnd len="sm" w="sm" type="none"/>
            <a:tailEnd len="med" w="med" type="triangle"/>
          </a:ln>
        </p:spPr>
      </p:cxnSp>
      <p:sp>
        <p:nvSpPr>
          <p:cNvPr id="368" name="Google Shape;368;p5"/>
          <p:cNvSpPr txBox="1"/>
          <p:nvPr/>
        </p:nvSpPr>
        <p:spPr>
          <a:xfrm>
            <a:off x="5353050" y="5400675"/>
            <a:ext cx="2062163" cy="4619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chemeClr val="dk1"/>
                </a:solidFill>
                <a:latin typeface="Calibri"/>
                <a:ea typeface="Calibri"/>
                <a:cs typeface="Calibri"/>
                <a:sym typeface="Calibri"/>
              </a:rPr>
              <a:t>Feedback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374" name="Google Shape;374;p6"/>
          <p:cNvGrpSpPr/>
          <p:nvPr/>
        </p:nvGrpSpPr>
        <p:grpSpPr>
          <a:xfrm>
            <a:off x="1881505" y="1333500"/>
            <a:ext cx="8324850" cy="4613275"/>
            <a:chOff x="179512" y="980728"/>
            <a:chExt cx="8324251" cy="4613598"/>
          </a:xfrm>
        </p:grpSpPr>
        <p:sp>
          <p:nvSpPr>
            <p:cNvPr id="375" name="Google Shape;375;p6"/>
            <p:cNvSpPr/>
            <p:nvPr/>
          </p:nvSpPr>
          <p:spPr>
            <a:xfrm>
              <a:off x="1835156" y="3495504"/>
              <a:ext cx="5041537" cy="2098822"/>
            </a:xfrm>
            <a:prstGeom prst="rect">
              <a:avLst/>
            </a:prstGeom>
            <a:noFill/>
            <a:ln cap="flat" cmpd="sng" w="12700">
              <a:solidFill>
                <a:srgbClr val="0C0C0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lt1"/>
                </a:solidFill>
                <a:latin typeface="Calibri"/>
                <a:ea typeface="Calibri"/>
                <a:cs typeface="Calibri"/>
                <a:sym typeface="Calibri"/>
              </a:endParaRPr>
            </a:p>
          </p:txBody>
        </p:sp>
        <p:sp>
          <p:nvSpPr>
            <p:cNvPr id="376" name="Google Shape;376;p6"/>
            <p:cNvSpPr/>
            <p:nvPr/>
          </p:nvSpPr>
          <p:spPr>
            <a:xfrm>
              <a:off x="3032045" y="980728"/>
              <a:ext cx="2430287" cy="360388"/>
            </a:xfrm>
            <a:prstGeom prst="rect">
              <a:avLst/>
            </a:prstGeom>
            <a:solidFill>
              <a:srgbClr val="FCDAEB"/>
            </a:solidFill>
            <a:ln cap="flat" cmpd="sng" w="127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Nunito"/>
                  <a:ea typeface="Nunito"/>
                  <a:cs typeface="Nunito"/>
                  <a:sym typeface="Nunito"/>
                </a:rPr>
                <a:t>Marketplace</a:t>
              </a:r>
              <a:endParaRPr b="0" i="0" sz="1400" u="none" cap="none" strike="noStrike">
                <a:solidFill>
                  <a:schemeClr val="dk1"/>
                </a:solidFill>
                <a:latin typeface="Nunito"/>
                <a:ea typeface="Nunito"/>
                <a:cs typeface="Nunito"/>
                <a:sym typeface="Nunito"/>
              </a:endParaRPr>
            </a:p>
          </p:txBody>
        </p:sp>
        <p:sp>
          <p:nvSpPr>
            <p:cNvPr id="377" name="Google Shape;377;p6"/>
            <p:cNvSpPr/>
            <p:nvPr/>
          </p:nvSpPr>
          <p:spPr>
            <a:xfrm>
              <a:off x="3057443" y="1536392"/>
              <a:ext cx="2430287" cy="360388"/>
            </a:xfrm>
            <a:prstGeom prst="rect">
              <a:avLst/>
            </a:prstGeom>
            <a:solidFill>
              <a:srgbClr val="FBC9E2"/>
            </a:solidFill>
            <a:ln cap="flat" cmpd="sng" w="127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Nunito"/>
                  <a:ea typeface="Nunito"/>
                  <a:cs typeface="Nunito"/>
                  <a:sym typeface="Nunito"/>
                </a:rPr>
                <a:t>Corporate Strategy</a:t>
              </a:r>
              <a:endParaRPr b="0" i="0" sz="1400" u="none" cap="none" strike="noStrike">
                <a:solidFill>
                  <a:schemeClr val="dk1"/>
                </a:solidFill>
                <a:latin typeface="Nunito"/>
                <a:ea typeface="Nunito"/>
                <a:cs typeface="Nunito"/>
                <a:sym typeface="Nunito"/>
              </a:endParaRPr>
            </a:p>
          </p:txBody>
        </p:sp>
        <p:sp>
          <p:nvSpPr>
            <p:cNvPr id="378" name="Google Shape;378;p6"/>
            <p:cNvSpPr/>
            <p:nvPr/>
          </p:nvSpPr>
          <p:spPr>
            <a:xfrm>
              <a:off x="3068554" y="2204777"/>
              <a:ext cx="2430288" cy="360387"/>
            </a:xfrm>
            <a:prstGeom prst="rect">
              <a:avLst/>
            </a:prstGeom>
            <a:solidFill>
              <a:srgbClr val="EDEDED"/>
            </a:solidFill>
            <a:ln cap="flat" cmpd="sng" w="127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Nunito"/>
                  <a:ea typeface="Nunito"/>
                  <a:cs typeface="Nunito"/>
                  <a:sym typeface="Nunito"/>
                </a:rPr>
                <a:t>Operation Strategy</a:t>
              </a:r>
              <a:endParaRPr b="0" i="0" sz="1400" u="none" cap="none" strike="noStrike">
                <a:solidFill>
                  <a:schemeClr val="dk1"/>
                </a:solidFill>
                <a:latin typeface="Nunito"/>
                <a:ea typeface="Nunito"/>
                <a:cs typeface="Nunito"/>
                <a:sym typeface="Nunito"/>
              </a:endParaRPr>
            </a:p>
          </p:txBody>
        </p:sp>
        <p:sp>
          <p:nvSpPr>
            <p:cNvPr id="379" name="Google Shape;379;p6"/>
            <p:cNvSpPr/>
            <p:nvPr/>
          </p:nvSpPr>
          <p:spPr>
            <a:xfrm>
              <a:off x="5890926" y="2230178"/>
              <a:ext cx="2430288" cy="358800"/>
            </a:xfrm>
            <a:prstGeom prst="rect">
              <a:avLst/>
            </a:prstGeom>
            <a:solidFill>
              <a:srgbClr val="C3EAC0"/>
            </a:solidFill>
            <a:ln cap="flat" cmpd="sng" w="127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Nunito"/>
                  <a:ea typeface="Nunito"/>
                  <a:cs typeface="Nunito"/>
                  <a:sym typeface="Nunito"/>
                </a:rPr>
                <a:t>Marketing Strategy</a:t>
              </a:r>
              <a:endParaRPr b="0" i="0" sz="1400" u="none" cap="none" strike="noStrike">
                <a:solidFill>
                  <a:schemeClr val="dk1"/>
                </a:solidFill>
                <a:latin typeface="Nunito"/>
                <a:ea typeface="Nunito"/>
                <a:cs typeface="Nunito"/>
                <a:sym typeface="Nunito"/>
              </a:endParaRPr>
            </a:p>
          </p:txBody>
        </p:sp>
        <p:sp>
          <p:nvSpPr>
            <p:cNvPr id="380" name="Google Shape;380;p6"/>
            <p:cNvSpPr/>
            <p:nvPr/>
          </p:nvSpPr>
          <p:spPr>
            <a:xfrm>
              <a:off x="1941510" y="3841603"/>
              <a:ext cx="1041325" cy="360388"/>
            </a:xfrm>
            <a:prstGeom prst="rect">
              <a:avLst/>
            </a:prstGeom>
            <a:solidFill>
              <a:srgbClr val="FBE4D4"/>
            </a:solidFill>
            <a:ln cap="flat" cmpd="sng" w="127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Nunito"/>
                  <a:ea typeface="Nunito"/>
                  <a:cs typeface="Nunito"/>
                  <a:sym typeface="Nunito"/>
                </a:rPr>
                <a:t>Plant</a:t>
              </a:r>
              <a:endParaRPr b="0" i="0" sz="1400" u="none" cap="none" strike="noStrike">
                <a:solidFill>
                  <a:schemeClr val="dk1"/>
                </a:solidFill>
                <a:latin typeface="Nunito"/>
                <a:ea typeface="Nunito"/>
                <a:cs typeface="Nunito"/>
                <a:sym typeface="Nunito"/>
              </a:endParaRPr>
            </a:p>
          </p:txBody>
        </p:sp>
        <p:sp>
          <p:nvSpPr>
            <p:cNvPr id="381" name="Google Shape;381;p6"/>
            <p:cNvSpPr/>
            <p:nvPr/>
          </p:nvSpPr>
          <p:spPr>
            <a:xfrm>
              <a:off x="179512" y="2212714"/>
              <a:ext cx="2430288" cy="360388"/>
            </a:xfrm>
            <a:prstGeom prst="rect">
              <a:avLst/>
            </a:prstGeom>
            <a:solidFill>
              <a:srgbClr val="C3EAC0"/>
            </a:solidFill>
            <a:ln cap="flat" cmpd="sng" w="127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Nunito"/>
                  <a:ea typeface="Nunito"/>
                  <a:cs typeface="Nunito"/>
                  <a:sym typeface="Nunito"/>
                </a:rPr>
                <a:t>Finance Strategy</a:t>
              </a:r>
              <a:endParaRPr b="0" i="0" sz="1400" u="none" cap="none" strike="noStrike">
                <a:solidFill>
                  <a:schemeClr val="dk1"/>
                </a:solidFill>
                <a:latin typeface="Nunito"/>
                <a:ea typeface="Nunito"/>
                <a:cs typeface="Nunito"/>
                <a:sym typeface="Nunito"/>
              </a:endParaRPr>
            </a:p>
          </p:txBody>
        </p:sp>
        <p:sp>
          <p:nvSpPr>
            <p:cNvPr id="382" name="Google Shape;382;p6"/>
            <p:cNvSpPr/>
            <p:nvPr/>
          </p:nvSpPr>
          <p:spPr>
            <a:xfrm>
              <a:off x="3068554" y="2774729"/>
              <a:ext cx="2430288" cy="360388"/>
            </a:xfrm>
            <a:prstGeom prst="rect">
              <a:avLst/>
            </a:prstGeom>
            <a:solidFill>
              <a:srgbClr val="FBE4D4"/>
            </a:solidFill>
            <a:ln cap="flat" cmpd="sng" w="127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Nunito"/>
                  <a:ea typeface="Nunito"/>
                  <a:cs typeface="Nunito"/>
                  <a:sym typeface="Nunito"/>
                </a:rPr>
                <a:t>Operation Management</a:t>
              </a:r>
              <a:endParaRPr b="0" i="0" sz="1400" u="none" cap="none" strike="noStrike">
                <a:solidFill>
                  <a:schemeClr val="dk1"/>
                </a:solidFill>
                <a:latin typeface="Nunito"/>
                <a:ea typeface="Nunito"/>
                <a:cs typeface="Nunito"/>
                <a:sym typeface="Nunito"/>
              </a:endParaRPr>
            </a:p>
          </p:txBody>
        </p:sp>
        <p:sp>
          <p:nvSpPr>
            <p:cNvPr id="383" name="Google Shape;383;p6"/>
            <p:cNvSpPr/>
            <p:nvPr/>
          </p:nvSpPr>
          <p:spPr>
            <a:xfrm>
              <a:off x="3178084" y="3846367"/>
              <a:ext cx="1041325" cy="360387"/>
            </a:xfrm>
            <a:prstGeom prst="rect">
              <a:avLst/>
            </a:prstGeom>
            <a:solidFill>
              <a:srgbClr val="FBE4D4"/>
            </a:solidFill>
            <a:ln cap="flat" cmpd="sng" w="127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Nunito"/>
                  <a:ea typeface="Nunito"/>
                  <a:cs typeface="Nunito"/>
                  <a:sym typeface="Nunito"/>
                </a:rPr>
                <a:t>Parts</a:t>
              </a:r>
              <a:endParaRPr b="0" i="0" sz="1400" u="none" cap="none" strike="noStrike">
                <a:solidFill>
                  <a:schemeClr val="dk1"/>
                </a:solidFill>
                <a:latin typeface="Nunito"/>
                <a:ea typeface="Nunito"/>
                <a:cs typeface="Nunito"/>
                <a:sym typeface="Nunito"/>
              </a:endParaRPr>
            </a:p>
          </p:txBody>
        </p:sp>
        <p:sp>
          <p:nvSpPr>
            <p:cNvPr id="384" name="Google Shape;384;p6"/>
            <p:cNvSpPr/>
            <p:nvPr/>
          </p:nvSpPr>
          <p:spPr>
            <a:xfrm>
              <a:off x="4416245" y="3841603"/>
              <a:ext cx="1039737" cy="360388"/>
            </a:xfrm>
            <a:prstGeom prst="rect">
              <a:avLst/>
            </a:prstGeom>
            <a:solidFill>
              <a:srgbClr val="FBE4D4"/>
            </a:solidFill>
            <a:ln cap="flat" cmpd="sng" w="127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Nunito"/>
                  <a:ea typeface="Nunito"/>
                  <a:cs typeface="Nunito"/>
                  <a:sym typeface="Nunito"/>
                </a:rPr>
                <a:t>Process`</a:t>
              </a:r>
              <a:endParaRPr b="0" i="0" sz="1400" u="none" cap="none" strike="noStrike">
                <a:solidFill>
                  <a:schemeClr val="dk1"/>
                </a:solidFill>
                <a:latin typeface="Nunito"/>
                <a:ea typeface="Nunito"/>
                <a:cs typeface="Nunito"/>
                <a:sym typeface="Nunito"/>
              </a:endParaRPr>
            </a:p>
          </p:txBody>
        </p:sp>
        <p:sp>
          <p:nvSpPr>
            <p:cNvPr id="385" name="Google Shape;385;p6"/>
            <p:cNvSpPr/>
            <p:nvPr/>
          </p:nvSpPr>
          <p:spPr>
            <a:xfrm>
              <a:off x="5652818" y="3841603"/>
              <a:ext cx="1039738" cy="360388"/>
            </a:xfrm>
            <a:prstGeom prst="rect">
              <a:avLst/>
            </a:prstGeom>
            <a:solidFill>
              <a:srgbClr val="FBE4D4"/>
            </a:solidFill>
            <a:ln cap="flat" cmpd="sng" w="127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Nunito"/>
                  <a:ea typeface="Nunito"/>
                  <a:cs typeface="Nunito"/>
                  <a:sym typeface="Nunito"/>
                </a:rPr>
                <a:t>People</a:t>
              </a:r>
              <a:endParaRPr b="0" i="0" sz="1400" u="none" cap="none" strike="noStrike">
                <a:solidFill>
                  <a:schemeClr val="dk1"/>
                </a:solidFill>
                <a:latin typeface="Nunito"/>
                <a:ea typeface="Nunito"/>
                <a:cs typeface="Nunito"/>
                <a:sym typeface="Nunito"/>
              </a:endParaRPr>
            </a:p>
          </p:txBody>
        </p:sp>
        <p:sp>
          <p:nvSpPr>
            <p:cNvPr id="386" name="Google Shape;386;p6"/>
            <p:cNvSpPr/>
            <p:nvPr/>
          </p:nvSpPr>
          <p:spPr>
            <a:xfrm>
              <a:off x="3178084" y="4508400"/>
              <a:ext cx="2430287" cy="360388"/>
            </a:xfrm>
            <a:prstGeom prst="rect">
              <a:avLst/>
            </a:prstGeom>
            <a:solidFill>
              <a:srgbClr val="FBE4D4"/>
            </a:solidFill>
            <a:ln cap="flat" cmpd="sng" w="127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Nunito"/>
                  <a:ea typeface="Nunito"/>
                  <a:cs typeface="Nunito"/>
                  <a:sym typeface="Nunito"/>
                </a:rPr>
                <a:t>Planning &amp; Control</a:t>
              </a:r>
              <a:endParaRPr b="0" i="0" sz="1400" u="none" cap="none" strike="noStrike">
                <a:solidFill>
                  <a:schemeClr val="dk1"/>
                </a:solidFill>
                <a:latin typeface="Nunito"/>
                <a:ea typeface="Nunito"/>
                <a:cs typeface="Nunito"/>
                <a:sym typeface="Nunito"/>
              </a:endParaRPr>
            </a:p>
          </p:txBody>
        </p:sp>
        <p:sp>
          <p:nvSpPr>
            <p:cNvPr id="387" name="Google Shape;387;p6"/>
            <p:cNvSpPr/>
            <p:nvPr/>
          </p:nvSpPr>
          <p:spPr>
            <a:xfrm>
              <a:off x="3200308" y="5145033"/>
              <a:ext cx="2430287" cy="358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Nunito"/>
                  <a:ea typeface="Nunito"/>
                  <a:cs typeface="Nunito"/>
                  <a:sym typeface="Nunito"/>
                </a:rPr>
                <a:t>Production System</a:t>
              </a:r>
              <a:endParaRPr b="0" i="0" sz="1400" u="none" cap="none" strike="noStrike">
                <a:solidFill>
                  <a:schemeClr val="dk1"/>
                </a:solidFill>
                <a:latin typeface="Nunito"/>
                <a:ea typeface="Nunito"/>
                <a:cs typeface="Nunito"/>
                <a:sym typeface="Nunito"/>
              </a:endParaRPr>
            </a:p>
          </p:txBody>
        </p:sp>
        <p:cxnSp>
          <p:nvCxnSpPr>
            <p:cNvPr id="388" name="Google Shape;388;p6"/>
            <p:cNvCxnSpPr>
              <a:stCxn id="376" idx="2"/>
              <a:endCxn id="377" idx="0"/>
            </p:cNvCxnSpPr>
            <p:nvPr/>
          </p:nvCxnSpPr>
          <p:spPr>
            <a:xfrm>
              <a:off x="4247189" y="1341116"/>
              <a:ext cx="25500" cy="195300"/>
            </a:xfrm>
            <a:prstGeom prst="straightConnector1">
              <a:avLst/>
            </a:prstGeom>
            <a:noFill/>
            <a:ln cap="flat" cmpd="sng" w="9525">
              <a:solidFill>
                <a:schemeClr val="dk1"/>
              </a:solidFill>
              <a:prstDash val="solid"/>
              <a:miter lim="800000"/>
              <a:headEnd len="sm" w="sm" type="none"/>
              <a:tailEnd len="med" w="med" type="triangle"/>
            </a:ln>
          </p:spPr>
        </p:cxnSp>
        <p:cxnSp>
          <p:nvCxnSpPr>
            <p:cNvPr id="389" name="Google Shape;389;p6"/>
            <p:cNvCxnSpPr/>
            <p:nvPr/>
          </p:nvCxnSpPr>
          <p:spPr>
            <a:xfrm>
              <a:off x="4251157" y="1880904"/>
              <a:ext cx="0" cy="323873"/>
            </a:xfrm>
            <a:prstGeom prst="straightConnector1">
              <a:avLst/>
            </a:prstGeom>
            <a:noFill/>
            <a:ln cap="flat" cmpd="sng" w="9525">
              <a:solidFill>
                <a:schemeClr val="dk1"/>
              </a:solidFill>
              <a:prstDash val="solid"/>
              <a:miter lim="800000"/>
              <a:headEnd len="sm" w="sm" type="none"/>
              <a:tailEnd len="med" w="med" type="triangle"/>
            </a:ln>
          </p:spPr>
        </p:cxnSp>
        <p:cxnSp>
          <p:nvCxnSpPr>
            <p:cNvPr id="390" name="Google Shape;390;p6"/>
            <p:cNvCxnSpPr/>
            <p:nvPr/>
          </p:nvCxnSpPr>
          <p:spPr>
            <a:xfrm>
              <a:off x="4247982" y="2579453"/>
              <a:ext cx="0" cy="195276"/>
            </a:xfrm>
            <a:prstGeom prst="straightConnector1">
              <a:avLst/>
            </a:prstGeom>
            <a:noFill/>
            <a:ln cap="flat" cmpd="sng" w="9525">
              <a:solidFill>
                <a:schemeClr val="dk1"/>
              </a:solidFill>
              <a:prstDash val="solid"/>
              <a:miter lim="800000"/>
              <a:headEnd len="sm" w="sm" type="none"/>
              <a:tailEnd len="med" w="med" type="triangle"/>
            </a:ln>
          </p:spPr>
        </p:cxnSp>
        <p:cxnSp>
          <p:nvCxnSpPr>
            <p:cNvPr id="391" name="Google Shape;391;p6"/>
            <p:cNvCxnSpPr/>
            <p:nvPr/>
          </p:nvCxnSpPr>
          <p:spPr>
            <a:xfrm>
              <a:off x="4243220" y="3135117"/>
              <a:ext cx="0" cy="360387"/>
            </a:xfrm>
            <a:prstGeom prst="straightConnector1">
              <a:avLst/>
            </a:prstGeom>
            <a:noFill/>
            <a:ln cap="flat" cmpd="sng" w="9525">
              <a:solidFill>
                <a:schemeClr val="dk1"/>
              </a:solidFill>
              <a:prstDash val="solid"/>
              <a:miter lim="800000"/>
              <a:headEnd len="sm" w="sm" type="none"/>
              <a:tailEnd len="med" w="med" type="triangle"/>
            </a:ln>
          </p:spPr>
        </p:cxnSp>
        <p:cxnSp>
          <p:nvCxnSpPr>
            <p:cNvPr id="392" name="Google Shape;392;p6"/>
            <p:cNvCxnSpPr>
              <a:stCxn id="380" idx="0"/>
              <a:endCxn id="385" idx="0"/>
            </p:cNvCxnSpPr>
            <p:nvPr/>
          </p:nvCxnSpPr>
          <p:spPr>
            <a:xfrm flipH="1" rot="-5400000">
              <a:off x="4317073" y="1986703"/>
              <a:ext cx="600" cy="3710400"/>
            </a:xfrm>
            <a:prstGeom prst="bentConnector3">
              <a:avLst>
                <a:gd fmla="val 4576253" name="adj1"/>
              </a:avLst>
            </a:prstGeom>
            <a:noFill/>
            <a:ln cap="flat" cmpd="sng" w="9525">
              <a:solidFill>
                <a:srgbClr val="0C0C0C"/>
              </a:solidFill>
              <a:prstDash val="solid"/>
              <a:miter lim="800000"/>
              <a:headEnd len="sm" w="sm" type="none"/>
              <a:tailEnd len="sm" w="sm" type="none"/>
            </a:ln>
          </p:spPr>
        </p:cxnSp>
        <p:cxnSp>
          <p:nvCxnSpPr>
            <p:cNvPr id="393" name="Google Shape;393;p6"/>
            <p:cNvCxnSpPr/>
            <p:nvPr/>
          </p:nvCxnSpPr>
          <p:spPr>
            <a:xfrm flipH="1">
              <a:off x="3697159" y="3619338"/>
              <a:ext cx="1588" cy="234966"/>
            </a:xfrm>
            <a:prstGeom prst="straightConnector1">
              <a:avLst/>
            </a:prstGeom>
            <a:noFill/>
            <a:ln cap="flat" cmpd="sng" w="9525">
              <a:solidFill>
                <a:schemeClr val="dk1"/>
              </a:solidFill>
              <a:prstDash val="solid"/>
              <a:miter lim="800000"/>
              <a:headEnd len="sm" w="sm" type="none"/>
              <a:tailEnd len="sm" w="sm" type="none"/>
            </a:ln>
          </p:spPr>
        </p:cxnSp>
        <p:cxnSp>
          <p:nvCxnSpPr>
            <p:cNvPr id="394" name="Google Shape;394;p6"/>
            <p:cNvCxnSpPr/>
            <p:nvPr/>
          </p:nvCxnSpPr>
          <p:spPr>
            <a:xfrm flipH="1">
              <a:off x="4925795" y="3617751"/>
              <a:ext cx="1588" cy="233378"/>
            </a:xfrm>
            <a:prstGeom prst="straightConnector1">
              <a:avLst/>
            </a:prstGeom>
            <a:noFill/>
            <a:ln cap="flat" cmpd="sng" w="9525">
              <a:solidFill>
                <a:schemeClr val="dk1"/>
              </a:solidFill>
              <a:prstDash val="solid"/>
              <a:miter lim="800000"/>
              <a:headEnd len="sm" w="sm" type="none"/>
              <a:tailEnd len="sm" w="sm" type="none"/>
            </a:ln>
          </p:spPr>
        </p:cxnSp>
        <p:cxnSp>
          <p:nvCxnSpPr>
            <p:cNvPr id="395" name="Google Shape;395;p6"/>
            <p:cNvCxnSpPr>
              <a:stCxn id="380" idx="2"/>
              <a:endCxn id="386" idx="1"/>
            </p:cNvCxnSpPr>
            <p:nvPr/>
          </p:nvCxnSpPr>
          <p:spPr>
            <a:xfrm flipH="1" rot="-5400000">
              <a:off x="2576773" y="4087391"/>
              <a:ext cx="486600" cy="715800"/>
            </a:xfrm>
            <a:prstGeom prst="bentConnector2">
              <a:avLst/>
            </a:prstGeom>
            <a:noFill/>
            <a:ln cap="flat" cmpd="sng" w="9525">
              <a:solidFill>
                <a:schemeClr val="dk1"/>
              </a:solidFill>
              <a:prstDash val="solid"/>
              <a:miter lim="800000"/>
              <a:headEnd len="sm" w="sm" type="none"/>
              <a:tailEnd len="sm" w="sm" type="none"/>
            </a:ln>
          </p:spPr>
        </p:cxnSp>
        <p:cxnSp>
          <p:nvCxnSpPr>
            <p:cNvPr id="396" name="Google Shape;396;p6"/>
            <p:cNvCxnSpPr>
              <a:stCxn id="386" idx="3"/>
              <a:endCxn id="385" idx="2"/>
            </p:cNvCxnSpPr>
            <p:nvPr/>
          </p:nvCxnSpPr>
          <p:spPr>
            <a:xfrm flipH="1" rot="10800000">
              <a:off x="5608371" y="4201994"/>
              <a:ext cx="564300" cy="486600"/>
            </a:xfrm>
            <a:prstGeom prst="bentConnector2">
              <a:avLst/>
            </a:prstGeom>
            <a:noFill/>
            <a:ln cap="flat" cmpd="sng" w="9525">
              <a:solidFill>
                <a:schemeClr val="dk1"/>
              </a:solidFill>
              <a:prstDash val="solid"/>
              <a:miter lim="800000"/>
              <a:headEnd len="sm" w="sm" type="none"/>
              <a:tailEnd len="sm" w="sm" type="none"/>
            </a:ln>
          </p:spPr>
        </p:cxnSp>
        <p:cxnSp>
          <p:nvCxnSpPr>
            <p:cNvPr id="397" name="Google Shape;397;p6"/>
            <p:cNvCxnSpPr/>
            <p:nvPr/>
          </p:nvCxnSpPr>
          <p:spPr>
            <a:xfrm flipH="1">
              <a:off x="3695572" y="4208342"/>
              <a:ext cx="1587" cy="306408"/>
            </a:xfrm>
            <a:prstGeom prst="straightConnector1">
              <a:avLst/>
            </a:prstGeom>
            <a:noFill/>
            <a:ln cap="flat" cmpd="sng" w="9525">
              <a:solidFill>
                <a:schemeClr val="dk1"/>
              </a:solidFill>
              <a:prstDash val="solid"/>
              <a:miter lim="800000"/>
              <a:headEnd len="sm" w="sm" type="none"/>
              <a:tailEnd len="sm" w="sm" type="none"/>
            </a:ln>
          </p:spPr>
        </p:cxnSp>
        <p:cxnSp>
          <p:nvCxnSpPr>
            <p:cNvPr id="398" name="Google Shape;398;p6"/>
            <p:cNvCxnSpPr/>
            <p:nvPr/>
          </p:nvCxnSpPr>
          <p:spPr>
            <a:xfrm flipH="1">
              <a:off x="4924209" y="4205167"/>
              <a:ext cx="1587" cy="306408"/>
            </a:xfrm>
            <a:prstGeom prst="straightConnector1">
              <a:avLst/>
            </a:prstGeom>
            <a:noFill/>
            <a:ln cap="flat" cmpd="sng" w="9525">
              <a:solidFill>
                <a:schemeClr val="dk1"/>
              </a:solidFill>
              <a:prstDash val="solid"/>
              <a:miter lim="800000"/>
              <a:headEnd len="sm" w="sm" type="none"/>
              <a:tailEnd len="sm" w="sm" type="none"/>
            </a:ln>
          </p:spPr>
        </p:cxnSp>
        <p:cxnSp>
          <p:nvCxnSpPr>
            <p:cNvPr id="399" name="Google Shape;399;p6"/>
            <p:cNvCxnSpPr>
              <a:stCxn id="381" idx="0"/>
              <a:endCxn id="379" idx="0"/>
            </p:cNvCxnSpPr>
            <p:nvPr/>
          </p:nvCxnSpPr>
          <p:spPr>
            <a:xfrm flipH="1" rot="-5400000">
              <a:off x="4241656" y="-634286"/>
              <a:ext cx="17400" cy="5711400"/>
            </a:xfrm>
            <a:prstGeom prst="bentConnector3">
              <a:avLst>
                <a:gd fmla="val -3353614" name="adj1"/>
              </a:avLst>
            </a:prstGeom>
            <a:noFill/>
            <a:ln cap="flat" cmpd="sng" w="9525">
              <a:solidFill>
                <a:schemeClr val="dk1"/>
              </a:solidFill>
              <a:prstDash val="solid"/>
              <a:miter lim="800000"/>
              <a:headEnd len="sm" w="sm" type="none"/>
              <a:tailEnd len="sm" w="sm" type="none"/>
            </a:ln>
          </p:spPr>
        </p:cxnSp>
        <p:sp>
          <p:nvSpPr>
            <p:cNvPr id="400" name="Google Shape;400;p6"/>
            <p:cNvSpPr/>
            <p:nvPr/>
          </p:nvSpPr>
          <p:spPr>
            <a:xfrm>
              <a:off x="335076" y="3901933"/>
              <a:ext cx="1408012" cy="1266914"/>
            </a:xfrm>
            <a:prstGeom prst="rightArrow">
              <a:avLst>
                <a:gd fmla="val 50000" name="adj1"/>
                <a:gd fmla="val 50000" name="adj2"/>
              </a:avLst>
            </a:prstGeom>
            <a:solidFill>
              <a:srgbClr val="E9E78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Nunito"/>
                  <a:ea typeface="Nunito"/>
                  <a:cs typeface="Nunito"/>
                  <a:sym typeface="Nunito"/>
                </a:rPr>
                <a:t>Material &amp; Customers</a:t>
              </a:r>
              <a:endParaRPr b="0" i="0" sz="1400" u="none" cap="none" strike="noStrike">
                <a:solidFill>
                  <a:schemeClr val="dk1"/>
                </a:solidFill>
                <a:latin typeface="Nunito"/>
                <a:ea typeface="Nunito"/>
                <a:cs typeface="Nunito"/>
                <a:sym typeface="Nunito"/>
              </a:endParaRPr>
            </a:p>
          </p:txBody>
        </p:sp>
        <p:sp>
          <p:nvSpPr>
            <p:cNvPr id="401" name="Google Shape;401;p6"/>
            <p:cNvSpPr/>
            <p:nvPr/>
          </p:nvSpPr>
          <p:spPr>
            <a:xfrm>
              <a:off x="7095752" y="3960675"/>
              <a:ext cx="1408011" cy="1266914"/>
            </a:xfrm>
            <a:prstGeom prst="rightArrow">
              <a:avLst>
                <a:gd fmla="val 50000" name="adj1"/>
                <a:gd fmla="val 50000" name="adj2"/>
              </a:avLst>
            </a:prstGeom>
            <a:solidFill>
              <a:srgbClr val="E9E78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Nunito"/>
                  <a:ea typeface="Nunito"/>
                  <a:cs typeface="Nunito"/>
                  <a:sym typeface="Nunito"/>
                </a:rPr>
                <a:t>Products &amp; Services</a:t>
              </a:r>
              <a:endParaRPr b="0" i="0" sz="1400" u="none" cap="none" strike="noStrike">
                <a:solidFill>
                  <a:schemeClr val="lt1"/>
                </a:solidFill>
                <a:latin typeface="Calibri"/>
                <a:ea typeface="Calibri"/>
                <a:cs typeface="Calibri"/>
                <a:sym typeface="Calibri"/>
              </a:endParaRPr>
            </a:p>
          </p:txBody>
        </p:sp>
      </p:grpSp>
      <p:sp>
        <p:nvSpPr>
          <p:cNvPr id="402" name="Google Shape;402;p6"/>
          <p:cNvSpPr txBox="1"/>
          <p:nvPr/>
        </p:nvSpPr>
        <p:spPr>
          <a:xfrm>
            <a:off x="0" y="0"/>
            <a:ext cx="12192000" cy="1063625"/>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F3F3F"/>
              </a:buClr>
              <a:buSzPts val="2800"/>
              <a:buFont typeface="Calibri"/>
              <a:buNone/>
            </a:pPr>
            <a:r>
              <a:rPr b="1" i="0" lang="en-US" sz="2800" u="none" cap="none" strike="noStrike">
                <a:solidFill>
                  <a:srgbClr val="3F3F3F"/>
                </a:solidFill>
                <a:latin typeface="Calibri"/>
                <a:ea typeface="Calibri"/>
                <a:cs typeface="Calibri"/>
                <a:sym typeface="Calibri"/>
              </a:rPr>
              <a:t>Kedudukan Planning &amp; Control dalam Perusahaan</a:t>
            </a:r>
            <a:endParaRPr b="1" i="0" sz="2800" u="none" cap="none" strike="noStrike">
              <a:solidFill>
                <a:srgbClr val="3F3F3F"/>
              </a:solidFill>
              <a:latin typeface="Calibri"/>
              <a:ea typeface="Calibri"/>
              <a:cs typeface="Calibri"/>
              <a:sym typeface="Calibri"/>
            </a:endParaRPr>
          </a:p>
        </p:txBody>
      </p:sp>
      <p:pic>
        <p:nvPicPr>
          <p:cNvPr id="403" name="Google Shape;403;p6"/>
          <p:cNvPicPr preferRelativeResize="0"/>
          <p:nvPr/>
        </p:nvPicPr>
        <p:blipFill rotWithShape="1">
          <a:blip r:embed="rId3">
            <a:alphaModFix/>
          </a:blip>
          <a:srcRect b="0" l="0" r="0" t="0"/>
          <a:stretch/>
        </p:blipFill>
        <p:spPr>
          <a:xfrm>
            <a:off x="7856538" y="152400"/>
            <a:ext cx="2574925" cy="838200"/>
          </a:xfrm>
          <a:prstGeom prst="rect">
            <a:avLst/>
          </a:prstGeom>
          <a:noFill/>
          <a:ln>
            <a:noFill/>
          </a:ln>
        </p:spPr>
      </p:pic>
      <p:pic>
        <p:nvPicPr>
          <p:cNvPr id="404" name="Google Shape;404;p6"/>
          <p:cNvPicPr preferRelativeResize="0"/>
          <p:nvPr/>
        </p:nvPicPr>
        <p:blipFill rotWithShape="1">
          <a:blip r:embed="rId4">
            <a:alphaModFix/>
          </a:blip>
          <a:srcRect b="0" l="0" r="0" t="0"/>
          <a:stretch/>
        </p:blipFill>
        <p:spPr>
          <a:xfrm>
            <a:off x="10752138" y="111125"/>
            <a:ext cx="1062037" cy="952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7"/>
          <p:cNvSpPr/>
          <p:nvPr/>
        </p:nvSpPr>
        <p:spPr>
          <a:xfrm>
            <a:off x="4648200" y="1143000"/>
            <a:ext cx="990600" cy="762000"/>
          </a:xfrm>
          <a:prstGeom prst="rect">
            <a:avLst/>
          </a:prstGeom>
          <a:gradFill>
            <a:gsLst>
              <a:gs pos="0">
                <a:srgbClr val="6BF9CA"/>
              </a:gs>
              <a:gs pos="100000">
                <a:srgbClr val="32735D"/>
              </a:gs>
            </a:gsLst>
            <a:lin ang="5400000" scaled="0"/>
          </a:gradFill>
          <a:ln cap="sq" cmpd="sng" w="952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0" i="0" lang="en-US" sz="1400" u="none" cap="none" strike="noStrike">
                <a:solidFill>
                  <a:srgbClr val="000000"/>
                </a:solidFill>
                <a:latin typeface="Overlock"/>
                <a:ea typeface="Overlock"/>
                <a:cs typeface="Overlock"/>
                <a:sym typeface="Overlock"/>
              </a:rPr>
              <a:t>Peramalan</a:t>
            </a:r>
            <a:endParaRPr/>
          </a:p>
          <a:p>
            <a:pPr indent="0" lvl="0" marL="0" marR="0" rtl="0" algn="ctr">
              <a:spcBef>
                <a:spcPts val="0"/>
              </a:spcBef>
              <a:spcAft>
                <a:spcPts val="0"/>
              </a:spcAft>
              <a:buNone/>
            </a:pPr>
            <a:r>
              <a:rPr b="0" i="0" lang="en-US" sz="1400" u="none" cap="none" strike="noStrike">
                <a:solidFill>
                  <a:srgbClr val="000000"/>
                </a:solidFill>
                <a:latin typeface="Overlock"/>
                <a:ea typeface="Overlock"/>
                <a:cs typeface="Overlock"/>
                <a:sym typeface="Overlock"/>
              </a:rPr>
              <a:t>Permintaan</a:t>
            </a:r>
            <a:endParaRPr/>
          </a:p>
        </p:txBody>
      </p:sp>
      <p:sp>
        <p:nvSpPr>
          <p:cNvPr id="411" name="Google Shape;411;p7"/>
          <p:cNvSpPr/>
          <p:nvPr/>
        </p:nvSpPr>
        <p:spPr>
          <a:xfrm>
            <a:off x="4495800" y="2286000"/>
            <a:ext cx="1219200" cy="762000"/>
          </a:xfrm>
          <a:prstGeom prst="rect">
            <a:avLst/>
          </a:prstGeom>
          <a:gradFill>
            <a:gsLst>
              <a:gs pos="0">
                <a:srgbClr val="5E9EFF"/>
              </a:gs>
              <a:gs pos="100000">
                <a:srgbClr val="FFEBFA"/>
              </a:gs>
            </a:gsLst>
            <a:lin ang="5400000" scaled="0"/>
          </a:gradFill>
          <a:ln cap="sq" cmpd="sng" w="952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0" i="0" lang="en-US" sz="1400" u="none" cap="none" strike="noStrike">
                <a:solidFill>
                  <a:srgbClr val="000000"/>
                </a:solidFill>
                <a:latin typeface="Overlock"/>
                <a:ea typeface="Overlock"/>
                <a:cs typeface="Overlock"/>
                <a:sym typeface="Overlock"/>
              </a:rPr>
              <a:t>Perencanaan </a:t>
            </a:r>
            <a:endParaRPr/>
          </a:p>
          <a:p>
            <a:pPr indent="0" lvl="0" marL="0" marR="0" rtl="0" algn="ctr">
              <a:spcBef>
                <a:spcPts val="0"/>
              </a:spcBef>
              <a:spcAft>
                <a:spcPts val="0"/>
              </a:spcAft>
              <a:buNone/>
            </a:pPr>
            <a:r>
              <a:rPr b="0" i="0" lang="en-US" sz="1400" u="none" cap="none" strike="noStrike">
                <a:solidFill>
                  <a:srgbClr val="000000"/>
                </a:solidFill>
                <a:latin typeface="Overlock"/>
                <a:ea typeface="Overlock"/>
                <a:cs typeface="Overlock"/>
                <a:sym typeface="Overlock"/>
              </a:rPr>
              <a:t>Agregat</a:t>
            </a:r>
            <a:endParaRPr/>
          </a:p>
        </p:txBody>
      </p:sp>
      <p:sp>
        <p:nvSpPr>
          <p:cNvPr id="412" name="Google Shape;412;p7"/>
          <p:cNvSpPr/>
          <p:nvPr/>
        </p:nvSpPr>
        <p:spPr>
          <a:xfrm>
            <a:off x="4648200" y="3276600"/>
            <a:ext cx="990600" cy="762000"/>
          </a:xfrm>
          <a:prstGeom prst="rect">
            <a:avLst/>
          </a:prstGeom>
          <a:gradFill>
            <a:gsLst>
              <a:gs pos="0">
                <a:srgbClr val="E7F470"/>
              </a:gs>
              <a:gs pos="100000">
                <a:srgbClr val="D490C5"/>
              </a:gs>
            </a:gsLst>
            <a:lin ang="5400000" scaled="0"/>
          </a:gradFill>
          <a:ln cap="sq" cmpd="sng" w="952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0" i="0" lang="en-US" sz="1400" u="none" cap="none" strike="noStrike">
                <a:solidFill>
                  <a:srgbClr val="000000"/>
                </a:solidFill>
                <a:latin typeface="Overlock"/>
                <a:ea typeface="Overlock"/>
                <a:cs typeface="Overlock"/>
                <a:sym typeface="Overlock"/>
              </a:rPr>
              <a:t>Pembuatan </a:t>
            </a:r>
            <a:endParaRPr/>
          </a:p>
          <a:p>
            <a:pPr indent="0" lvl="0" marL="0" marR="0" rtl="0" algn="ctr">
              <a:spcBef>
                <a:spcPts val="0"/>
              </a:spcBef>
              <a:spcAft>
                <a:spcPts val="0"/>
              </a:spcAft>
              <a:buNone/>
            </a:pPr>
            <a:r>
              <a:rPr b="0" i="0" lang="en-US" sz="1400" u="none" cap="none" strike="noStrike">
                <a:solidFill>
                  <a:srgbClr val="000000"/>
                </a:solidFill>
                <a:latin typeface="Overlock"/>
                <a:ea typeface="Overlock"/>
                <a:cs typeface="Overlock"/>
                <a:sym typeface="Overlock"/>
              </a:rPr>
              <a:t>MPS</a:t>
            </a:r>
            <a:endParaRPr/>
          </a:p>
        </p:txBody>
      </p:sp>
      <p:sp>
        <p:nvSpPr>
          <p:cNvPr id="413" name="Google Shape;413;p7"/>
          <p:cNvSpPr/>
          <p:nvPr/>
        </p:nvSpPr>
        <p:spPr>
          <a:xfrm>
            <a:off x="4800600" y="4267200"/>
            <a:ext cx="762000" cy="304800"/>
          </a:xfrm>
          <a:prstGeom prst="rect">
            <a:avLst/>
          </a:prstGeom>
          <a:gradFill>
            <a:gsLst>
              <a:gs pos="0">
                <a:srgbClr val="FFF200"/>
              </a:gs>
              <a:gs pos="100000">
                <a:srgbClr val="4D0808"/>
              </a:gs>
            </a:gsLst>
            <a:lin ang="5400000" scaled="0"/>
          </a:gradFill>
          <a:ln cap="sq" cmpd="sng" w="952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0" i="0" lang="en-US" sz="1400" u="none" cap="none" strike="noStrike">
                <a:solidFill>
                  <a:srgbClr val="000000"/>
                </a:solidFill>
                <a:latin typeface="Overlock"/>
                <a:ea typeface="Overlock"/>
                <a:cs typeface="Overlock"/>
                <a:sym typeface="Overlock"/>
              </a:rPr>
              <a:t>MRP</a:t>
            </a:r>
            <a:endParaRPr/>
          </a:p>
        </p:txBody>
      </p:sp>
      <p:sp>
        <p:nvSpPr>
          <p:cNvPr id="414" name="Google Shape;414;p7"/>
          <p:cNvSpPr/>
          <p:nvPr/>
        </p:nvSpPr>
        <p:spPr>
          <a:xfrm>
            <a:off x="4343400" y="4800600"/>
            <a:ext cx="1600200" cy="685800"/>
          </a:xfrm>
          <a:prstGeom prst="ellipse">
            <a:avLst/>
          </a:prstGeom>
          <a:gradFill>
            <a:gsLst>
              <a:gs pos="0">
                <a:srgbClr val="D6B19C"/>
              </a:gs>
              <a:gs pos="100000">
                <a:srgbClr val="663012"/>
              </a:gs>
            </a:gsLst>
            <a:lin ang="5400000" scaled="0"/>
          </a:gradFill>
          <a:ln cap="sq" cmpd="sng" w="952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0" i="0" lang="en-US" sz="1200" u="none" cap="none" strike="noStrike">
                <a:solidFill>
                  <a:srgbClr val="000000"/>
                </a:solidFill>
                <a:latin typeface="Overlock"/>
                <a:ea typeface="Overlock"/>
                <a:cs typeface="Overlock"/>
                <a:sym typeface="Overlock"/>
              </a:rPr>
              <a:t>Rencana:</a:t>
            </a:r>
            <a:endParaRPr/>
          </a:p>
          <a:p>
            <a:pPr indent="0" lvl="0" marL="0" marR="0" rtl="0" algn="ctr">
              <a:spcBef>
                <a:spcPts val="0"/>
              </a:spcBef>
              <a:spcAft>
                <a:spcPts val="0"/>
              </a:spcAft>
              <a:buNone/>
            </a:pPr>
            <a:r>
              <a:rPr b="0" i="0" lang="en-US" sz="1200" u="none" cap="none" strike="noStrike">
                <a:solidFill>
                  <a:srgbClr val="000000"/>
                </a:solidFill>
                <a:latin typeface="Overlock"/>
                <a:ea typeface="Overlock"/>
                <a:cs typeface="Overlock"/>
                <a:sym typeface="Overlock"/>
              </a:rPr>
              <a:t>Apa, Kapan dan brp</a:t>
            </a:r>
            <a:endParaRPr/>
          </a:p>
          <a:p>
            <a:pPr indent="0" lvl="0" marL="0" marR="0" rtl="0" algn="ctr">
              <a:spcBef>
                <a:spcPts val="0"/>
              </a:spcBef>
              <a:spcAft>
                <a:spcPts val="0"/>
              </a:spcAft>
              <a:buNone/>
            </a:pPr>
            <a:r>
              <a:rPr b="0" i="0" lang="en-US" sz="1200" u="none" cap="none" strike="noStrike">
                <a:solidFill>
                  <a:srgbClr val="000000"/>
                </a:solidFill>
                <a:latin typeface="Overlock"/>
                <a:ea typeface="Overlock"/>
                <a:cs typeface="Overlock"/>
                <a:sym typeface="Overlock"/>
              </a:rPr>
              <a:t>Jml yg diproduksi</a:t>
            </a:r>
            <a:endParaRPr/>
          </a:p>
        </p:txBody>
      </p:sp>
      <p:sp>
        <p:nvSpPr>
          <p:cNvPr id="415" name="Google Shape;415;p7"/>
          <p:cNvSpPr/>
          <p:nvPr/>
        </p:nvSpPr>
        <p:spPr>
          <a:xfrm>
            <a:off x="4648200" y="5715000"/>
            <a:ext cx="990600" cy="533400"/>
          </a:xfrm>
          <a:prstGeom prst="rect">
            <a:avLst/>
          </a:prstGeom>
          <a:gradFill>
            <a:gsLst>
              <a:gs pos="0">
                <a:srgbClr val="FBEAC7"/>
              </a:gs>
              <a:gs pos="100000">
                <a:srgbClr val="FEE7F2"/>
              </a:gs>
            </a:gsLst>
            <a:lin ang="5400000" scaled="0"/>
          </a:gradFill>
          <a:ln cap="sq" cmpd="sng" w="952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0" i="0" lang="en-US" sz="1400" u="none" cap="none" strike="noStrike">
                <a:solidFill>
                  <a:srgbClr val="000000"/>
                </a:solidFill>
                <a:latin typeface="Overlock"/>
                <a:ea typeface="Overlock"/>
                <a:cs typeface="Overlock"/>
                <a:sym typeface="Overlock"/>
              </a:rPr>
              <a:t>Shop Floor</a:t>
            </a:r>
            <a:endParaRPr/>
          </a:p>
        </p:txBody>
      </p:sp>
      <p:sp>
        <p:nvSpPr>
          <p:cNvPr id="416" name="Google Shape;416;p7"/>
          <p:cNvSpPr/>
          <p:nvPr/>
        </p:nvSpPr>
        <p:spPr>
          <a:xfrm>
            <a:off x="3962400" y="2057400"/>
            <a:ext cx="2438400" cy="4572000"/>
          </a:xfrm>
          <a:prstGeom prst="rect">
            <a:avLst/>
          </a:prstGeom>
          <a:no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417" name="Google Shape;417;p7"/>
          <p:cNvCxnSpPr/>
          <p:nvPr/>
        </p:nvCxnSpPr>
        <p:spPr>
          <a:xfrm>
            <a:off x="5105400" y="1905000"/>
            <a:ext cx="1588" cy="381000"/>
          </a:xfrm>
          <a:prstGeom prst="straightConnector1">
            <a:avLst/>
          </a:prstGeom>
          <a:noFill/>
          <a:ln cap="sq" cmpd="sng" w="9525">
            <a:solidFill>
              <a:srgbClr val="000000"/>
            </a:solidFill>
            <a:prstDash val="solid"/>
            <a:miter lim="800000"/>
            <a:headEnd len="med" w="med" type="none"/>
            <a:tailEnd len="med" w="med" type="triangle"/>
          </a:ln>
        </p:spPr>
      </p:cxnSp>
      <p:cxnSp>
        <p:nvCxnSpPr>
          <p:cNvPr id="418" name="Google Shape;418;p7"/>
          <p:cNvCxnSpPr/>
          <p:nvPr/>
        </p:nvCxnSpPr>
        <p:spPr>
          <a:xfrm>
            <a:off x="5105400" y="3048000"/>
            <a:ext cx="1588" cy="228600"/>
          </a:xfrm>
          <a:prstGeom prst="straightConnector1">
            <a:avLst/>
          </a:prstGeom>
          <a:noFill/>
          <a:ln cap="sq" cmpd="sng" w="9525">
            <a:solidFill>
              <a:srgbClr val="000000"/>
            </a:solidFill>
            <a:prstDash val="solid"/>
            <a:miter lim="800000"/>
            <a:headEnd len="med" w="med" type="none"/>
            <a:tailEnd len="med" w="med" type="triangle"/>
          </a:ln>
        </p:spPr>
      </p:cxnSp>
      <p:cxnSp>
        <p:nvCxnSpPr>
          <p:cNvPr id="419" name="Google Shape;419;p7"/>
          <p:cNvCxnSpPr/>
          <p:nvPr/>
        </p:nvCxnSpPr>
        <p:spPr>
          <a:xfrm>
            <a:off x="5105400" y="4038600"/>
            <a:ext cx="1588" cy="228600"/>
          </a:xfrm>
          <a:prstGeom prst="straightConnector1">
            <a:avLst/>
          </a:prstGeom>
          <a:noFill/>
          <a:ln cap="sq" cmpd="sng" w="9525">
            <a:solidFill>
              <a:srgbClr val="000000"/>
            </a:solidFill>
            <a:prstDash val="solid"/>
            <a:miter lim="800000"/>
            <a:headEnd len="med" w="med" type="none"/>
            <a:tailEnd len="med" w="med" type="triangle"/>
          </a:ln>
        </p:spPr>
      </p:cxnSp>
      <p:cxnSp>
        <p:nvCxnSpPr>
          <p:cNvPr id="420" name="Google Shape;420;p7"/>
          <p:cNvCxnSpPr/>
          <p:nvPr/>
        </p:nvCxnSpPr>
        <p:spPr>
          <a:xfrm>
            <a:off x="5105400" y="4572000"/>
            <a:ext cx="1588" cy="228600"/>
          </a:xfrm>
          <a:prstGeom prst="straightConnector1">
            <a:avLst/>
          </a:prstGeom>
          <a:noFill/>
          <a:ln cap="sq" cmpd="sng" w="9525">
            <a:solidFill>
              <a:srgbClr val="000000"/>
            </a:solidFill>
            <a:prstDash val="solid"/>
            <a:miter lim="800000"/>
            <a:headEnd len="med" w="med" type="none"/>
            <a:tailEnd len="med" w="med" type="triangle"/>
          </a:ln>
        </p:spPr>
      </p:cxnSp>
      <p:cxnSp>
        <p:nvCxnSpPr>
          <p:cNvPr id="421" name="Google Shape;421;p7"/>
          <p:cNvCxnSpPr/>
          <p:nvPr/>
        </p:nvCxnSpPr>
        <p:spPr>
          <a:xfrm>
            <a:off x="5105400" y="5486400"/>
            <a:ext cx="1588" cy="228600"/>
          </a:xfrm>
          <a:prstGeom prst="straightConnector1">
            <a:avLst/>
          </a:prstGeom>
          <a:noFill/>
          <a:ln cap="sq" cmpd="sng" w="9525">
            <a:solidFill>
              <a:srgbClr val="000000"/>
            </a:solidFill>
            <a:prstDash val="solid"/>
            <a:miter lim="800000"/>
            <a:headEnd len="med" w="med" type="none"/>
            <a:tailEnd len="med" w="med" type="triangle"/>
          </a:ln>
        </p:spPr>
      </p:cxnSp>
      <p:sp>
        <p:nvSpPr>
          <p:cNvPr id="422" name="Google Shape;422;p7"/>
          <p:cNvSpPr/>
          <p:nvPr/>
        </p:nvSpPr>
        <p:spPr>
          <a:xfrm>
            <a:off x="2133600" y="1219200"/>
            <a:ext cx="1066800" cy="533400"/>
          </a:xfrm>
          <a:prstGeom prst="ellipse">
            <a:avLst/>
          </a:prstGeom>
          <a:solidFill>
            <a:srgbClr val="00FF00"/>
          </a:solidFill>
          <a:ln cap="sq" cmpd="sng" w="952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0" i="0" lang="en-US" sz="1200" u="none" cap="none" strike="noStrike">
                <a:solidFill>
                  <a:srgbClr val="000000"/>
                </a:solidFill>
                <a:latin typeface="Overlock"/>
                <a:ea typeface="Overlock"/>
                <a:cs typeface="Overlock"/>
                <a:sym typeface="Overlock"/>
              </a:rPr>
              <a:t>Data Pesanan</a:t>
            </a:r>
            <a:endParaRPr/>
          </a:p>
        </p:txBody>
      </p:sp>
      <p:sp>
        <p:nvSpPr>
          <p:cNvPr id="423" name="Google Shape;423;p7"/>
          <p:cNvSpPr/>
          <p:nvPr/>
        </p:nvSpPr>
        <p:spPr>
          <a:xfrm>
            <a:off x="1752600" y="2209800"/>
            <a:ext cx="1600200" cy="914400"/>
          </a:xfrm>
          <a:prstGeom prst="ellipse">
            <a:avLst/>
          </a:prstGeom>
          <a:solidFill>
            <a:srgbClr val="F4E7ED"/>
          </a:solidFill>
          <a:ln cap="sq" cmpd="sng" w="952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0" i="0" lang="en-US" sz="1200" u="none" cap="none" strike="noStrike">
                <a:solidFill>
                  <a:srgbClr val="000000"/>
                </a:solidFill>
                <a:latin typeface="Overlock"/>
                <a:ea typeface="Overlock"/>
                <a:cs typeface="Overlock"/>
                <a:sym typeface="Overlock"/>
              </a:rPr>
              <a:t>Data </a:t>
            </a:r>
            <a:endParaRPr/>
          </a:p>
          <a:p>
            <a:pPr indent="0" lvl="0" marL="0" marR="0" rtl="0" algn="ctr">
              <a:spcBef>
                <a:spcPts val="0"/>
              </a:spcBef>
              <a:spcAft>
                <a:spcPts val="0"/>
              </a:spcAft>
              <a:buNone/>
            </a:pPr>
            <a:r>
              <a:rPr b="0" i="0" lang="en-US" sz="1200" u="none" cap="none" strike="noStrike">
                <a:solidFill>
                  <a:srgbClr val="000000"/>
                </a:solidFill>
                <a:latin typeface="Overlock"/>
                <a:ea typeface="Overlock"/>
                <a:cs typeface="Overlock"/>
                <a:sym typeface="Overlock"/>
              </a:rPr>
              <a:t>Perubahan</a:t>
            </a:r>
            <a:endParaRPr/>
          </a:p>
          <a:p>
            <a:pPr indent="0" lvl="0" marL="0" marR="0" rtl="0" algn="ctr">
              <a:spcBef>
                <a:spcPts val="0"/>
              </a:spcBef>
              <a:spcAft>
                <a:spcPts val="0"/>
              </a:spcAft>
              <a:buNone/>
            </a:pPr>
            <a:r>
              <a:rPr b="0" i="0" lang="en-US" sz="1200" u="none" cap="none" strike="noStrike">
                <a:solidFill>
                  <a:srgbClr val="000000"/>
                </a:solidFill>
                <a:latin typeface="Overlock"/>
                <a:ea typeface="Overlock"/>
                <a:cs typeface="Overlock"/>
                <a:sym typeface="Overlock"/>
              </a:rPr>
              <a:t>Rekayasa</a:t>
            </a:r>
            <a:endParaRPr/>
          </a:p>
        </p:txBody>
      </p:sp>
      <p:sp>
        <p:nvSpPr>
          <p:cNvPr id="424" name="Google Shape;424;p7"/>
          <p:cNvSpPr/>
          <p:nvPr/>
        </p:nvSpPr>
        <p:spPr>
          <a:xfrm>
            <a:off x="6858000" y="2362200"/>
            <a:ext cx="1752600" cy="533400"/>
          </a:xfrm>
          <a:prstGeom prst="ellipse">
            <a:avLst/>
          </a:prstGeom>
          <a:solidFill>
            <a:srgbClr val="FFFF99"/>
          </a:solidFill>
          <a:ln cap="sq" cmpd="sng" w="952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0" i="0" lang="en-US" sz="1200" u="none" cap="none" strike="noStrike">
                <a:solidFill>
                  <a:srgbClr val="000000"/>
                </a:solidFill>
                <a:latin typeface="Overlock"/>
                <a:ea typeface="Overlock"/>
                <a:cs typeface="Overlock"/>
                <a:sym typeface="Overlock"/>
              </a:rPr>
              <a:t>Data Perubahan</a:t>
            </a:r>
            <a:endParaRPr/>
          </a:p>
          <a:p>
            <a:pPr indent="0" lvl="0" marL="0" marR="0" rtl="0" algn="ctr">
              <a:spcBef>
                <a:spcPts val="0"/>
              </a:spcBef>
              <a:spcAft>
                <a:spcPts val="0"/>
              </a:spcAft>
              <a:buNone/>
            </a:pPr>
            <a:r>
              <a:rPr b="0" i="0" lang="en-US" sz="1200" u="none" cap="none" strike="noStrike">
                <a:solidFill>
                  <a:srgbClr val="000000"/>
                </a:solidFill>
                <a:latin typeface="Overlock"/>
                <a:ea typeface="Overlock"/>
                <a:cs typeface="Overlock"/>
                <a:sym typeface="Overlock"/>
              </a:rPr>
              <a:t>Kapasitas Produksi</a:t>
            </a:r>
            <a:endParaRPr/>
          </a:p>
        </p:txBody>
      </p:sp>
      <p:sp>
        <p:nvSpPr>
          <p:cNvPr id="425" name="Google Shape;425;p7"/>
          <p:cNvSpPr/>
          <p:nvPr/>
        </p:nvSpPr>
        <p:spPr>
          <a:xfrm>
            <a:off x="7315200" y="3200400"/>
            <a:ext cx="1524000" cy="533400"/>
          </a:xfrm>
          <a:prstGeom prst="ellipse">
            <a:avLst/>
          </a:prstGeom>
          <a:solidFill>
            <a:srgbClr val="3366CC"/>
          </a:solidFill>
          <a:ln cap="sq" cmpd="sng" w="952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0" i="0" lang="en-US" sz="1200" u="none" cap="none" strike="noStrike">
                <a:solidFill>
                  <a:srgbClr val="000000"/>
                </a:solidFill>
                <a:latin typeface="Overlock"/>
                <a:ea typeface="Overlock"/>
                <a:cs typeface="Overlock"/>
                <a:sym typeface="Overlock"/>
              </a:rPr>
              <a:t>Data Transaksi</a:t>
            </a:r>
            <a:endParaRPr/>
          </a:p>
          <a:p>
            <a:pPr indent="0" lvl="0" marL="0" marR="0" rtl="0" algn="ctr">
              <a:spcBef>
                <a:spcPts val="0"/>
              </a:spcBef>
              <a:spcAft>
                <a:spcPts val="0"/>
              </a:spcAft>
              <a:buNone/>
            </a:pPr>
            <a:r>
              <a:rPr b="0" i="0" lang="en-US" sz="1200" u="none" cap="none" strike="noStrike">
                <a:solidFill>
                  <a:srgbClr val="000000"/>
                </a:solidFill>
                <a:latin typeface="Overlock"/>
                <a:ea typeface="Overlock"/>
                <a:cs typeface="Overlock"/>
                <a:sym typeface="Overlock"/>
              </a:rPr>
              <a:t>Sediaan</a:t>
            </a:r>
            <a:endParaRPr/>
          </a:p>
        </p:txBody>
      </p:sp>
      <p:sp>
        <p:nvSpPr>
          <p:cNvPr id="426" name="Google Shape;426;p7"/>
          <p:cNvSpPr/>
          <p:nvPr/>
        </p:nvSpPr>
        <p:spPr>
          <a:xfrm>
            <a:off x="1981200" y="5257800"/>
            <a:ext cx="1600200" cy="685800"/>
          </a:xfrm>
          <a:prstGeom prst="ellipse">
            <a:avLst/>
          </a:prstGeom>
          <a:solidFill>
            <a:srgbClr val="99CED9"/>
          </a:solidFill>
          <a:ln cap="sq" cmpd="sng" w="952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0" i="0" lang="en-US" sz="1200" u="none" cap="none" strike="noStrike">
                <a:solidFill>
                  <a:srgbClr val="000000"/>
                </a:solidFill>
                <a:latin typeface="Overlock"/>
                <a:ea typeface="Overlock"/>
                <a:cs typeface="Overlock"/>
                <a:sym typeface="Overlock"/>
              </a:rPr>
              <a:t>Rencana:</a:t>
            </a:r>
            <a:endParaRPr/>
          </a:p>
          <a:p>
            <a:pPr indent="0" lvl="0" marL="0" marR="0" rtl="0" algn="ctr">
              <a:spcBef>
                <a:spcPts val="0"/>
              </a:spcBef>
              <a:spcAft>
                <a:spcPts val="0"/>
              </a:spcAft>
              <a:buNone/>
            </a:pPr>
            <a:r>
              <a:rPr b="0" i="0" lang="en-US" sz="1200" u="none" cap="none" strike="noStrike">
                <a:solidFill>
                  <a:srgbClr val="000000"/>
                </a:solidFill>
                <a:latin typeface="Overlock"/>
                <a:ea typeface="Overlock"/>
                <a:cs typeface="Overlock"/>
                <a:sym typeface="Overlock"/>
              </a:rPr>
              <a:t>Apa, Kapan dan brp</a:t>
            </a:r>
            <a:endParaRPr/>
          </a:p>
          <a:p>
            <a:pPr indent="0" lvl="0" marL="0" marR="0" rtl="0" algn="ctr">
              <a:spcBef>
                <a:spcPts val="0"/>
              </a:spcBef>
              <a:spcAft>
                <a:spcPts val="0"/>
              </a:spcAft>
              <a:buNone/>
            </a:pPr>
            <a:r>
              <a:rPr b="0" i="0" lang="en-US" sz="1200" u="none" cap="none" strike="noStrike">
                <a:solidFill>
                  <a:srgbClr val="000000"/>
                </a:solidFill>
                <a:latin typeface="Overlock"/>
                <a:ea typeface="Overlock"/>
                <a:cs typeface="Overlock"/>
                <a:sym typeface="Overlock"/>
              </a:rPr>
              <a:t>Jml yg diproduksi</a:t>
            </a:r>
            <a:endParaRPr/>
          </a:p>
        </p:txBody>
      </p:sp>
      <p:sp>
        <p:nvSpPr>
          <p:cNvPr id="427" name="Google Shape;427;p7"/>
          <p:cNvSpPr/>
          <p:nvPr/>
        </p:nvSpPr>
        <p:spPr>
          <a:xfrm>
            <a:off x="1905000" y="3276600"/>
            <a:ext cx="1371600" cy="762000"/>
          </a:xfrm>
          <a:prstGeom prst="rect">
            <a:avLst/>
          </a:prstGeom>
          <a:gradFill>
            <a:gsLst>
              <a:gs pos="0">
                <a:srgbClr val="FF99FF"/>
              </a:gs>
              <a:gs pos="100000">
                <a:srgbClr val="764776"/>
              </a:gs>
            </a:gsLst>
            <a:lin ang="8100000" scaled="0"/>
          </a:gradFill>
          <a:ln cap="sq" cmpd="sng" w="9525">
            <a:solidFill>
              <a:srgbClr val="FFFFFF"/>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0" i="0" lang="en-US" sz="1200" u="none" cap="none" strike="noStrike">
                <a:solidFill>
                  <a:srgbClr val="000000"/>
                </a:solidFill>
                <a:latin typeface="Overlock"/>
                <a:ea typeface="Overlock"/>
                <a:cs typeface="Overlock"/>
                <a:sym typeface="Overlock"/>
              </a:rPr>
              <a:t>Penyediaan Data</a:t>
            </a:r>
            <a:endParaRPr/>
          </a:p>
          <a:p>
            <a:pPr indent="0" lvl="0" marL="0" marR="0" rtl="0" algn="ctr">
              <a:spcBef>
                <a:spcPts val="0"/>
              </a:spcBef>
              <a:spcAft>
                <a:spcPts val="0"/>
              </a:spcAft>
              <a:buNone/>
            </a:pPr>
            <a:r>
              <a:rPr b="0" i="0" lang="en-US" sz="1200" u="none" cap="none" strike="noStrike">
                <a:solidFill>
                  <a:srgbClr val="000000"/>
                </a:solidFill>
                <a:latin typeface="Overlock"/>
                <a:ea typeface="Overlock"/>
                <a:cs typeface="Overlock"/>
                <a:sym typeface="Overlock"/>
              </a:rPr>
              <a:t>Struktur Produk &amp;</a:t>
            </a:r>
            <a:endParaRPr/>
          </a:p>
          <a:p>
            <a:pPr indent="0" lvl="0" marL="0" marR="0" rtl="0" algn="ctr">
              <a:spcBef>
                <a:spcPts val="0"/>
              </a:spcBef>
              <a:spcAft>
                <a:spcPts val="0"/>
              </a:spcAft>
              <a:buNone/>
            </a:pPr>
            <a:r>
              <a:rPr b="0" i="0" lang="en-US" sz="1200" u="none" cap="none" strike="noStrike">
                <a:solidFill>
                  <a:srgbClr val="000000"/>
                </a:solidFill>
                <a:latin typeface="Overlock"/>
                <a:ea typeface="Overlock"/>
                <a:cs typeface="Overlock"/>
                <a:sym typeface="Overlock"/>
              </a:rPr>
              <a:t>Urutan Pekerjaan</a:t>
            </a:r>
            <a:endParaRPr/>
          </a:p>
        </p:txBody>
      </p:sp>
      <p:sp>
        <p:nvSpPr>
          <p:cNvPr id="428" name="Google Shape;428;p7"/>
          <p:cNvSpPr/>
          <p:nvPr/>
        </p:nvSpPr>
        <p:spPr>
          <a:xfrm>
            <a:off x="7086600" y="4038600"/>
            <a:ext cx="1447800" cy="533400"/>
          </a:xfrm>
          <a:prstGeom prst="rect">
            <a:avLst/>
          </a:prstGeom>
          <a:solidFill>
            <a:srgbClr val="FF9900"/>
          </a:solidFill>
          <a:ln cap="sq" cmpd="sng" w="952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0" i="0" lang="en-US" sz="1400" u="none" cap="none" strike="noStrike">
                <a:solidFill>
                  <a:srgbClr val="000000"/>
                </a:solidFill>
                <a:latin typeface="Overlock"/>
                <a:ea typeface="Overlock"/>
                <a:cs typeface="Overlock"/>
                <a:sym typeface="Overlock"/>
              </a:rPr>
              <a:t>Penyediaan Data</a:t>
            </a:r>
            <a:endParaRPr/>
          </a:p>
          <a:p>
            <a:pPr indent="0" lvl="0" marL="0" marR="0" rtl="0" algn="ctr">
              <a:spcBef>
                <a:spcPts val="0"/>
              </a:spcBef>
              <a:spcAft>
                <a:spcPts val="0"/>
              </a:spcAft>
              <a:buNone/>
            </a:pPr>
            <a:r>
              <a:rPr b="0" i="0" lang="en-US" sz="1400" u="none" cap="none" strike="noStrike">
                <a:solidFill>
                  <a:srgbClr val="000000"/>
                </a:solidFill>
                <a:latin typeface="Overlock"/>
                <a:ea typeface="Overlock"/>
                <a:cs typeface="Overlock"/>
                <a:sym typeface="Overlock"/>
              </a:rPr>
              <a:t> Status Persediaan</a:t>
            </a:r>
            <a:endParaRPr/>
          </a:p>
        </p:txBody>
      </p:sp>
      <p:sp>
        <p:nvSpPr>
          <p:cNvPr id="429" name="Google Shape;429;p7"/>
          <p:cNvSpPr/>
          <p:nvPr/>
        </p:nvSpPr>
        <p:spPr>
          <a:xfrm>
            <a:off x="6553200" y="4800600"/>
            <a:ext cx="2590800" cy="762000"/>
          </a:xfrm>
          <a:prstGeom prst="rect">
            <a:avLst/>
          </a:prstGeom>
          <a:solidFill>
            <a:srgbClr val="00FF99"/>
          </a:solidFill>
          <a:ln cap="sq" cmpd="sng" w="952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0" i="0" lang="en-US" sz="1400" u="none" cap="none" strike="noStrike">
                <a:solidFill>
                  <a:srgbClr val="000000"/>
                </a:solidFill>
                <a:latin typeface="Overlock"/>
                <a:ea typeface="Overlock"/>
                <a:cs typeface="Overlock"/>
                <a:sym typeface="Overlock"/>
              </a:rPr>
              <a:t>Evaluasi Skenario Pembebanan/</a:t>
            </a:r>
            <a:endParaRPr/>
          </a:p>
          <a:p>
            <a:pPr indent="0" lvl="0" marL="0" marR="0" rtl="0" algn="ctr">
              <a:spcBef>
                <a:spcPts val="0"/>
              </a:spcBef>
              <a:spcAft>
                <a:spcPts val="0"/>
              </a:spcAft>
              <a:buNone/>
            </a:pPr>
            <a:r>
              <a:rPr b="0" i="0" lang="en-US" sz="1400" u="none" cap="none" strike="noStrike">
                <a:solidFill>
                  <a:srgbClr val="000000"/>
                </a:solidFill>
                <a:latin typeface="Overlock"/>
                <a:ea typeface="Overlock"/>
                <a:cs typeface="Overlock"/>
                <a:sym typeface="Overlock"/>
              </a:rPr>
              <a:t>Kapasitas Secara Interaktif</a:t>
            </a:r>
            <a:endParaRPr/>
          </a:p>
        </p:txBody>
      </p:sp>
      <p:sp>
        <p:nvSpPr>
          <p:cNvPr id="430" name="Google Shape;430;p7"/>
          <p:cNvSpPr/>
          <p:nvPr/>
        </p:nvSpPr>
        <p:spPr>
          <a:xfrm>
            <a:off x="6781800" y="5791200"/>
            <a:ext cx="1828800" cy="914400"/>
          </a:xfrm>
          <a:prstGeom prst="rect">
            <a:avLst/>
          </a:prstGeom>
          <a:solidFill>
            <a:srgbClr val="CC00CC"/>
          </a:solidFill>
          <a:ln cap="sq" cmpd="sng" w="952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0" i="0" lang="en-US" sz="1400" u="none" cap="none" strike="noStrike">
                <a:solidFill>
                  <a:srgbClr val="000000"/>
                </a:solidFill>
                <a:latin typeface="Overlock"/>
                <a:ea typeface="Overlock"/>
                <a:cs typeface="Overlock"/>
                <a:sym typeface="Overlock"/>
              </a:rPr>
              <a:t>Monitoring &amp; Laporan </a:t>
            </a:r>
            <a:endParaRPr/>
          </a:p>
          <a:p>
            <a:pPr indent="0" lvl="0" marL="0" marR="0" rtl="0" algn="ctr">
              <a:spcBef>
                <a:spcPts val="0"/>
              </a:spcBef>
              <a:spcAft>
                <a:spcPts val="0"/>
              </a:spcAft>
              <a:buNone/>
            </a:pPr>
            <a:r>
              <a:rPr b="0" i="0" lang="en-US" sz="1400" u="none" cap="none" strike="noStrike">
                <a:solidFill>
                  <a:srgbClr val="000000"/>
                </a:solidFill>
                <a:latin typeface="Overlock"/>
                <a:ea typeface="Overlock"/>
                <a:cs typeface="Overlock"/>
                <a:sym typeface="Overlock"/>
              </a:rPr>
              <a:t>Kapasitas</a:t>
            </a:r>
            <a:endParaRPr/>
          </a:p>
          <a:p>
            <a:pPr indent="0" lvl="0" marL="0" marR="0" rtl="0" algn="ctr">
              <a:spcBef>
                <a:spcPts val="0"/>
              </a:spcBef>
              <a:spcAft>
                <a:spcPts val="0"/>
              </a:spcAft>
              <a:buNone/>
            </a:pPr>
            <a:r>
              <a:rPr b="0" i="0" lang="en-US" sz="1400" u="none" cap="none" strike="noStrike">
                <a:solidFill>
                  <a:srgbClr val="000000"/>
                </a:solidFill>
                <a:latin typeface="Overlock"/>
                <a:ea typeface="Overlock"/>
                <a:cs typeface="Overlock"/>
                <a:sym typeface="Overlock"/>
              </a:rPr>
              <a:t>Dibanding Beban</a:t>
            </a:r>
            <a:endParaRPr/>
          </a:p>
        </p:txBody>
      </p:sp>
      <p:cxnSp>
        <p:nvCxnSpPr>
          <p:cNvPr id="431" name="Google Shape;431;p7"/>
          <p:cNvCxnSpPr/>
          <p:nvPr/>
        </p:nvCxnSpPr>
        <p:spPr>
          <a:xfrm>
            <a:off x="2667000" y="1752600"/>
            <a:ext cx="838200" cy="838200"/>
          </a:xfrm>
          <a:prstGeom prst="straightConnector1">
            <a:avLst/>
          </a:prstGeom>
          <a:noFill/>
          <a:ln cap="sq" cmpd="sng" w="9525">
            <a:solidFill>
              <a:srgbClr val="000000"/>
            </a:solidFill>
            <a:prstDash val="solid"/>
            <a:miter lim="800000"/>
            <a:headEnd len="med" w="med" type="none"/>
            <a:tailEnd len="med" w="med" type="none"/>
          </a:ln>
        </p:spPr>
      </p:cxnSp>
      <p:cxnSp>
        <p:nvCxnSpPr>
          <p:cNvPr id="432" name="Google Shape;432;p7"/>
          <p:cNvCxnSpPr/>
          <p:nvPr/>
        </p:nvCxnSpPr>
        <p:spPr>
          <a:xfrm>
            <a:off x="3505200" y="2590800"/>
            <a:ext cx="990600" cy="1588"/>
          </a:xfrm>
          <a:prstGeom prst="straightConnector1">
            <a:avLst/>
          </a:prstGeom>
          <a:noFill/>
          <a:ln cap="sq" cmpd="sng" w="9525">
            <a:solidFill>
              <a:srgbClr val="000000"/>
            </a:solidFill>
            <a:prstDash val="solid"/>
            <a:miter lim="800000"/>
            <a:headEnd len="med" w="med" type="none"/>
            <a:tailEnd len="med" w="med" type="triangle"/>
          </a:ln>
        </p:spPr>
      </p:cxnSp>
      <p:cxnSp>
        <p:nvCxnSpPr>
          <p:cNvPr id="433" name="Google Shape;433;p7"/>
          <p:cNvCxnSpPr/>
          <p:nvPr/>
        </p:nvCxnSpPr>
        <p:spPr>
          <a:xfrm>
            <a:off x="2514600" y="3124200"/>
            <a:ext cx="1588" cy="152400"/>
          </a:xfrm>
          <a:prstGeom prst="straightConnector1">
            <a:avLst/>
          </a:prstGeom>
          <a:noFill/>
          <a:ln cap="sq" cmpd="sng" w="9525">
            <a:solidFill>
              <a:srgbClr val="000000"/>
            </a:solidFill>
            <a:prstDash val="solid"/>
            <a:miter lim="800000"/>
            <a:headEnd len="med" w="med" type="none"/>
            <a:tailEnd len="med" w="med" type="triangle"/>
          </a:ln>
        </p:spPr>
      </p:cxnSp>
      <p:cxnSp>
        <p:nvCxnSpPr>
          <p:cNvPr id="434" name="Google Shape;434;p7"/>
          <p:cNvCxnSpPr/>
          <p:nvPr/>
        </p:nvCxnSpPr>
        <p:spPr>
          <a:xfrm>
            <a:off x="2514600" y="4038600"/>
            <a:ext cx="1588" cy="381000"/>
          </a:xfrm>
          <a:prstGeom prst="straightConnector1">
            <a:avLst/>
          </a:prstGeom>
          <a:noFill/>
          <a:ln cap="sq" cmpd="sng" w="9525">
            <a:solidFill>
              <a:srgbClr val="000000"/>
            </a:solidFill>
            <a:prstDash val="solid"/>
            <a:miter lim="800000"/>
            <a:headEnd len="med" w="med" type="none"/>
            <a:tailEnd len="med" w="med" type="none"/>
          </a:ln>
        </p:spPr>
      </p:cxnSp>
      <p:cxnSp>
        <p:nvCxnSpPr>
          <p:cNvPr id="435" name="Google Shape;435;p7"/>
          <p:cNvCxnSpPr/>
          <p:nvPr/>
        </p:nvCxnSpPr>
        <p:spPr>
          <a:xfrm>
            <a:off x="2514600" y="4419600"/>
            <a:ext cx="2286000" cy="1588"/>
          </a:xfrm>
          <a:prstGeom prst="straightConnector1">
            <a:avLst/>
          </a:prstGeom>
          <a:noFill/>
          <a:ln cap="sq" cmpd="sng" w="9525">
            <a:solidFill>
              <a:srgbClr val="000000"/>
            </a:solidFill>
            <a:prstDash val="solid"/>
            <a:miter lim="800000"/>
            <a:headEnd len="med" w="med" type="none"/>
            <a:tailEnd len="med" w="med" type="triangle"/>
          </a:ln>
        </p:spPr>
      </p:cxnSp>
      <p:cxnSp>
        <p:nvCxnSpPr>
          <p:cNvPr id="436" name="Google Shape;436;p7"/>
          <p:cNvCxnSpPr/>
          <p:nvPr/>
        </p:nvCxnSpPr>
        <p:spPr>
          <a:xfrm flipH="1">
            <a:off x="2741613" y="4495800"/>
            <a:ext cx="2060575" cy="1588"/>
          </a:xfrm>
          <a:prstGeom prst="straightConnector1">
            <a:avLst/>
          </a:prstGeom>
          <a:noFill/>
          <a:ln cap="sq" cmpd="sng" w="9525">
            <a:solidFill>
              <a:srgbClr val="000000"/>
            </a:solidFill>
            <a:prstDash val="solid"/>
            <a:miter lim="800000"/>
            <a:headEnd len="med" w="med" type="none"/>
            <a:tailEnd len="med" w="med" type="none"/>
          </a:ln>
        </p:spPr>
      </p:cxnSp>
      <p:cxnSp>
        <p:nvCxnSpPr>
          <p:cNvPr id="437" name="Google Shape;437;p7"/>
          <p:cNvCxnSpPr/>
          <p:nvPr/>
        </p:nvCxnSpPr>
        <p:spPr>
          <a:xfrm>
            <a:off x="2743200" y="4495800"/>
            <a:ext cx="1588" cy="762000"/>
          </a:xfrm>
          <a:prstGeom prst="straightConnector1">
            <a:avLst/>
          </a:prstGeom>
          <a:noFill/>
          <a:ln cap="sq" cmpd="sng" w="9525">
            <a:solidFill>
              <a:srgbClr val="000000"/>
            </a:solidFill>
            <a:prstDash val="solid"/>
            <a:miter lim="800000"/>
            <a:headEnd len="med" w="med" type="none"/>
            <a:tailEnd len="med" w="med" type="triangle"/>
          </a:ln>
        </p:spPr>
      </p:cxnSp>
      <p:cxnSp>
        <p:nvCxnSpPr>
          <p:cNvPr id="438" name="Google Shape;438;p7"/>
          <p:cNvCxnSpPr/>
          <p:nvPr/>
        </p:nvCxnSpPr>
        <p:spPr>
          <a:xfrm flipH="1">
            <a:off x="5713413" y="2590800"/>
            <a:ext cx="1146175" cy="1588"/>
          </a:xfrm>
          <a:prstGeom prst="straightConnector1">
            <a:avLst/>
          </a:prstGeom>
          <a:noFill/>
          <a:ln cap="sq" cmpd="sng" w="9525">
            <a:solidFill>
              <a:srgbClr val="000000"/>
            </a:solidFill>
            <a:prstDash val="solid"/>
            <a:miter lim="800000"/>
            <a:headEnd len="med" w="med" type="none"/>
            <a:tailEnd len="med" w="med" type="triangle"/>
          </a:ln>
        </p:spPr>
      </p:cxnSp>
      <p:cxnSp>
        <p:nvCxnSpPr>
          <p:cNvPr id="439" name="Google Shape;439;p7"/>
          <p:cNvCxnSpPr/>
          <p:nvPr/>
        </p:nvCxnSpPr>
        <p:spPr>
          <a:xfrm>
            <a:off x="8077200" y="3733800"/>
            <a:ext cx="1588" cy="304800"/>
          </a:xfrm>
          <a:prstGeom prst="straightConnector1">
            <a:avLst/>
          </a:prstGeom>
          <a:noFill/>
          <a:ln cap="sq" cmpd="sng" w="9525">
            <a:solidFill>
              <a:srgbClr val="000000"/>
            </a:solidFill>
            <a:prstDash val="solid"/>
            <a:miter lim="800000"/>
            <a:headEnd len="med" w="med" type="none"/>
            <a:tailEnd len="med" w="med" type="triangle"/>
          </a:ln>
        </p:spPr>
      </p:cxnSp>
      <p:cxnSp>
        <p:nvCxnSpPr>
          <p:cNvPr id="440" name="Google Shape;440;p7"/>
          <p:cNvCxnSpPr/>
          <p:nvPr/>
        </p:nvCxnSpPr>
        <p:spPr>
          <a:xfrm flipH="1">
            <a:off x="5561013" y="4343400"/>
            <a:ext cx="1527175" cy="1588"/>
          </a:xfrm>
          <a:prstGeom prst="straightConnector1">
            <a:avLst/>
          </a:prstGeom>
          <a:noFill/>
          <a:ln cap="sq" cmpd="sng" w="9525">
            <a:solidFill>
              <a:srgbClr val="000000"/>
            </a:solidFill>
            <a:prstDash val="solid"/>
            <a:miter lim="800000"/>
            <a:headEnd len="med" w="med" type="none"/>
            <a:tailEnd len="med" w="med" type="triangle"/>
          </a:ln>
        </p:spPr>
      </p:cxnSp>
      <p:cxnSp>
        <p:nvCxnSpPr>
          <p:cNvPr id="441" name="Google Shape;441;p7"/>
          <p:cNvCxnSpPr/>
          <p:nvPr/>
        </p:nvCxnSpPr>
        <p:spPr>
          <a:xfrm>
            <a:off x="7848600" y="5562600"/>
            <a:ext cx="1588" cy="228600"/>
          </a:xfrm>
          <a:prstGeom prst="straightConnector1">
            <a:avLst/>
          </a:prstGeom>
          <a:noFill/>
          <a:ln cap="sq" cmpd="sng" w="9525">
            <a:solidFill>
              <a:srgbClr val="000000"/>
            </a:solidFill>
            <a:prstDash val="solid"/>
            <a:miter lim="800000"/>
            <a:headEnd len="med" w="med" type="triangle"/>
            <a:tailEnd len="med" w="med" type="triangle"/>
          </a:ln>
        </p:spPr>
      </p:cxnSp>
      <p:cxnSp>
        <p:nvCxnSpPr>
          <p:cNvPr id="442" name="Google Shape;442;p7"/>
          <p:cNvCxnSpPr/>
          <p:nvPr/>
        </p:nvCxnSpPr>
        <p:spPr>
          <a:xfrm>
            <a:off x="8610600" y="2667000"/>
            <a:ext cx="304800" cy="228600"/>
          </a:xfrm>
          <a:prstGeom prst="straightConnector1">
            <a:avLst/>
          </a:prstGeom>
          <a:noFill/>
          <a:ln cap="sq" cmpd="sng" w="9525">
            <a:solidFill>
              <a:srgbClr val="000000"/>
            </a:solidFill>
            <a:prstDash val="solid"/>
            <a:miter lim="800000"/>
            <a:headEnd len="med" w="med" type="none"/>
            <a:tailEnd len="med" w="med" type="none"/>
          </a:ln>
        </p:spPr>
      </p:cxnSp>
      <p:cxnSp>
        <p:nvCxnSpPr>
          <p:cNvPr id="443" name="Google Shape;443;p7"/>
          <p:cNvCxnSpPr/>
          <p:nvPr/>
        </p:nvCxnSpPr>
        <p:spPr>
          <a:xfrm flipH="1" rot="10800000">
            <a:off x="8915400" y="4037013"/>
            <a:ext cx="1588" cy="765175"/>
          </a:xfrm>
          <a:prstGeom prst="straightConnector1">
            <a:avLst/>
          </a:prstGeom>
          <a:noFill/>
          <a:ln cap="sq" cmpd="sng" w="9525">
            <a:solidFill>
              <a:srgbClr val="000000"/>
            </a:solidFill>
            <a:prstDash val="solid"/>
            <a:miter lim="800000"/>
            <a:headEnd len="med" w="med" type="none"/>
            <a:tailEnd len="med" w="med" type="triangle"/>
          </a:ln>
        </p:spPr>
      </p:cxnSp>
      <p:cxnSp>
        <p:nvCxnSpPr>
          <p:cNvPr id="444" name="Google Shape;444;p7"/>
          <p:cNvCxnSpPr/>
          <p:nvPr/>
        </p:nvCxnSpPr>
        <p:spPr>
          <a:xfrm>
            <a:off x="8915400" y="2895600"/>
            <a:ext cx="1588" cy="990600"/>
          </a:xfrm>
          <a:prstGeom prst="straightConnector1">
            <a:avLst/>
          </a:prstGeom>
          <a:noFill/>
          <a:ln cap="sq" cmpd="sng" w="9525">
            <a:solidFill>
              <a:srgbClr val="000000"/>
            </a:solidFill>
            <a:prstDash val="solid"/>
            <a:miter lim="800000"/>
            <a:headEnd len="med" w="med" type="none"/>
            <a:tailEnd len="med" w="med" type="triangle"/>
          </a:ln>
        </p:spPr>
      </p:cxnSp>
      <p:sp>
        <p:nvSpPr>
          <p:cNvPr id="445" name="Google Shape;445;p7"/>
          <p:cNvSpPr/>
          <p:nvPr/>
        </p:nvSpPr>
        <p:spPr>
          <a:xfrm>
            <a:off x="5943600" y="4953000"/>
            <a:ext cx="609600" cy="381000"/>
          </a:xfrm>
          <a:prstGeom prst="leftArrow">
            <a:avLst>
              <a:gd fmla="val 50000" name="adj1"/>
              <a:gd fmla="val 40000" name="adj2"/>
            </a:avLst>
          </a:prstGeom>
          <a:solidFill>
            <a:srgbClr val="FFCC99"/>
          </a:solid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6" name="Google Shape;446;p7"/>
          <p:cNvSpPr/>
          <p:nvPr/>
        </p:nvSpPr>
        <p:spPr>
          <a:xfrm>
            <a:off x="5791200" y="5867400"/>
            <a:ext cx="914400" cy="457200"/>
          </a:xfrm>
          <a:prstGeom prst="rightArrow">
            <a:avLst>
              <a:gd fmla="val 50000" name="adj1"/>
              <a:gd fmla="val 50000" name="adj2"/>
            </a:avLst>
          </a:prstGeom>
          <a:solidFill>
            <a:srgbClr val="FF0101"/>
          </a:solid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7" name="Google Shape;447;p7"/>
          <p:cNvSpPr txBox="1"/>
          <p:nvPr/>
        </p:nvSpPr>
        <p:spPr>
          <a:xfrm>
            <a:off x="0" y="0"/>
            <a:ext cx="12192000" cy="1063625"/>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F3F3F"/>
              </a:buClr>
              <a:buSzPts val="4400"/>
              <a:buFont typeface="Calibri"/>
              <a:buNone/>
            </a:pPr>
            <a:r>
              <a:rPr b="1" i="0" lang="en-US" sz="4400" u="none" cap="none" strike="noStrike">
                <a:solidFill>
                  <a:srgbClr val="3F3F3F"/>
                </a:solidFill>
                <a:latin typeface="Calibri"/>
                <a:ea typeface="Calibri"/>
                <a:cs typeface="Calibri"/>
                <a:sym typeface="Calibri"/>
              </a:rPr>
              <a:t>   Ruang Lingkup PPIC</a:t>
            </a:r>
            <a:endParaRPr b="1" i="0" sz="4400" u="none" cap="none" strike="noStrike">
              <a:solidFill>
                <a:srgbClr val="3F3F3F"/>
              </a:solidFill>
              <a:latin typeface="Calibri"/>
              <a:ea typeface="Calibri"/>
              <a:cs typeface="Calibri"/>
              <a:sym typeface="Calibri"/>
            </a:endParaRPr>
          </a:p>
        </p:txBody>
      </p:sp>
      <p:pic>
        <p:nvPicPr>
          <p:cNvPr id="448" name="Google Shape;448;p7"/>
          <p:cNvPicPr preferRelativeResize="0"/>
          <p:nvPr/>
        </p:nvPicPr>
        <p:blipFill rotWithShape="1">
          <a:blip r:embed="rId3">
            <a:alphaModFix/>
          </a:blip>
          <a:srcRect b="0" l="0" r="0" t="0"/>
          <a:stretch/>
        </p:blipFill>
        <p:spPr>
          <a:xfrm>
            <a:off x="7856538" y="152400"/>
            <a:ext cx="2574925" cy="838200"/>
          </a:xfrm>
          <a:prstGeom prst="rect">
            <a:avLst/>
          </a:prstGeom>
          <a:noFill/>
          <a:ln>
            <a:noFill/>
          </a:ln>
        </p:spPr>
      </p:pic>
      <p:pic>
        <p:nvPicPr>
          <p:cNvPr id="449" name="Google Shape;449;p7"/>
          <p:cNvPicPr preferRelativeResize="0"/>
          <p:nvPr/>
        </p:nvPicPr>
        <p:blipFill rotWithShape="1">
          <a:blip r:embed="rId4">
            <a:alphaModFix/>
          </a:blip>
          <a:srcRect b="0" l="0" r="0" t="0"/>
          <a:stretch/>
        </p:blipFill>
        <p:spPr>
          <a:xfrm>
            <a:off x="10752138" y="111125"/>
            <a:ext cx="1062037" cy="952500"/>
          </a:xfrm>
          <a:prstGeom prst="rect">
            <a:avLst/>
          </a:prstGeom>
          <a:noFill/>
          <a:ln>
            <a:noFill/>
          </a:ln>
        </p:spPr>
      </p:pic>
      <p:cxnSp>
        <p:nvCxnSpPr>
          <p:cNvPr id="450" name="Google Shape;450;p7"/>
          <p:cNvCxnSpPr/>
          <p:nvPr/>
        </p:nvCxnSpPr>
        <p:spPr>
          <a:xfrm>
            <a:off x="1169194" y="3200400"/>
            <a:ext cx="8783638" cy="0"/>
          </a:xfrm>
          <a:prstGeom prst="straightConnector1">
            <a:avLst/>
          </a:prstGeom>
          <a:noFill/>
          <a:ln cap="flat" cmpd="sng" w="9525">
            <a:solidFill>
              <a:schemeClr val="accent1"/>
            </a:solidFill>
            <a:prstDash val="dash"/>
            <a:miter lim="800000"/>
            <a:headEnd len="sm" w="sm" type="none"/>
            <a:tailEnd len="sm" w="sm" type="none"/>
          </a:ln>
        </p:spPr>
      </p:cxnSp>
      <p:cxnSp>
        <p:nvCxnSpPr>
          <p:cNvPr id="451" name="Google Shape;451;p7"/>
          <p:cNvCxnSpPr/>
          <p:nvPr/>
        </p:nvCxnSpPr>
        <p:spPr>
          <a:xfrm>
            <a:off x="1171575" y="5638800"/>
            <a:ext cx="8783637" cy="0"/>
          </a:xfrm>
          <a:prstGeom prst="straightConnector1">
            <a:avLst/>
          </a:prstGeom>
          <a:noFill/>
          <a:ln cap="flat" cmpd="sng" w="9525">
            <a:solidFill>
              <a:schemeClr val="accent1"/>
            </a:solidFill>
            <a:prstDash val="dash"/>
            <a:miter lim="800000"/>
            <a:headEnd len="sm" w="sm" type="none"/>
            <a:tailEnd len="sm" w="sm" type="none"/>
          </a:ln>
        </p:spPr>
      </p:cxnSp>
      <p:sp>
        <p:nvSpPr>
          <p:cNvPr id="452" name="Google Shape;452;p7"/>
          <p:cNvSpPr txBox="1"/>
          <p:nvPr/>
        </p:nvSpPr>
        <p:spPr>
          <a:xfrm>
            <a:off x="9067800" y="2605881"/>
            <a:ext cx="1116013"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200" u="none" cap="none" strike="noStrike">
                <a:solidFill>
                  <a:srgbClr val="2F5496"/>
                </a:solidFill>
                <a:latin typeface="Nunito"/>
                <a:ea typeface="Nunito"/>
                <a:cs typeface="Nunito"/>
                <a:sym typeface="Nunito"/>
              </a:rPr>
              <a:t>Perencanaan Strategis</a:t>
            </a:r>
            <a:endParaRPr b="0" i="1" sz="1200" u="none" cap="none" strike="noStrike">
              <a:solidFill>
                <a:srgbClr val="2F5496"/>
              </a:solidFill>
              <a:latin typeface="Nunito"/>
              <a:ea typeface="Nunito"/>
              <a:cs typeface="Nunito"/>
              <a:sym typeface="Nunito"/>
            </a:endParaRPr>
          </a:p>
        </p:txBody>
      </p:sp>
      <p:sp>
        <p:nvSpPr>
          <p:cNvPr id="453" name="Google Shape;453;p7"/>
          <p:cNvSpPr txBox="1"/>
          <p:nvPr/>
        </p:nvSpPr>
        <p:spPr>
          <a:xfrm>
            <a:off x="9144000" y="4225925"/>
            <a:ext cx="1116013"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200" u="none" cap="none" strike="noStrike">
                <a:solidFill>
                  <a:srgbClr val="2F5496"/>
                </a:solidFill>
                <a:latin typeface="Nunito"/>
                <a:ea typeface="Nunito"/>
                <a:cs typeface="Nunito"/>
                <a:sym typeface="Nunito"/>
              </a:rPr>
              <a:t>Perencanaan Taktis</a:t>
            </a:r>
            <a:endParaRPr b="0" i="1" sz="1200" u="none" cap="none" strike="noStrike">
              <a:solidFill>
                <a:srgbClr val="2F5496"/>
              </a:solidFill>
              <a:latin typeface="Nunito"/>
              <a:ea typeface="Nunito"/>
              <a:cs typeface="Nunito"/>
              <a:sym typeface="Nunito"/>
            </a:endParaRPr>
          </a:p>
        </p:txBody>
      </p:sp>
      <p:sp>
        <p:nvSpPr>
          <p:cNvPr id="454" name="Google Shape;454;p7"/>
          <p:cNvSpPr txBox="1"/>
          <p:nvPr/>
        </p:nvSpPr>
        <p:spPr>
          <a:xfrm>
            <a:off x="9085480" y="5957455"/>
            <a:ext cx="1116012"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200" u="none" cap="none" strike="noStrike">
                <a:solidFill>
                  <a:srgbClr val="2F5496"/>
                </a:solidFill>
                <a:latin typeface="Nunito"/>
                <a:ea typeface="Nunito"/>
                <a:cs typeface="Nunito"/>
                <a:sym typeface="Nunito"/>
              </a:rPr>
              <a:t>Perencanaan Eksekusi</a:t>
            </a:r>
            <a:endParaRPr b="0" i="1" sz="1200" u="none" cap="none" strike="noStrike">
              <a:solidFill>
                <a:srgbClr val="2F5496"/>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pic>
        <p:nvPicPr>
          <p:cNvPr descr="Man shows something on laptop" id="460" name="Google Shape;460;p8"/>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461" name="Google Shape;461;p8"/>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a:solidFill>
                  <a:srgbClr val="3F3F3F"/>
                </a:solidFill>
              </a:rPr>
              <a:t>Definisi PPC :</a:t>
            </a:r>
            <a:endParaRPr b="1">
              <a:solidFill>
                <a:srgbClr val="3F3F3F"/>
              </a:solidFill>
            </a:endParaRPr>
          </a:p>
        </p:txBody>
      </p:sp>
      <p:sp>
        <p:nvSpPr>
          <p:cNvPr id="462" name="Google Shape;462;p8"/>
          <p:cNvSpPr txBox="1"/>
          <p:nvPr>
            <p:ph idx="1" type="body"/>
          </p:nvPr>
        </p:nvSpPr>
        <p:spPr>
          <a:xfrm>
            <a:off x="446088" y="1812925"/>
            <a:ext cx="11207750" cy="408781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Arial"/>
              <a:buNone/>
            </a:pPr>
            <a:r>
              <a:rPr b="1" lang="en-US" sz="4400"/>
              <a:t>Perencanaan dan Pengendalian Produksi:</a:t>
            </a:r>
            <a:endParaRPr/>
          </a:p>
          <a:p>
            <a:pPr indent="0" lvl="0" marL="0" rtl="0" algn="l">
              <a:lnSpc>
                <a:spcPct val="90000"/>
              </a:lnSpc>
              <a:spcBef>
                <a:spcPts val="1000"/>
              </a:spcBef>
              <a:spcAft>
                <a:spcPts val="0"/>
              </a:spcAft>
              <a:buClr>
                <a:schemeClr val="dk1"/>
              </a:buClr>
              <a:buSzPts val="3200"/>
              <a:buFont typeface="Arial"/>
              <a:buNone/>
            </a:pPr>
            <a:r>
              <a:t/>
            </a:r>
            <a:endParaRPr b="1" sz="3200"/>
          </a:p>
          <a:p>
            <a:pPr indent="0" lvl="0" marL="0" rtl="0" algn="l">
              <a:lnSpc>
                <a:spcPct val="90000"/>
              </a:lnSpc>
              <a:spcBef>
                <a:spcPts val="1000"/>
              </a:spcBef>
              <a:spcAft>
                <a:spcPts val="0"/>
              </a:spcAft>
              <a:buClr>
                <a:schemeClr val="dk1"/>
              </a:buClr>
              <a:buSzPts val="3200"/>
              <a:buFont typeface="Arial"/>
              <a:buNone/>
            </a:pPr>
            <a:r>
              <a:rPr b="1" lang="en-US" sz="3200">
                <a:latin typeface="Arial"/>
                <a:ea typeface="Arial"/>
                <a:cs typeface="Arial"/>
                <a:sym typeface="Arial"/>
              </a:rPr>
              <a:t> </a:t>
            </a:r>
            <a:r>
              <a:rPr lang="en-US" sz="4000">
                <a:solidFill>
                  <a:srgbClr val="0432FF"/>
                </a:solidFill>
                <a:latin typeface="Arial"/>
                <a:ea typeface="Arial"/>
                <a:cs typeface="Arial"/>
                <a:sym typeface="Arial"/>
              </a:rPr>
              <a:t>“Perencanaan dan pengendalian produksi yaitu merencanakan kegiatan-kegiatan produksi, agar apa yang telah direncanakan dapat terlaksana dengan baik”</a:t>
            </a:r>
            <a:endParaRPr/>
          </a:p>
          <a:p>
            <a:pPr indent="0" lvl="0" marL="0" rtl="0" algn="l">
              <a:lnSpc>
                <a:spcPct val="90000"/>
              </a:lnSpc>
              <a:spcBef>
                <a:spcPts val="1000"/>
              </a:spcBef>
              <a:spcAft>
                <a:spcPts val="0"/>
              </a:spcAft>
              <a:buClr>
                <a:schemeClr val="dk1"/>
              </a:buClr>
              <a:buSzPts val="3200"/>
              <a:buFont typeface="Arial"/>
              <a:buNone/>
            </a:pPr>
            <a:r>
              <a:t/>
            </a:r>
            <a:endParaRPr sz="3200"/>
          </a:p>
        </p:txBody>
      </p:sp>
      <p:sp>
        <p:nvSpPr>
          <p:cNvPr id="463" name="Google Shape;46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464" name="Google Shape;46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cap="none" strike="noStrike">
                <a:solidFill>
                  <a:srgbClr val="FFFFFF"/>
                </a:solidFill>
                <a:latin typeface="Calibri"/>
                <a:ea typeface="Calibri"/>
                <a:cs typeface="Calibri"/>
                <a:sym typeface="Calibri"/>
              </a:rPr>
              <a:t>‹#›</a:t>
            </a:fld>
            <a:endParaRPr b="0" i="0" sz="1200" u="none" cap="none" strike="noStrike">
              <a:solidFill>
                <a:srgbClr val="FFFFFF"/>
              </a:solidFill>
              <a:latin typeface="Calibri"/>
              <a:ea typeface="Calibri"/>
              <a:cs typeface="Calibri"/>
              <a:sym typeface="Calibri"/>
            </a:endParaRPr>
          </a:p>
        </p:txBody>
      </p:sp>
      <p:pic>
        <p:nvPicPr>
          <p:cNvPr id="465" name="Google Shape;465;p8"/>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466" name="Google Shape;466;p8"/>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pic>
        <p:nvPicPr>
          <p:cNvPr descr="Man shows something on laptop" id="472" name="Google Shape;472;p9"/>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473" name="Google Shape;473;p9"/>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a:solidFill>
                  <a:srgbClr val="3F3F3F"/>
                </a:solidFill>
              </a:rPr>
              <a:t>Definisi PPC :</a:t>
            </a:r>
            <a:endParaRPr b="1">
              <a:solidFill>
                <a:srgbClr val="3F3F3F"/>
              </a:solidFill>
            </a:endParaRPr>
          </a:p>
        </p:txBody>
      </p:sp>
      <p:sp>
        <p:nvSpPr>
          <p:cNvPr id="474" name="Google Shape;474;p9"/>
          <p:cNvSpPr txBox="1"/>
          <p:nvPr>
            <p:ph idx="1" type="body"/>
          </p:nvPr>
        </p:nvSpPr>
        <p:spPr>
          <a:xfrm>
            <a:off x="446088" y="1812925"/>
            <a:ext cx="11207750" cy="408781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Font typeface="Arial"/>
              <a:buNone/>
            </a:pPr>
            <a:r>
              <a:rPr b="1" lang="en-US" sz="3200" u="sng">
                <a:latin typeface="Calibri"/>
                <a:ea typeface="Calibri"/>
                <a:cs typeface="Calibri"/>
                <a:sym typeface="Calibri"/>
              </a:rPr>
              <a:t>Perencanaan Produksi : </a:t>
            </a:r>
            <a:endParaRPr/>
          </a:p>
          <a:p>
            <a:pPr indent="0" lvl="0" marL="0" rtl="0" algn="r">
              <a:lnSpc>
                <a:spcPct val="90000"/>
              </a:lnSpc>
              <a:spcBef>
                <a:spcPts val="1000"/>
              </a:spcBef>
              <a:spcAft>
                <a:spcPts val="0"/>
              </a:spcAft>
              <a:buClr>
                <a:schemeClr val="dk1"/>
              </a:buClr>
              <a:buSzPct val="100000"/>
              <a:buFont typeface="Arial"/>
              <a:buNone/>
            </a:pPr>
            <a:r>
              <a:rPr lang="en-US" sz="3200">
                <a:latin typeface="Calibri"/>
                <a:ea typeface="Calibri"/>
                <a:cs typeface="Calibri"/>
                <a:sym typeface="Calibri"/>
              </a:rPr>
              <a:t>Aktivitas untuk menetapkan produk yang diproduksi, jumlah yang dibutuhkan, kapan produk tersebut harus selesai dan sumber-sumber yang dibutuhkan.</a:t>
            </a:r>
            <a:endParaRPr/>
          </a:p>
          <a:p>
            <a:pPr indent="0" lvl="0" marL="0" rtl="0" algn="l">
              <a:lnSpc>
                <a:spcPct val="90000"/>
              </a:lnSpc>
              <a:spcBef>
                <a:spcPts val="1000"/>
              </a:spcBef>
              <a:spcAft>
                <a:spcPts val="0"/>
              </a:spcAft>
              <a:buClr>
                <a:schemeClr val="dk1"/>
              </a:buClr>
              <a:buSzPct val="100000"/>
              <a:buFont typeface="Arial"/>
              <a:buNone/>
            </a:pPr>
            <a:r>
              <a:t/>
            </a:r>
            <a:endParaRPr sz="3200">
              <a:latin typeface="Calibri"/>
              <a:ea typeface="Calibri"/>
              <a:cs typeface="Calibri"/>
              <a:sym typeface="Calibri"/>
            </a:endParaRPr>
          </a:p>
          <a:p>
            <a:pPr indent="0" lvl="0" marL="0" rtl="0" algn="l">
              <a:lnSpc>
                <a:spcPct val="90000"/>
              </a:lnSpc>
              <a:spcBef>
                <a:spcPts val="1000"/>
              </a:spcBef>
              <a:spcAft>
                <a:spcPts val="0"/>
              </a:spcAft>
              <a:buClr>
                <a:schemeClr val="dk1"/>
              </a:buClr>
              <a:buSzPct val="100000"/>
              <a:buFont typeface="Arial"/>
              <a:buNone/>
            </a:pPr>
            <a:r>
              <a:rPr b="1" lang="en-US" sz="3200" u="sng">
                <a:latin typeface="Calibri"/>
                <a:ea typeface="Calibri"/>
                <a:cs typeface="Calibri"/>
                <a:sym typeface="Calibri"/>
              </a:rPr>
              <a:t>Pengendalian Produksi :</a:t>
            </a:r>
            <a:endParaRPr/>
          </a:p>
          <a:p>
            <a:pPr indent="0" lvl="0" marL="0" rtl="0" algn="r">
              <a:lnSpc>
                <a:spcPct val="90000"/>
              </a:lnSpc>
              <a:spcBef>
                <a:spcPts val="1000"/>
              </a:spcBef>
              <a:spcAft>
                <a:spcPts val="0"/>
              </a:spcAft>
              <a:buClr>
                <a:schemeClr val="dk1"/>
              </a:buClr>
              <a:buSzPct val="100000"/>
              <a:buFont typeface="Arial"/>
              <a:buNone/>
            </a:pPr>
            <a:r>
              <a:rPr lang="en-US" sz="3200">
                <a:latin typeface="Calibri"/>
                <a:ea typeface="Calibri"/>
                <a:cs typeface="Calibri"/>
                <a:sym typeface="Calibri"/>
              </a:rPr>
              <a:t>Aktivitas yang menetapkan kemampuan sumber-sumber yang digunakan dalam memenuhi rencana, kemampuan produksi berjalan sesuai rencana, melakukan perbaikan rencana.</a:t>
            </a:r>
            <a:endParaRPr/>
          </a:p>
        </p:txBody>
      </p:sp>
      <p:sp>
        <p:nvSpPr>
          <p:cNvPr id="475" name="Google Shape;475;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476" name="Google Shape;476;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cap="none" strike="noStrike">
                <a:solidFill>
                  <a:srgbClr val="FFFFFF"/>
                </a:solidFill>
                <a:latin typeface="Calibri"/>
                <a:ea typeface="Calibri"/>
                <a:cs typeface="Calibri"/>
                <a:sym typeface="Calibri"/>
              </a:rPr>
              <a:t>‹#›</a:t>
            </a:fld>
            <a:endParaRPr b="0" i="0" sz="1200" u="none" cap="none" strike="noStrike">
              <a:solidFill>
                <a:srgbClr val="FFFFFF"/>
              </a:solidFill>
              <a:latin typeface="Calibri"/>
              <a:ea typeface="Calibri"/>
              <a:cs typeface="Calibri"/>
              <a:sym typeface="Calibri"/>
            </a:endParaRPr>
          </a:p>
        </p:txBody>
      </p:sp>
      <p:pic>
        <p:nvPicPr>
          <p:cNvPr id="477" name="Google Shape;477;p9"/>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478" name="Google Shape;478;p9"/>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pic>
        <p:nvPicPr>
          <p:cNvPr descr="Man shows something on laptop" id="484" name="Google Shape;484;p10"/>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485" name="Google Shape;485;p10"/>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a:solidFill>
                  <a:srgbClr val="3F3F3F"/>
                </a:solidFill>
              </a:rPr>
              <a:t>Tujuan Utama :</a:t>
            </a:r>
            <a:endParaRPr b="1">
              <a:solidFill>
                <a:srgbClr val="3F3F3F"/>
              </a:solidFill>
            </a:endParaRPr>
          </a:p>
        </p:txBody>
      </p:sp>
      <p:sp>
        <p:nvSpPr>
          <p:cNvPr id="486" name="Google Shape;486;p10"/>
          <p:cNvSpPr txBox="1"/>
          <p:nvPr>
            <p:ph idx="1" type="body"/>
          </p:nvPr>
        </p:nvSpPr>
        <p:spPr>
          <a:xfrm>
            <a:off x="492125" y="1504950"/>
            <a:ext cx="11207750" cy="45386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Font typeface="Comic Sans MS"/>
              <a:buChar char="•"/>
            </a:pPr>
            <a:r>
              <a:rPr b="1" lang="en-US" sz="3200">
                <a:latin typeface="Calibri"/>
                <a:ea typeface="Calibri"/>
                <a:cs typeface="Calibri"/>
                <a:sym typeface="Calibri"/>
              </a:rPr>
              <a:t>Memaksimumkan</a:t>
            </a:r>
            <a:r>
              <a:rPr lang="en-US" sz="3200">
                <a:latin typeface="Calibri"/>
                <a:ea typeface="Calibri"/>
                <a:cs typeface="Calibri"/>
                <a:sym typeface="Calibri"/>
              </a:rPr>
              <a:t> </a:t>
            </a:r>
            <a:r>
              <a:rPr b="1" lang="en-US" sz="3200">
                <a:latin typeface="Calibri"/>
                <a:ea typeface="Calibri"/>
                <a:cs typeface="Calibri"/>
                <a:sym typeface="Calibri"/>
              </a:rPr>
              <a:t>pelayanan</a:t>
            </a:r>
            <a:r>
              <a:rPr lang="en-US" sz="3200">
                <a:latin typeface="Calibri"/>
                <a:ea typeface="Calibri"/>
                <a:cs typeface="Calibri"/>
                <a:sym typeface="Calibri"/>
              </a:rPr>
              <a:t> bagi konsumen</a:t>
            </a:r>
            <a:endParaRPr sz="3200">
              <a:latin typeface="Calibri"/>
              <a:ea typeface="Calibri"/>
              <a:cs typeface="Calibri"/>
              <a:sym typeface="Calibri"/>
            </a:endParaRPr>
          </a:p>
          <a:p>
            <a:pPr indent="-228600" lvl="0" marL="228600" rtl="0" algn="r">
              <a:lnSpc>
                <a:spcPct val="90000"/>
              </a:lnSpc>
              <a:spcBef>
                <a:spcPts val="675"/>
              </a:spcBef>
              <a:spcAft>
                <a:spcPts val="0"/>
              </a:spcAft>
              <a:buClr>
                <a:srgbClr val="0432FF"/>
              </a:buClr>
              <a:buSzPts val="3200"/>
              <a:buFont typeface="Comic Sans MS"/>
              <a:buChar char="•"/>
            </a:pPr>
            <a:r>
              <a:rPr b="1" lang="en-US" sz="3200">
                <a:solidFill>
                  <a:srgbClr val="0432FF"/>
                </a:solidFill>
                <a:latin typeface="Calibri"/>
                <a:ea typeface="Calibri"/>
                <a:cs typeface="Calibri"/>
                <a:sym typeface="Calibri"/>
              </a:rPr>
              <a:t>Meminimumkan </a:t>
            </a:r>
            <a:r>
              <a:rPr lang="en-US" sz="3200">
                <a:solidFill>
                  <a:srgbClr val="0432FF"/>
                </a:solidFill>
                <a:latin typeface="Calibri"/>
                <a:ea typeface="Calibri"/>
                <a:cs typeface="Calibri"/>
                <a:sym typeface="Calibri"/>
              </a:rPr>
              <a:t>investasi pada </a:t>
            </a:r>
            <a:r>
              <a:rPr b="1" lang="en-US" sz="3200">
                <a:solidFill>
                  <a:srgbClr val="0432FF"/>
                </a:solidFill>
                <a:latin typeface="Calibri"/>
                <a:ea typeface="Calibri"/>
                <a:cs typeface="Calibri"/>
                <a:sym typeface="Calibri"/>
              </a:rPr>
              <a:t>persediaan</a:t>
            </a:r>
            <a:endParaRPr b="1" sz="3200">
              <a:solidFill>
                <a:srgbClr val="0432FF"/>
              </a:solidFill>
              <a:latin typeface="Calibri"/>
              <a:ea typeface="Calibri"/>
              <a:cs typeface="Calibri"/>
              <a:sym typeface="Calibri"/>
            </a:endParaRPr>
          </a:p>
          <a:p>
            <a:pPr indent="-228600" lvl="0" marL="228600" rtl="0" algn="l">
              <a:lnSpc>
                <a:spcPct val="90000"/>
              </a:lnSpc>
              <a:spcBef>
                <a:spcPts val="675"/>
              </a:spcBef>
              <a:spcAft>
                <a:spcPts val="0"/>
              </a:spcAft>
              <a:buClr>
                <a:schemeClr val="dk1"/>
              </a:buClr>
              <a:buSzPts val="3200"/>
              <a:buFont typeface="Comic Sans MS"/>
              <a:buChar char="•"/>
            </a:pPr>
            <a:r>
              <a:rPr lang="en-US" sz="3200">
                <a:latin typeface="Calibri"/>
                <a:ea typeface="Calibri"/>
                <a:cs typeface="Calibri"/>
                <a:sym typeface="Calibri"/>
              </a:rPr>
              <a:t>Perencanaan kapasitas</a:t>
            </a:r>
            <a:endParaRPr sz="3200">
              <a:latin typeface="Calibri"/>
              <a:ea typeface="Calibri"/>
              <a:cs typeface="Calibri"/>
              <a:sym typeface="Calibri"/>
            </a:endParaRPr>
          </a:p>
          <a:p>
            <a:pPr indent="-228600" lvl="0" marL="228600" rtl="0" algn="r">
              <a:lnSpc>
                <a:spcPct val="90000"/>
              </a:lnSpc>
              <a:spcBef>
                <a:spcPts val="675"/>
              </a:spcBef>
              <a:spcAft>
                <a:spcPts val="0"/>
              </a:spcAft>
              <a:buClr>
                <a:srgbClr val="0432FF"/>
              </a:buClr>
              <a:buSzPts val="3200"/>
              <a:buFont typeface="Comic Sans MS"/>
              <a:buChar char="•"/>
            </a:pPr>
            <a:r>
              <a:rPr lang="en-US" sz="3200">
                <a:solidFill>
                  <a:srgbClr val="0432FF"/>
                </a:solidFill>
                <a:latin typeface="Calibri"/>
                <a:ea typeface="Calibri"/>
                <a:cs typeface="Calibri"/>
                <a:sym typeface="Calibri"/>
              </a:rPr>
              <a:t>Pengesahan produksi dan pengendalian produksi</a:t>
            </a:r>
            <a:endParaRPr sz="3200">
              <a:solidFill>
                <a:srgbClr val="0432FF"/>
              </a:solidFill>
              <a:latin typeface="Calibri"/>
              <a:ea typeface="Calibri"/>
              <a:cs typeface="Calibri"/>
              <a:sym typeface="Calibri"/>
            </a:endParaRPr>
          </a:p>
          <a:p>
            <a:pPr indent="-228600" lvl="0" marL="228600" rtl="0" algn="l">
              <a:lnSpc>
                <a:spcPct val="90000"/>
              </a:lnSpc>
              <a:spcBef>
                <a:spcPts val="675"/>
              </a:spcBef>
              <a:spcAft>
                <a:spcPts val="0"/>
              </a:spcAft>
              <a:buClr>
                <a:schemeClr val="dk1"/>
              </a:buClr>
              <a:buSzPts val="3200"/>
              <a:buFont typeface="Comic Sans MS"/>
              <a:buChar char="•"/>
            </a:pPr>
            <a:r>
              <a:rPr lang="en-US" sz="3200">
                <a:latin typeface="Calibri"/>
                <a:ea typeface="Calibri"/>
                <a:cs typeface="Calibri"/>
                <a:sym typeface="Calibri"/>
              </a:rPr>
              <a:t>Persediaan dan kapasitas</a:t>
            </a:r>
            <a:endParaRPr sz="3200">
              <a:latin typeface="Calibri"/>
              <a:ea typeface="Calibri"/>
              <a:cs typeface="Calibri"/>
              <a:sym typeface="Calibri"/>
            </a:endParaRPr>
          </a:p>
          <a:p>
            <a:pPr indent="-228600" lvl="0" marL="228600" rtl="0" algn="r">
              <a:lnSpc>
                <a:spcPct val="90000"/>
              </a:lnSpc>
              <a:spcBef>
                <a:spcPts val="675"/>
              </a:spcBef>
              <a:spcAft>
                <a:spcPts val="0"/>
              </a:spcAft>
              <a:buClr>
                <a:srgbClr val="0432FF"/>
              </a:buClr>
              <a:buSzPts val="3200"/>
              <a:buFont typeface="Comic Sans MS"/>
              <a:buChar char="•"/>
            </a:pPr>
            <a:r>
              <a:rPr lang="en-US" sz="3200">
                <a:solidFill>
                  <a:srgbClr val="0432FF"/>
                </a:solidFill>
                <a:latin typeface="Calibri"/>
                <a:ea typeface="Calibri"/>
                <a:cs typeface="Calibri"/>
                <a:sym typeface="Calibri"/>
              </a:rPr>
              <a:t>Penyimpanan dan pergerakan material</a:t>
            </a:r>
            <a:endParaRPr sz="3200">
              <a:solidFill>
                <a:srgbClr val="0432FF"/>
              </a:solidFill>
              <a:latin typeface="Calibri"/>
              <a:ea typeface="Calibri"/>
              <a:cs typeface="Calibri"/>
              <a:sym typeface="Calibri"/>
            </a:endParaRPr>
          </a:p>
          <a:p>
            <a:pPr indent="-228600" lvl="0" marL="228600" rtl="0" algn="l">
              <a:lnSpc>
                <a:spcPct val="90000"/>
              </a:lnSpc>
              <a:spcBef>
                <a:spcPts val="675"/>
              </a:spcBef>
              <a:spcAft>
                <a:spcPts val="0"/>
              </a:spcAft>
              <a:buClr>
                <a:schemeClr val="dk1"/>
              </a:buClr>
              <a:buSzPts val="3200"/>
              <a:buFont typeface="Comic Sans MS"/>
              <a:buChar char="•"/>
            </a:pPr>
            <a:r>
              <a:rPr lang="en-US" sz="3200">
                <a:latin typeface="Calibri"/>
                <a:ea typeface="Calibri"/>
                <a:cs typeface="Calibri"/>
                <a:sym typeface="Calibri"/>
              </a:rPr>
              <a:t>Peralatan, </a:t>
            </a:r>
            <a:r>
              <a:rPr i="1" lang="en-US" sz="3200">
                <a:latin typeface="Calibri"/>
                <a:ea typeface="Calibri"/>
                <a:cs typeface="Calibri"/>
                <a:sym typeface="Calibri"/>
              </a:rPr>
              <a:t>routing</a:t>
            </a:r>
            <a:r>
              <a:rPr lang="en-US" sz="3200">
                <a:latin typeface="Calibri"/>
                <a:ea typeface="Calibri"/>
                <a:cs typeface="Calibri"/>
                <a:sym typeface="Calibri"/>
              </a:rPr>
              <a:t> dan proses </a:t>
            </a:r>
            <a:r>
              <a:rPr i="1" lang="en-US" sz="3200">
                <a:latin typeface="Calibri"/>
                <a:ea typeface="Calibri"/>
                <a:cs typeface="Calibri"/>
                <a:sym typeface="Calibri"/>
              </a:rPr>
              <a:t>planning</a:t>
            </a:r>
            <a:endParaRPr/>
          </a:p>
          <a:p>
            <a:pPr indent="-228600" lvl="0" marL="228600" rtl="0" algn="r">
              <a:lnSpc>
                <a:spcPct val="90000"/>
              </a:lnSpc>
              <a:spcBef>
                <a:spcPts val="700"/>
              </a:spcBef>
              <a:spcAft>
                <a:spcPts val="0"/>
              </a:spcAft>
              <a:buClr>
                <a:srgbClr val="0432FF"/>
              </a:buClr>
              <a:buSzPts val="3200"/>
              <a:buFont typeface="Comic Sans MS"/>
              <a:buChar char="•"/>
            </a:pPr>
            <a:r>
              <a:rPr lang="en-US" sz="3200">
                <a:solidFill>
                  <a:srgbClr val="0432FF"/>
                </a:solidFill>
                <a:latin typeface="Calibri"/>
                <a:ea typeface="Calibri"/>
                <a:cs typeface="Calibri"/>
                <a:sym typeface="Calibri"/>
              </a:rPr>
              <a:t>dll.</a:t>
            </a:r>
            <a:r>
              <a:rPr lang="en-US" sz="3200">
                <a:latin typeface="Calibri"/>
                <a:ea typeface="Calibri"/>
                <a:cs typeface="Calibri"/>
                <a:sym typeface="Calibri"/>
              </a:rPr>
              <a:t> </a:t>
            </a:r>
            <a:endParaRPr/>
          </a:p>
          <a:p>
            <a:pPr indent="-25400" lvl="0" marL="228600" rtl="0" algn="l">
              <a:lnSpc>
                <a:spcPct val="90000"/>
              </a:lnSpc>
              <a:spcBef>
                <a:spcPts val="1000"/>
              </a:spcBef>
              <a:spcAft>
                <a:spcPts val="0"/>
              </a:spcAft>
              <a:buClr>
                <a:schemeClr val="dk1"/>
              </a:buClr>
              <a:buSzPts val="3200"/>
              <a:buNone/>
            </a:pPr>
            <a:r>
              <a:t/>
            </a:r>
            <a:endParaRPr sz="3200"/>
          </a:p>
        </p:txBody>
      </p:sp>
      <p:sp>
        <p:nvSpPr>
          <p:cNvPr id="487" name="Google Shape;487;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488" name="Google Shape;488;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cap="none" strike="noStrike">
                <a:solidFill>
                  <a:srgbClr val="FFFFFF"/>
                </a:solidFill>
                <a:latin typeface="Calibri"/>
                <a:ea typeface="Calibri"/>
                <a:cs typeface="Calibri"/>
                <a:sym typeface="Calibri"/>
              </a:rPr>
              <a:t>‹#›</a:t>
            </a:fld>
            <a:endParaRPr b="0" i="0" sz="1200" u="none" cap="none" strike="noStrike">
              <a:solidFill>
                <a:srgbClr val="FFFFFF"/>
              </a:solidFill>
              <a:latin typeface="Calibri"/>
              <a:ea typeface="Calibri"/>
              <a:cs typeface="Calibri"/>
              <a:sym typeface="Calibri"/>
            </a:endParaRPr>
          </a:p>
        </p:txBody>
      </p:sp>
      <p:pic>
        <p:nvPicPr>
          <p:cNvPr id="489" name="Google Shape;489;p10"/>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490" name="Google Shape;490;p10"/>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pic>
        <p:nvPicPr>
          <p:cNvPr id="491" name="Google Shape;491;p10"/>
          <p:cNvPicPr preferRelativeResize="0"/>
          <p:nvPr/>
        </p:nvPicPr>
        <p:blipFill rotWithShape="1">
          <a:blip r:embed="rId6">
            <a:alphaModFix/>
          </a:blip>
          <a:srcRect b="0" l="0" r="0" t="0"/>
          <a:stretch/>
        </p:blipFill>
        <p:spPr>
          <a:xfrm>
            <a:off x="7913688" y="5059363"/>
            <a:ext cx="1905000" cy="1139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pic>
        <p:nvPicPr>
          <p:cNvPr descr="Man shows something on laptop" id="497" name="Google Shape;497;p11"/>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498" name="Google Shape;498;p11"/>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a:solidFill>
                  <a:srgbClr val="3F3F3F"/>
                </a:solidFill>
              </a:rPr>
              <a:t>Tujuan dan Fungsi PPC :</a:t>
            </a:r>
            <a:endParaRPr b="1">
              <a:solidFill>
                <a:srgbClr val="3F3F3F"/>
              </a:solidFill>
            </a:endParaRPr>
          </a:p>
        </p:txBody>
      </p:sp>
      <p:sp>
        <p:nvSpPr>
          <p:cNvPr id="499" name="Google Shape;499;p11"/>
          <p:cNvSpPr txBox="1"/>
          <p:nvPr>
            <p:ph idx="1" type="body"/>
          </p:nvPr>
        </p:nvSpPr>
        <p:spPr>
          <a:xfrm>
            <a:off x="247650" y="1333500"/>
            <a:ext cx="4410075" cy="506571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Font typeface="Arial"/>
              <a:buNone/>
            </a:pPr>
            <a:r>
              <a:rPr b="1" lang="en-US" sz="2000" u="sng">
                <a:latin typeface="Calibri"/>
                <a:ea typeface="Calibri"/>
                <a:cs typeface="Calibri"/>
                <a:sym typeface="Calibri"/>
              </a:rPr>
              <a:t>Tujuan PPC :</a:t>
            </a:r>
            <a:endParaRPr/>
          </a:p>
          <a:p>
            <a:pPr indent="0" lvl="0" marL="0" rtl="0" algn="l">
              <a:lnSpc>
                <a:spcPct val="90000"/>
              </a:lnSpc>
              <a:spcBef>
                <a:spcPts val="1000"/>
              </a:spcBef>
              <a:spcAft>
                <a:spcPts val="0"/>
              </a:spcAft>
              <a:buClr>
                <a:schemeClr val="dk1"/>
              </a:buClr>
              <a:buSzPts val="2000"/>
              <a:buFont typeface="Arial"/>
              <a:buNone/>
            </a:pPr>
            <a:r>
              <a:t/>
            </a:r>
            <a:endParaRPr b="1" sz="2000" u="sng">
              <a:latin typeface="Calibri"/>
              <a:ea typeface="Calibri"/>
              <a:cs typeface="Calibri"/>
              <a:sym typeface="Calibri"/>
            </a:endParaRPr>
          </a:p>
          <a:p>
            <a:pPr indent="-228600" lvl="0" marL="228600" rtl="0" algn="l">
              <a:lnSpc>
                <a:spcPct val="90000"/>
              </a:lnSpc>
              <a:spcBef>
                <a:spcPts val="1000"/>
              </a:spcBef>
              <a:spcAft>
                <a:spcPts val="0"/>
              </a:spcAft>
              <a:buClr>
                <a:schemeClr val="dk1"/>
              </a:buClr>
              <a:buSzPts val="2000"/>
              <a:buFont typeface="Noto Sans Symbols"/>
              <a:buChar char="❖"/>
            </a:pPr>
            <a:r>
              <a:rPr lang="en-US" sz="2000">
                <a:latin typeface="Calibri"/>
                <a:ea typeface="Calibri"/>
                <a:cs typeface="Calibri"/>
                <a:sym typeface="Calibri"/>
              </a:rPr>
              <a:t> Mengusahakan agar perusahaan dapat berproduksi secara efisien dan efektif.</a:t>
            </a:r>
            <a:endParaRPr/>
          </a:p>
          <a:p>
            <a:pPr indent="-228600" lvl="0" marL="228600" rtl="0" algn="l">
              <a:lnSpc>
                <a:spcPct val="90000"/>
              </a:lnSpc>
              <a:spcBef>
                <a:spcPts val="1000"/>
              </a:spcBef>
              <a:spcAft>
                <a:spcPts val="0"/>
              </a:spcAft>
              <a:buClr>
                <a:schemeClr val="dk1"/>
              </a:buClr>
              <a:buSzPts val="2000"/>
              <a:buFont typeface="Noto Sans Symbols"/>
              <a:buChar char="❖"/>
            </a:pPr>
            <a:r>
              <a:rPr lang="en-US" sz="2000">
                <a:latin typeface="Calibri"/>
                <a:ea typeface="Calibri"/>
                <a:cs typeface="Calibri"/>
                <a:sym typeface="Calibri"/>
              </a:rPr>
              <a:t> Mengusahakan agar perusahaan dapat menggunakan modal seoptimal mungkin.</a:t>
            </a:r>
            <a:endParaRPr/>
          </a:p>
          <a:p>
            <a:pPr indent="-228600" lvl="0" marL="228600" rtl="0" algn="l">
              <a:lnSpc>
                <a:spcPct val="90000"/>
              </a:lnSpc>
              <a:spcBef>
                <a:spcPts val="1000"/>
              </a:spcBef>
              <a:spcAft>
                <a:spcPts val="0"/>
              </a:spcAft>
              <a:buClr>
                <a:schemeClr val="dk1"/>
              </a:buClr>
              <a:buSzPts val="2000"/>
              <a:buFont typeface="Noto Sans Symbols"/>
              <a:buChar char="❖"/>
            </a:pPr>
            <a:r>
              <a:rPr lang="en-US" sz="2000">
                <a:latin typeface="Calibri"/>
                <a:ea typeface="Calibri"/>
                <a:cs typeface="Calibri"/>
                <a:sym typeface="Calibri"/>
              </a:rPr>
              <a:t> Mengusahakan agar pabrik dapat menguasai pasar yang luas.</a:t>
            </a:r>
            <a:endParaRPr/>
          </a:p>
          <a:p>
            <a:pPr indent="-228600" lvl="0" marL="228600" rtl="0" algn="l">
              <a:lnSpc>
                <a:spcPct val="90000"/>
              </a:lnSpc>
              <a:spcBef>
                <a:spcPts val="1000"/>
              </a:spcBef>
              <a:spcAft>
                <a:spcPts val="0"/>
              </a:spcAft>
              <a:buClr>
                <a:schemeClr val="dk1"/>
              </a:buClr>
              <a:buSzPts val="2000"/>
              <a:buFont typeface="Noto Sans Symbols"/>
              <a:buChar char="❖"/>
            </a:pPr>
            <a:r>
              <a:rPr lang="en-US" sz="2000">
                <a:latin typeface="Calibri"/>
                <a:ea typeface="Calibri"/>
                <a:cs typeface="Calibri"/>
                <a:sym typeface="Calibri"/>
              </a:rPr>
              <a:t> Untuk dapat memperoleh keuntungan yang cukup bagi perusahaan. </a:t>
            </a:r>
            <a:endParaRPr/>
          </a:p>
          <a:p>
            <a:pPr indent="-101600" lvl="0" marL="228600" rtl="0" algn="l">
              <a:lnSpc>
                <a:spcPct val="90000"/>
              </a:lnSpc>
              <a:spcBef>
                <a:spcPts val="1000"/>
              </a:spcBef>
              <a:spcAft>
                <a:spcPts val="0"/>
              </a:spcAft>
              <a:buClr>
                <a:schemeClr val="dk1"/>
              </a:buClr>
              <a:buSzPts val="2000"/>
              <a:buFont typeface="Noto Sans Symbols"/>
              <a:buNone/>
            </a:pPr>
            <a:r>
              <a:t/>
            </a:r>
            <a:endParaRPr sz="2000">
              <a:latin typeface="Calibri"/>
              <a:ea typeface="Calibri"/>
              <a:cs typeface="Calibri"/>
              <a:sym typeface="Calibri"/>
            </a:endParaRPr>
          </a:p>
        </p:txBody>
      </p:sp>
      <p:sp>
        <p:nvSpPr>
          <p:cNvPr id="500" name="Google Shape;500;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501" name="Google Shape;501;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cap="none" strike="noStrike">
                <a:solidFill>
                  <a:srgbClr val="FFFFFF"/>
                </a:solidFill>
                <a:latin typeface="Calibri"/>
                <a:ea typeface="Calibri"/>
                <a:cs typeface="Calibri"/>
                <a:sym typeface="Calibri"/>
              </a:rPr>
              <a:t>‹#›</a:t>
            </a:fld>
            <a:endParaRPr b="0" i="0" sz="1200" u="none" cap="none" strike="noStrike">
              <a:solidFill>
                <a:srgbClr val="FFFFFF"/>
              </a:solidFill>
              <a:latin typeface="Calibri"/>
              <a:ea typeface="Calibri"/>
              <a:cs typeface="Calibri"/>
              <a:sym typeface="Calibri"/>
            </a:endParaRPr>
          </a:p>
        </p:txBody>
      </p:sp>
      <p:pic>
        <p:nvPicPr>
          <p:cNvPr id="502" name="Google Shape;502;p11"/>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503" name="Google Shape;503;p11"/>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sp>
        <p:nvSpPr>
          <p:cNvPr id="504" name="Google Shape;504;p11"/>
          <p:cNvSpPr txBox="1"/>
          <p:nvPr/>
        </p:nvSpPr>
        <p:spPr>
          <a:xfrm>
            <a:off x="7096125" y="1290638"/>
            <a:ext cx="5021263" cy="5065712"/>
          </a:xfrm>
          <a:prstGeom prst="rect">
            <a:avLst/>
          </a:prstGeom>
          <a:noFill/>
          <a:ln>
            <a:noFill/>
          </a:ln>
        </p:spPr>
        <p:txBody>
          <a:bodyPr anchorCtr="0" anchor="t" bIns="45700" lIns="91425" spcFirstLastPara="1" rIns="91425" wrap="square" tIns="45700">
            <a:normAutofit fontScale="85000" lnSpcReduction="10000"/>
          </a:bodyPr>
          <a:lstStyle/>
          <a:p>
            <a:pPr indent="0" lvl="0" marL="0" marR="0" rtl="0" algn="l">
              <a:lnSpc>
                <a:spcPct val="90000"/>
              </a:lnSpc>
              <a:spcBef>
                <a:spcPts val="0"/>
              </a:spcBef>
              <a:spcAft>
                <a:spcPts val="0"/>
              </a:spcAft>
              <a:buClr>
                <a:schemeClr val="dk1"/>
              </a:buClr>
              <a:buSzPct val="100000"/>
              <a:buFont typeface="Arial"/>
              <a:buNone/>
            </a:pPr>
            <a:r>
              <a:rPr b="1" i="0" lang="en-US" sz="2000" u="sng" cap="none" strike="noStrike">
                <a:solidFill>
                  <a:schemeClr val="dk1"/>
                </a:solidFill>
                <a:latin typeface="Calibri"/>
                <a:ea typeface="Calibri"/>
                <a:cs typeface="Calibri"/>
                <a:sym typeface="Calibri"/>
              </a:rPr>
              <a:t>Fungsi  PPC :</a:t>
            </a:r>
            <a:endParaRPr/>
          </a:p>
          <a:p>
            <a:pPr indent="0" lvl="0" marL="0" marR="0" rtl="0" algn="l">
              <a:lnSpc>
                <a:spcPct val="90000"/>
              </a:lnSpc>
              <a:spcBef>
                <a:spcPts val="1000"/>
              </a:spcBef>
              <a:spcAft>
                <a:spcPts val="0"/>
              </a:spcAft>
              <a:buClr>
                <a:schemeClr val="dk1"/>
              </a:buClr>
              <a:buSzPct val="100000"/>
              <a:buFont typeface="Arial"/>
              <a:buNone/>
            </a:pPr>
            <a:r>
              <a:t/>
            </a:r>
            <a:endParaRPr b="1" i="0" sz="2000" u="sng" cap="none" strike="noStrike">
              <a:solidFill>
                <a:schemeClr val="dk1"/>
              </a:solidFill>
              <a:latin typeface="Calibri"/>
              <a:ea typeface="Calibri"/>
              <a:cs typeface="Calibri"/>
              <a:sym typeface="Calibri"/>
            </a:endParaRPr>
          </a:p>
          <a:p>
            <a:pPr indent="-336550" lvl="0" marL="339725" marR="0" rtl="0" algn="l">
              <a:lnSpc>
                <a:spcPct val="80000"/>
              </a:lnSpc>
              <a:spcBef>
                <a:spcPts val="60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 Meramalkan permintaan produk yang dinyatakan dalam jumlah produk sebagai fungsi dari waktu.</a:t>
            </a:r>
            <a:endParaRPr/>
          </a:p>
          <a:p>
            <a:pPr indent="-336550" lvl="0" marL="339725" marR="0" rtl="0" algn="l">
              <a:lnSpc>
                <a:spcPct val="80000"/>
              </a:lnSpc>
              <a:spcBef>
                <a:spcPts val="60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Memonitor permintaan yang aktual, membandingkannya dengan ramalan permintaan sebelumnya dan melakukan revisi atas ramalan tersebut jika terjadi penyimpangan.</a:t>
            </a:r>
            <a:endParaRPr/>
          </a:p>
          <a:p>
            <a:pPr indent="-336550" lvl="0" marL="339725" marR="0" rtl="0" algn="l">
              <a:lnSpc>
                <a:spcPct val="80000"/>
              </a:lnSpc>
              <a:spcBef>
                <a:spcPts val="60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Menetapkan ukuran pemesanan barang yang ekonomis atas bahan baku yang akan dibeli.</a:t>
            </a:r>
            <a:endParaRPr/>
          </a:p>
          <a:p>
            <a:pPr indent="-336550" lvl="0" marL="339725" marR="0" rtl="0" algn="l">
              <a:lnSpc>
                <a:spcPct val="80000"/>
              </a:lnSpc>
              <a:spcBef>
                <a:spcPts val="60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Menetapkan sistem persediaan yang ekonomis.</a:t>
            </a:r>
            <a:endParaRPr/>
          </a:p>
          <a:p>
            <a:pPr indent="-336550" lvl="0" marL="339725" marR="0" rtl="0" algn="l">
              <a:lnSpc>
                <a:spcPct val="90000"/>
              </a:lnSpc>
              <a:spcBef>
                <a:spcPts val="60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Menetapkan kebutuhan produksi dan tingkat persediaan pada saat tertentu.</a:t>
            </a:r>
            <a:endParaRPr/>
          </a:p>
          <a:p>
            <a:pPr indent="-336550" lvl="0" marL="339725" marR="0" rtl="0" algn="l">
              <a:lnSpc>
                <a:spcPct val="90000"/>
              </a:lnSpc>
              <a:spcBef>
                <a:spcPts val="60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Memonitor tingkat persediaan, membandingkannya dengan rencana persediaan, dan melakukan revisi rencana produksi pada saat yang ditentukan.</a:t>
            </a:r>
            <a:endParaRPr/>
          </a:p>
          <a:p>
            <a:pPr indent="-336550" lvl="0" marL="339725" marR="0" rtl="0" algn="l">
              <a:lnSpc>
                <a:spcPct val="90000"/>
              </a:lnSpc>
              <a:spcBef>
                <a:spcPts val="60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Membuat jadwal produksi, penugasan, serta pembebanan mesin dan tenaga kerja yang terperinci. </a:t>
            </a:r>
            <a:endParaRPr b="0" i="0" sz="20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ct val="100000"/>
              <a:buFont typeface="Arial"/>
              <a:buNone/>
            </a:pPr>
            <a:r>
              <a:t/>
            </a:r>
            <a:endParaRPr b="0" i="0" sz="2000" u="none" cap="none" strike="noStrike">
              <a:solidFill>
                <a:schemeClr val="dk1"/>
              </a:solidFill>
              <a:latin typeface="Calibri"/>
              <a:ea typeface="Calibri"/>
              <a:cs typeface="Calibri"/>
              <a:sym typeface="Calibri"/>
            </a:endParaRPr>
          </a:p>
        </p:txBody>
      </p:sp>
      <p:pic>
        <p:nvPicPr>
          <p:cNvPr id="505" name="Google Shape;505;p11"/>
          <p:cNvPicPr preferRelativeResize="0"/>
          <p:nvPr/>
        </p:nvPicPr>
        <p:blipFill rotWithShape="1">
          <a:blip r:embed="rId6">
            <a:alphaModFix/>
          </a:blip>
          <a:srcRect b="0" l="0" r="0" t="0"/>
          <a:stretch/>
        </p:blipFill>
        <p:spPr>
          <a:xfrm>
            <a:off x="4962525" y="1981200"/>
            <a:ext cx="1828800" cy="2895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pic>
        <p:nvPicPr>
          <p:cNvPr descr="Man shows something on laptop" id="511" name="Google Shape;511;p12"/>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512" name="Google Shape;512;p12"/>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a:solidFill>
                  <a:srgbClr val="3F3F3F"/>
                </a:solidFill>
              </a:rPr>
              <a:t>Tingkatan PPC :</a:t>
            </a:r>
            <a:endParaRPr b="1">
              <a:solidFill>
                <a:srgbClr val="3F3F3F"/>
              </a:solidFill>
            </a:endParaRPr>
          </a:p>
        </p:txBody>
      </p:sp>
      <p:pic>
        <p:nvPicPr>
          <p:cNvPr id="513" name="Google Shape;513;p12"/>
          <p:cNvPicPr preferRelativeResize="0"/>
          <p:nvPr>
            <p:ph idx="1" type="body"/>
          </p:nvPr>
        </p:nvPicPr>
        <p:blipFill rotWithShape="1">
          <a:blip r:embed="rId4">
            <a:alphaModFix/>
          </a:blip>
          <a:srcRect b="0" l="0" r="0" t="0"/>
          <a:stretch/>
        </p:blipFill>
        <p:spPr>
          <a:xfrm>
            <a:off x="622300" y="1282700"/>
            <a:ext cx="9232900" cy="4914900"/>
          </a:xfrm>
          <a:prstGeom prst="rect">
            <a:avLst/>
          </a:prstGeom>
          <a:noFill/>
          <a:ln>
            <a:noFill/>
          </a:ln>
        </p:spPr>
      </p:pic>
      <p:sp>
        <p:nvSpPr>
          <p:cNvPr id="514" name="Google Shape;514;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515" name="Google Shape;515;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cap="none" strike="noStrike">
                <a:solidFill>
                  <a:srgbClr val="FFFFFF"/>
                </a:solidFill>
                <a:latin typeface="Calibri"/>
                <a:ea typeface="Calibri"/>
                <a:cs typeface="Calibri"/>
                <a:sym typeface="Calibri"/>
              </a:rPr>
              <a:t>‹#›</a:t>
            </a:fld>
            <a:endParaRPr b="0" i="0" sz="1200" u="none" cap="none" strike="noStrike">
              <a:solidFill>
                <a:srgbClr val="FFFFFF"/>
              </a:solidFill>
              <a:latin typeface="Calibri"/>
              <a:ea typeface="Calibri"/>
              <a:cs typeface="Calibri"/>
              <a:sym typeface="Calibri"/>
            </a:endParaRPr>
          </a:p>
        </p:txBody>
      </p:sp>
      <p:pic>
        <p:nvPicPr>
          <p:cNvPr id="516" name="Google Shape;516;p12"/>
          <p:cNvPicPr preferRelativeResize="0"/>
          <p:nvPr/>
        </p:nvPicPr>
        <p:blipFill rotWithShape="1">
          <a:blip r:embed="rId5">
            <a:alphaModFix/>
          </a:blip>
          <a:srcRect b="0" l="0" r="0" t="0"/>
          <a:stretch/>
        </p:blipFill>
        <p:spPr>
          <a:xfrm>
            <a:off x="8232775" y="250825"/>
            <a:ext cx="2574925" cy="776288"/>
          </a:xfrm>
          <a:prstGeom prst="rect">
            <a:avLst/>
          </a:prstGeom>
          <a:noFill/>
          <a:ln>
            <a:noFill/>
          </a:ln>
        </p:spPr>
      </p:pic>
      <p:pic>
        <p:nvPicPr>
          <p:cNvPr id="517" name="Google Shape;517;p12"/>
          <p:cNvPicPr preferRelativeResize="0"/>
          <p:nvPr/>
        </p:nvPicPr>
        <p:blipFill rotWithShape="1">
          <a:blip r:embed="rId6">
            <a:alphaModFix/>
          </a:blip>
          <a:srcRect b="0" l="0" r="0" t="0"/>
          <a:stretch/>
        </p:blipFill>
        <p:spPr>
          <a:xfrm>
            <a:off x="11022013" y="106363"/>
            <a:ext cx="1062037" cy="1184275"/>
          </a:xfrm>
          <a:prstGeom prst="rect">
            <a:avLst/>
          </a:prstGeom>
          <a:noFill/>
          <a:ln>
            <a:noFill/>
          </a:ln>
        </p:spPr>
      </p:pic>
      <p:pic>
        <p:nvPicPr>
          <p:cNvPr id="518" name="Google Shape;518;p12"/>
          <p:cNvPicPr preferRelativeResize="0"/>
          <p:nvPr/>
        </p:nvPicPr>
        <p:blipFill rotWithShape="1">
          <a:blip r:embed="rId7">
            <a:alphaModFix/>
          </a:blip>
          <a:srcRect b="0" l="0" r="0" t="0"/>
          <a:stretch/>
        </p:blipFill>
        <p:spPr>
          <a:xfrm>
            <a:off x="10183813" y="2960688"/>
            <a:ext cx="1676400" cy="149066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pic>
        <p:nvPicPr>
          <p:cNvPr descr="Man shows something on laptop" id="524" name="Google Shape;524;p13"/>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525" name="Google Shape;525;p13"/>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a:solidFill>
                  <a:srgbClr val="3F3F3F"/>
                </a:solidFill>
              </a:rPr>
              <a:t>Kegiatan PPC :</a:t>
            </a:r>
            <a:endParaRPr b="1">
              <a:solidFill>
                <a:srgbClr val="3F3F3F"/>
              </a:solidFill>
            </a:endParaRPr>
          </a:p>
        </p:txBody>
      </p:sp>
      <p:pic>
        <p:nvPicPr>
          <p:cNvPr id="526" name="Google Shape;526;p13"/>
          <p:cNvPicPr preferRelativeResize="0"/>
          <p:nvPr>
            <p:ph idx="1" type="body"/>
          </p:nvPr>
        </p:nvPicPr>
        <p:blipFill rotWithShape="1">
          <a:blip r:embed="rId4">
            <a:alphaModFix/>
          </a:blip>
          <a:srcRect b="0" l="0" r="0" t="0"/>
          <a:stretch/>
        </p:blipFill>
        <p:spPr>
          <a:xfrm>
            <a:off x="2743200" y="1282700"/>
            <a:ext cx="8915400" cy="5080000"/>
          </a:xfrm>
          <a:prstGeom prst="rect">
            <a:avLst/>
          </a:prstGeom>
          <a:noFill/>
          <a:ln>
            <a:noFill/>
          </a:ln>
        </p:spPr>
      </p:pic>
      <p:sp>
        <p:nvSpPr>
          <p:cNvPr id="527" name="Google Shape;527;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528" name="Google Shape;528;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cap="none" strike="noStrike">
                <a:solidFill>
                  <a:srgbClr val="FFFFFF"/>
                </a:solidFill>
                <a:latin typeface="Calibri"/>
                <a:ea typeface="Calibri"/>
                <a:cs typeface="Calibri"/>
                <a:sym typeface="Calibri"/>
              </a:rPr>
              <a:t>‹#›</a:t>
            </a:fld>
            <a:endParaRPr b="0" i="0" sz="1200" u="none" cap="none" strike="noStrike">
              <a:solidFill>
                <a:srgbClr val="FFFFFF"/>
              </a:solidFill>
              <a:latin typeface="Calibri"/>
              <a:ea typeface="Calibri"/>
              <a:cs typeface="Calibri"/>
              <a:sym typeface="Calibri"/>
            </a:endParaRPr>
          </a:p>
        </p:txBody>
      </p:sp>
      <p:pic>
        <p:nvPicPr>
          <p:cNvPr id="529" name="Google Shape;529;p13"/>
          <p:cNvPicPr preferRelativeResize="0"/>
          <p:nvPr/>
        </p:nvPicPr>
        <p:blipFill rotWithShape="1">
          <a:blip r:embed="rId5">
            <a:alphaModFix/>
          </a:blip>
          <a:srcRect b="0" l="0" r="0" t="0"/>
          <a:stretch/>
        </p:blipFill>
        <p:spPr>
          <a:xfrm>
            <a:off x="8232775" y="250825"/>
            <a:ext cx="2574925" cy="776288"/>
          </a:xfrm>
          <a:prstGeom prst="rect">
            <a:avLst/>
          </a:prstGeom>
          <a:noFill/>
          <a:ln>
            <a:noFill/>
          </a:ln>
        </p:spPr>
      </p:pic>
      <p:pic>
        <p:nvPicPr>
          <p:cNvPr id="530" name="Google Shape;530;p13"/>
          <p:cNvPicPr preferRelativeResize="0"/>
          <p:nvPr/>
        </p:nvPicPr>
        <p:blipFill rotWithShape="1">
          <a:blip r:embed="rId6">
            <a:alphaModFix/>
          </a:blip>
          <a:srcRect b="0" l="0" r="0" t="0"/>
          <a:stretch/>
        </p:blipFill>
        <p:spPr>
          <a:xfrm>
            <a:off x="11022013" y="106363"/>
            <a:ext cx="1062037" cy="1184275"/>
          </a:xfrm>
          <a:prstGeom prst="rect">
            <a:avLst/>
          </a:prstGeom>
          <a:noFill/>
          <a:ln>
            <a:noFill/>
          </a:ln>
        </p:spPr>
      </p:pic>
      <p:pic>
        <p:nvPicPr>
          <p:cNvPr id="531" name="Google Shape;531;p13"/>
          <p:cNvPicPr preferRelativeResize="0"/>
          <p:nvPr/>
        </p:nvPicPr>
        <p:blipFill rotWithShape="1">
          <a:blip r:embed="rId7">
            <a:alphaModFix/>
          </a:blip>
          <a:srcRect b="0" l="0" r="0" t="0"/>
          <a:stretch/>
        </p:blipFill>
        <p:spPr>
          <a:xfrm rot="-1140000">
            <a:off x="482600" y="2565400"/>
            <a:ext cx="2160588" cy="2184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pic>
        <p:nvPicPr>
          <p:cNvPr descr="Man shows something on laptop" id="537" name="Google Shape;537;p14"/>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538" name="Google Shape;538;p14"/>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a:solidFill>
                  <a:srgbClr val="3F3F3F"/>
                </a:solidFill>
              </a:rPr>
              <a:t>Pengertian Sistem Manufaktur :</a:t>
            </a:r>
            <a:endParaRPr b="1">
              <a:solidFill>
                <a:srgbClr val="3F3F3F"/>
              </a:solidFill>
            </a:endParaRPr>
          </a:p>
        </p:txBody>
      </p:sp>
      <p:sp>
        <p:nvSpPr>
          <p:cNvPr id="539" name="Google Shape;539;p14"/>
          <p:cNvSpPr txBox="1"/>
          <p:nvPr>
            <p:ph idx="1" type="body"/>
          </p:nvPr>
        </p:nvSpPr>
        <p:spPr>
          <a:xfrm>
            <a:off x="254000" y="1385888"/>
            <a:ext cx="3467100" cy="4657725"/>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rgbClr val="FF0000"/>
              </a:buClr>
              <a:buSzPct val="100000"/>
              <a:buFont typeface="Arial"/>
              <a:buNone/>
            </a:pPr>
            <a:r>
              <a:rPr b="1" lang="en-US" sz="3400">
                <a:solidFill>
                  <a:srgbClr val="FF0000"/>
                </a:solidFill>
                <a:latin typeface="Calibri"/>
                <a:ea typeface="Calibri"/>
                <a:cs typeface="Calibri"/>
                <a:sym typeface="Calibri"/>
              </a:rPr>
              <a:t>Manufaktur : </a:t>
            </a:r>
            <a:endParaRPr/>
          </a:p>
          <a:p>
            <a:pPr indent="0" lvl="0" marL="0" rtl="0" algn="l">
              <a:lnSpc>
                <a:spcPct val="90000"/>
              </a:lnSpc>
              <a:spcBef>
                <a:spcPts val="1000"/>
              </a:spcBef>
              <a:spcAft>
                <a:spcPts val="0"/>
              </a:spcAft>
              <a:buClr>
                <a:schemeClr val="dk1"/>
              </a:buClr>
              <a:buSzPct val="100000"/>
              <a:buFont typeface="Arial"/>
              <a:buNone/>
            </a:pPr>
            <a:r>
              <a:t/>
            </a:r>
            <a:endParaRPr sz="3200">
              <a:latin typeface="Calibri"/>
              <a:ea typeface="Calibri"/>
              <a:cs typeface="Calibri"/>
              <a:sym typeface="Calibri"/>
            </a:endParaRPr>
          </a:p>
          <a:p>
            <a:pPr indent="0" lvl="0" marL="0" rtl="0" algn="l">
              <a:lnSpc>
                <a:spcPct val="90000"/>
              </a:lnSpc>
              <a:spcBef>
                <a:spcPts val="1000"/>
              </a:spcBef>
              <a:spcAft>
                <a:spcPts val="0"/>
              </a:spcAft>
              <a:buClr>
                <a:schemeClr val="dk1"/>
              </a:buClr>
              <a:buSzPct val="100000"/>
              <a:buFont typeface="Arial"/>
              <a:buNone/>
            </a:pPr>
            <a:r>
              <a:rPr lang="en-US" sz="3200">
                <a:latin typeface="Calibri"/>
                <a:ea typeface="Calibri"/>
                <a:cs typeface="Calibri"/>
                <a:sym typeface="Calibri"/>
              </a:rPr>
              <a:t>Kumpulan operasi dan aktivitas yang saling berhubungan untuk membuat suatu produk, meliputi; perancangan produk, pemilihan material, perencanaan proses, perencanaan produksi, produksi, inspeksi, manajemen, dan pemasaran. </a:t>
            </a:r>
            <a:endParaRPr sz="3200">
              <a:latin typeface="Calibri"/>
              <a:ea typeface="Calibri"/>
              <a:cs typeface="Calibri"/>
              <a:sym typeface="Calibri"/>
            </a:endParaRPr>
          </a:p>
        </p:txBody>
      </p:sp>
      <p:sp>
        <p:nvSpPr>
          <p:cNvPr id="540" name="Google Shape;540;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541" name="Google Shape;541;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cap="none" strike="noStrike">
                <a:solidFill>
                  <a:srgbClr val="FFFFFF"/>
                </a:solidFill>
                <a:latin typeface="Calibri"/>
                <a:ea typeface="Calibri"/>
                <a:cs typeface="Calibri"/>
                <a:sym typeface="Calibri"/>
              </a:rPr>
              <a:t>‹#›</a:t>
            </a:fld>
            <a:endParaRPr b="0" i="0" sz="1200" u="none" cap="none" strike="noStrike">
              <a:solidFill>
                <a:srgbClr val="FFFFFF"/>
              </a:solidFill>
              <a:latin typeface="Calibri"/>
              <a:ea typeface="Calibri"/>
              <a:cs typeface="Calibri"/>
              <a:sym typeface="Calibri"/>
            </a:endParaRPr>
          </a:p>
        </p:txBody>
      </p:sp>
      <p:pic>
        <p:nvPicPr>
          <p:cNvPr id="542" name="Google Shape;542;p14"/>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543" name="Google Shape;543;p14"/>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pic>
        <p:nvPicPr>
          <p:cNvPr id="544" name="Google Shape;544;p14"/>
          <p:cNvPicPr preferRelativeResize="0"/>
          <p:nvPr/>
        </p:nvPicPr>
        <p:blipFill rotWithShape="1">
          <a:blip r:embed="rId6">
            <a:alphaModFix/>
          </a:blip>
          <a:srcRect b="0" l="0" r="0" t="0"/>
          <a:stretch/>
        </p:blipFill>
        <p:spPr>
          <a:xfrm>
            <a:off x="4038600" y="1385888"/>
            <a:ext cx="3419475" cy="1524000"/>
          </a:xfrm>
          <a:prstGeom prst="rect">
            <a:avLst/>
          </a:prstGeom>
          <a:noFill/>
          <a:ln>
            <a:noFill/>
          </a:ln>
        </p:spPr>
      </p:pic>
      <p:sp>
        <p:nvSpPr>
          <p:cNvPr id="545" name="Google Shape;545;p14"/>
          <p:cNvSpPr txBox="1"/>
          <p:nvPr/>
        </p:nvSpPr>
        <p:spPr>
          <a:xfrm>
            <a:off x="7823200" y="1411288"/>
            <a:ext cx="4051300" cy="4657725"/>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rgbClr val="FF0000"/>
              </a:buClr>
              <a:buSzPts val="3400"/>
              <a:buFont typeface="Arial"/>
              <a:buNone/>
            </a:pPr>
            <a:r>
              <a:rPr b="1" i="0" lang="en-US" sz="3400" u="none" cap="none" strike="noStrike">
                <a:solidFill>
                  <a:srgbClr val="FF0000"/>
                </a:solidFill>
                <a:latin typeface="Calibri"/>
                <a:ea typeface="Calibri"/>
                <a:cs typeface="Calibri"/>
                <a:sym typeface="Calibri"/>
              </a:rPr>
              <a:t>Proses Produksi Manufaktur : </a:t>
            </a:r>
            <a:endParaRPr/>
          </a:p>
          <a:p>
            <a:pPr indent="0" lvl="0" marL="0" marR="0" rtl="0" algn="l">
              <a:lnSpc>
                <a:spcPct val="90000"/>
              </a:lnSpc>
              <a:spcBef>
                <a:spcPts val="1000"/>
              </a:spcBef>
              <a:spcAft>
                <a:spcPts val="0"/>
              </a:spcAft>
              <a:buClr>
                <a:schemeClr val="dk1"/>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3200"/>
              <a:buFont typeface="Arial"/>
              <a:buNone/>
            </a:pPr>
            <a:r>
              <a:rPr b="0" i="0" lang="en-US" sz="3200" u="none" cap="none" strike="noStrike">
                <a:solidFill>
                  <a:schemeClr val="dk1"/>
                </a:solidFill>
                <a:latin typeface="Calibri"/>
                <a:ea typeface="Calibri"/>
                <a:cs typeface="Calibri"/>
                <a:sym typeface="Calibri"/>
              </a:rPr>
              <a:t>Aktivitas sistem manufaktur terkecil yang dilakukan untuk membuat produk, yaitu proses permesinan maupun proses pembentukan lainnya.</a:t>
            </a:r>
            <a:endParaRPr b="0" i="0" sz="3200" u="none" cap="none" strike="noStrike">
              <a:solidFill>
                <a:schemeClr val="dk1"/>
              </a:solidFill>
              <a:latin typeface="Calibri"/>
              <a:ea typeface="Calibri"/>
              <a:cs typeface="Calibri"/>
              <a:sym typeface="Calibri"/>
            </a:endParaRPr>
          </a:p>
        </p:txBody>
      </p:sp>
      <p:sp>
        <p:nvSpPr>
          <p:cNvPr id="546" name="Google Shape;546;p14"/>
          <p:cNvSpPr txBox="1"/>
          <p:nvPr/>
        </p:nvSpPr>
        <p:spPr>
          <a:xfrm>
            <a:off x="4037013" y="3024188"/>
            <a:ext cx="3786187" cy="3044825"/>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432FF"/>
              </a:buClr>
              <a:buSzPts val="3400"/>
              <a:buFont typeface="Arial"/>
              <a:buNone/>
            </a:pPr>
            <a:r>
              <a:rPr b="1" i="0" lang="en-US" sz="3400" u="none" cap="none" strike="noStrike">
                <a:solidFill>
                  <a:srgbClr val="0432FF"/>
                </a:solidFill>
                <a:latin typeface="Calibri"/>
                <a:ea typeface="Calibri"/>
                <a:cs typeface="Calibri"/>
                <a:sym typeface="Calibri"/>
              </a:rPr>
              <a:t>Proses : </a:t>
            </a:r>
            <a:endParaRPr b="0" i="0" sz="32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3200"/>
              <a:buFont typeface="Arial"/>
              <a:buNone/>
            </a:pPr>
            <a:r>
              <a:rPr b="0" i="0" lang="en-US" sz="3200" u="none" cap="none" strike="noStrike">
                <a:solidFill>
                  <a:schemeClr val="dk1"/>
                </a:solidFill>
                <a:latin typeface="Calibri"/>
                <a:ea typeface="Calibri"/>
                <a:cs typeface="Calibri"/>
                <a:sym typeface="Calibri"/>
              </a:rPr>
              <a:t>Serangkaian proses yang dilakukan untuk membuat produk</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pic>
        <p:nvPicPr>
          <p:cNvPr descr="Man shows something on laptop" id="552" name="Google Shape;552;p15"/>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553" name="Google Shape;553;p15"/>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a:solidFill>
                  <a:srgbClr val="3F3F3F"/>
                </a:solidFill>
              </a:rPr>
              <a:t>Pengertian Sistem Manufaktur :</a:t>
            </a:r>
            <a:endParaRPr b="1">
              <a:solidFill>
                <a:srgbClr val="3F3F3F"/>
              </a:solidFill>
            </a:endParaRPr>
          </a:p>
        </p:txBody>
      </p:sp>
      <p:sp>
        <p:nvSpPr>
          <p:cNvPr id="554" name="Google Shape;554;p15"/>
          <p:cNvSpPr txBox="1"/>
          <p:nvPr>
            <p:ph idx="1" type="body"/>
          </p:nvPr>
        </p:nvSpPr>
        <p:spPr>
          <a:xfrm>
            <a:off x="0" y="1385888"/>
            <a:ext cx="3975100" cy="3027362"/>
          </a:xfrm>
          <a:prstGeom prst="rect">
            <a:avLst/>
          </a:prstGeom>
          <a:noFill/>
          <a:ln>
            <a:noFill/>
          </a:ln>
        </p:spPr>
        <p:txBody>
          <a:bodyPr anchorCtr="0" anchor="t" bIns="45700" lIns="91425" spcFirstLastPara="1" rIns="91425" wrap="square" tIns="45700">
            <a:normAutofit fontScale="92500"/>
          </a:bodyPr>
          <a:lstStyle/>
          <a:p>
            <a:pPr indent="0" lvl="0" marL="0" rtl="0" algn="l">
              <a:lnSpc>
                <a:spcPct val="90000"/>
              </a:lnSpc>
              <a:spcBef>
                <a:spcPts val="0"/>
              </a:spcBef>
              <a:spcAft>
                <a:spcPts val="0"/>
              </a:spcAft>
              <a:buClr>
                <a:srgbClr val="FF0000"/>
              </a:buClr>
              <a:buSzPct val="100000"/>
              <a:buFont typeface="Arial"/>
              <a:buNone/>
            </a:pPr>
            <a:r>
              <a:rPr b="1" lang="en-US" sz="3400">
                <a:solidFill>
                  <a:srgbClr val="FF0000"/>
                </a:solidFill>
                <a:latin typeface="Calibri"/>
                <a:ea typeface="Calibri"/>
                <a:cs typeface="Calibri"/>
                <a:sym typeface="Calibri"/>
              </a:rPr>
              <a:t>Rekayasa Manufaktur : </a:t>
            </a:r>
            <a:endParaRPr/>
          </a:p>
          <a:p>
            <a:pPr indent="0" lvl="0" marL="0" rtl="0" algn="l">
              <a:lnSpc>
                <a:spcPct val="90000"/>
              </a:lnSpc>
              <a:spcBef>
                <a:spcPts val="1000"/>
              </a:spcBef>
              <a:spcAft>
                <a:spcPts val="0"/>
              </a:spcAft>
              <a:buClr>
                <a:schemeClr val="dk1"/>
              </a:buClr>
              <a:buSzPct val="100000"/>
              <a:buFont typeface="Arial"/>
              <a:buNone/>
            </a:pPr>
            <a:r>
              <a:t/>
            </a:r>
            <a:endParaRPr sz="3200">
              <a:latin typeface="Calibri"/>
              <a:ea typeface="Calibri"/>
              <a:cs typeface="Calibri"/>
              <a:sym typeface="Calibri"/>
            </a:endParaRPr>
          </a:p>
          <a:p>
            <a:pPr indent="0" lvl="0" marL="0" rtl="0" algn="l">
              <a:lnSpc>
                <a:spcPct val="90000"/>
              </a:lnSpc>
              <a:spcBef>
                <a:spcPts val="1000"/>
              </a:spcBef>
              <a:spcAft>
                <a:spcPts val="0"/>
              </a:spcAft>
              <a:buClr>
                <a:schemeClr val="dk1"/>
              </a:buClr>
              <a:buSzPct val="100000"/>
              <a:buFont typeface="Arial"/>
              <a:buNone/>
            </a:pPr>
            <a:r>
              <a:rPr lang="en-US" sz="3200"/>
              <a:t>Kegiatan perancangan, operasi, dan pengendalian proses manufaktur.</a:t>
            </a:r>
            <a:endParaRPr sz="3200">
              <a:latin typeface="Calibri"/>
              <a:ea typeface="Calibri"/>
              <a:cs typeface="Calibri"/>
              <a:sym typeface="Calibri"/>
            </a:endParaRPr>
          </a:p>
        </p:txBody>
      </p:sp>
      <p:sp>
        <p:nvSpPr>
          <p:cNvPr id="555" name="Google Shape;555;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556" name="Google Shape;55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cap="none" strike="noStrike">
                <a:solidFill>
                  <a:srgbClr val="FFFFFF"/>
                </a:solidFill>
                <a:latin typeface="Calibri"/>
                <a:ea typeface="Calibri"/>
                <a:cs typeface="Calibri"/>
                <a:sym typeface="Calibri"/>
              </a:rPr>
              <a:t>‹#›</a:t>
            </a:fld>
            <a:endParaRPr b="0" i="0" sz="1200" u="none" cap="none" strike="noStrike">
              <a:solidFill>
                <a:srgbClr val="FFFFFF"/>
              </a:solidFill>
              <a:latin typeface="Calibri"/>
              <a:ea typeface="Calibri"/>
              <a:cs typeface="Calibri"/>
              <a:sym typeface="Calibri"/>
            </a:endParaRPr>
          </a:p>
        </p:txBody>
      </p:sp>
      <p:pic>
        <p:nvPicPr>
          <p:cNvPr id="557" name="Google Shape;557;p15"/>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558" name="Google Shape;558;p15"/>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sp>
        <p:nvSpPr>
          <p:cNvPr id="559" name="Google Shape;559;p15"/>
          <p:cNvSpPr txBox="1"/>
          <p:nvPr/>
        </p:nvSpPr>
        <p:spPr>
          <a:xfrm>
            <a:off x="7183438" y="2946400"/>
            <a:ext cx="4673600" cy="3403600"/>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l">
              <a:lnSpc>
                <a:spcPct val="90000"/>
              </a:lnSpc>
              <a:spcBef>
                <a:spcPts val="0"/>
              </a:spcBef>
              <a:spcAft>
                <a:spcPts val="0"/>
              </a:spcAft>
              <a:buClr>
                <a:srgbClr val="FF0000"/>
              </a:buClr>
              <a:buSzPct val="100000"/>
              <a:buFont typeface="Arial"/>
              <a:buNone/>
            </a:pPr>
            <a:r>
              <a:rPr b="1" i="0" lang="en-US" sz="3400" u="none" cap="none" strike="noStrike">
                <a:solidFill>
                  <a:srgbClr val="FF0000"/>
                </a:solidFill>
                <a:latin typeface="Calibri"/>
                <a:ea typeface="Calibri"/>
                <a:cs typeface="Calibri"/>
                <a:sym typeface="Calibri"/>
              </a:rPr>
              <a:t>Sistem Manufaktur : </a:t>
            </a:r>
            <a:endParaRPr/>
          </a:p>
          <a:p>
            <a:pPr indent="0" lvl="0" marL="0" marR="0" rtl="0" algn="l">
              <a:lnSpc>
                <a:spcPct val="90000"/>
              </a:lnSpc>
              <a:spcBef>
                <a:spcPts val="1000"/>
              </a:spcBef>
              <a:spcAft>
                <a:spcPts val="0"/>
              </a:spcAft>
              <a:buClr>
                <a:schemeClr val="dk1"/>
              </a:buClr>
              <a:buSzPct val="1000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ct val="100000"/>
              <a:buFont typeface="Arial"/>
              <a:buNone/>
            </a:pPr>
            <a:r>
              <a:rPr b="0" i="0" lang="en-US" sz="3200" u="none" cap="none" strike="noStrike">
                <a:solidFill>
                  <a:schemeClr val="dk1"/>
                </a:solidFill>
                <a:latin typeface="Calibri"/>
                <a:ea typeface="Calibri"/>
                <a:cs typeface="Calibri"/>
                <a:sym typeface="Calibri"/>
              </a:rPr>
              <a:t>Suatu organisasi yang melaksanakan berbagai kegiatan manufaktur yang saling berhubungan, dengan tujuan menjembatani fungsi produksi dengan fungsi-fungsi lain di luar fungsi produksi, agar dicapai performansi produktivitas total sistem yang optimal, seperti; waktu produksi, ongkos, dan utilitas mesin.</a:t>
            </a:r>
            <a:endParaRPr b="0" i="0" sz="3200" u="none" cap="none" strike="noStrike">
              <a:solidFill>
                <a:schemeClr val="dk1"/>
              </a:solidFill>
              <a:latin typeface="Calibri"/>
              <a:ea typeface="Calibri"/>
              <a:cs typeface="Calibri"/>
              <a:sym typeface="Calibri"/>
            </a:endParaRPr>
          </a:p>
        </p:txBody>
      </p:sp>
      <p:sp>
        <p:nvSpPr>
          <p:cNvPr id="560" name="Google Shape;560;p15"/>
          <p:cNvSpPr txBox="1"/>
          <p:nvPr/>
        </p:nvSpPr>
        <p:spPr>
          <a:xfrm>
            <a:off x="2133600" y="9525000"/>
            <a:ext cx="1841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561" name="Google Shape;561;p15"/>
          <p:cNvPicPr preferRelativeResize="0"/>
          <p:nvPr/>
        </p:nvPicPr>
        <p:blipFill rotWithShape="1">
          <a:blip r:embed="rId6">
            <a:alphaModFix/>
          </a:blip>
          <a:srcRect b="0" l="0" r="0" t="0"/>
          <a:stretch/>
        </p:blipFill>
        <p:spPr>
          <a:xfrm>
            <a:off x="3975100" y="1584325"/>
            <a:ext cx="2971800" cy="4054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pic>
        <p:nvPicPr>
          <p:cNvPr descr="Man shows something on laptop" id="567" name="Google Shape;567;p16"/>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568" name="Google Shape;568;p16"/>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a:solidFill>
                  <a:srgbClr val="3F3F3F"/>
                </a:solidFill>
              </a:rPr>
              <a:t>Klasifikasi Sistem Manufaktur :</a:t>
            </a:r>
            <a:endParaRPr b="1">
              <a:solidFill>
                <a:srgbClr val="3F3F3F"/>
              </a:solidFill>
            </a:endParaRPr>
          </a:p>
        </p:txBody>
      </p:sp>
      <p:sp>
        <p:nvSpPr>
          <p:cNvPr id="569" name="Google Shape;56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570" name="Google Shape;57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cap="none" strike="noStrike">
                <a:solidFill>
                  <a:srgbClr val="FFFFFF"/>
                </a:solidFill>
                <a:latin typeface="Calibri"/>
                <a:ea typeface="Calibri"/>
                <a:cs typeface="Calibri"/>
                <a:sym typeface="Calibri"/>
              </a:rPr>
              <a:t>‹#›</a:t>
            </a:fld>
            <a:endParaRPr b="0" i="0" sz="1200" u="none" cap="none" strike="noStrike">
              <a:solidFill>
                <a:srgbClr val="FFFFFF"/>
              </a:solidFill>
              <a:latin typeface="Calibri"/>
              <a:ea typeface="Calibri"/>
              <a:cs typeface="Calibri"/>
              <a:sym typeface="Calibri"/>
            </a:endParaRPr>
          </a:p>
        </p:txBody>
      </p:sp>
      <p:pic>
        <p:nvPicPr>
          <p:cNvPr id="571" name="Google Shape;571;p16"/>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572" name="Google Shape;572;p16"/>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pic>
        <p:nvPicPr>
          <p:cNvPr id="573" name="Google Shape;573;p16"/>
          <p:cNvPicPr preferRelativeResize="0"/>
          <p:nvPr>
            <p:ph idx="1" type="body"/>
          </p:nvPr>
        </p:nvPicPr>
        <p:blipFill rotWithShape="1">
          <a:blip r:embed="rId6">
            <a:alphaModFix/>
          </a:blip>
          <a:srcRect b="0" l="0" r="0" t="0"/>
          <a:stretch/>
        </p:blipFill>
        <p:spPr>
          <a:xfrm>
            <a:off x="215900" y="1384300"/>
            <a:ext cx="11442700" cy="4978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17"/>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sz="3300">
                <a:solidFill>
                  <a:srgbClr val="3F3F3F"/>
                </a:solidFill>
              </a:rPr>
              <a:t>Klasifikasi Sistem Manufaktur  berdasarkan </a:t>
            </a:r>
            <a:br>
              <a:rPr b="1" lang="en-US" sz="3300">
                <a:solidFill>
                  <a:srgbClr val="3F3F3F"/>
                </a:solidFill>
              </a:rPr>
            </a:br>
            <a:r>
              <a:rPr b="1" lang="en-US" sz="3300">
                <a:solidFill>
                  <a:srgbClr val="3F3F3F"/>
                </a:solidFill>
              </a:rPr>
              <a:t>Tipe Produksi :</a:t>
            </a:r>
            <a:endParaRPr b="1" sz="3300">
              <a:solidFill>
                <a:srgbClr val="3F3F3F"/>
              </a:solidFill>
            </a:endParaRPr>
          </a:p>
        </p:txBody>
      </p:sp>
      <p:sp>
        <p:nvSpPr>
          <p:cNvPr id="580" name="Google Shape;580;p17"/>
          <p:cNvSpPr txBox="1"/>
          <p:nvPr>
            <p:ph idx="11" type="ftr"/>
          </p:nvPr>
        </p:nvSpPr>
        <p:spPr>
          <a:xfrm>
            <a:off x="3683000" y="6424613"/>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581" name="Google Shape;581;p17"/>
          <p:cNvSpPr txBox="1"/>
          <p:nvPr>
            <p:ph idx="12" type="sldNum"/>
          </p:nvPr>
        </p:nvSpPr>
        <p:spPr>
          <a:xfrm>
            <a:off x="9639300" y="6492875"/>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none" cap="none" strike="noStrike">
                <a:solidFill>
                  <a:srgbClr val="FFFFFF"/>
                </a:solidFill>
                <a:latin typeface="Calibri"/>
                <a:ea typeface="Calibri"/>
                <a:cs typeface="Calibri"/>
                <a:sym typeface="Calibri"/>
              </a:rPr>
              <a:t>‹#›</a:t>
            </a:fld>
            <a:endParaRPr b="0" i="0" sz="1200" u="none" cap="none" strike="noStrike">
              <a:solidFill>
                <a:srgbClr val="FFFFFF"/>
              </a:solidFill>
              <a:latin typeface="Calibri"/>
              <a:ea typeface="Calibri"/>
              <a:cs typeface="Calibri"/>
              <a:sym typeface="Calibri"/>
            </a:endParaRPr>
          </a:p>
        </p:txBody>
      </p:sp>
      <p:pic>
        <p:nvPicPr>
          <p:cNvPr id="582" name="Google Shape;582;p17"/>
          <p:cNvPicPr preferRelativeResize="0"/>
          <p:nvPr/>
        </p:nvPicPr>
        <p:blipFill rotWithShape="1">
          <a:blip r:embed="rId3">
            <a:alphaModFix/>
          </a:blip>
          <a:srcRect b="0" l="0" r="0" t="0"/>
          <a:stretch/>
        </p:blipFill>
        <p:spPr>
          <a:xfrm>
            <a:off x="8232775" y="250825"/>
            <a:ext cx="2574925" cy="776288"/>
          </a:xfrm>
          <a:prstGeom prst="rect">
            <a:avLst/>
          </a:prstGeom>
          <a:noFill/>
          <a:ln>
            <a:noFill/>
          </a:ln>
        </p:spPr>
      </p:pic>
      <p:pic>
        <p:nvPicPr>
          <p:cNvPr id="583" name="Google Shape;583;p17"/>
          <p:cNvPicPr preferRelativeResize="0"/>
          <p:nvPr/>
        </p:nvPicPr>
        <p:blipFill rotWithShape="1">
          <a:blip r:embed="rId4">
            <a:alphaModFix/>
          </a:blip>
          <a:srcRect b="0" l="0" r="0" t="0"/>
          <a:stretch/>
        </p:blipFill>
        <p:spPr>
          <a:xfrm>
            <a:off x="11022013" y="106363"/>
            <a:ext cx="1062037" cy="1184275"/>
          </a:xfrm>
          <a:prstGeom prst="rect">
            <a:avLst/>
          </a:prstGeom>
          <a:noFill/>
          <a:ln>
            <a:noFill/>
          </a:ln>
        </p:spPr>
      </p:pic>
      <p:sp>
        <p:nvSpPr>
          <p:cNvPr id="584" name="Google Shape;584;p17"/>
          <p:cNvSpPr/>
          <p:nvPr/>
        </p:nvSpPr>
        <p:spPr>
          <a:xfrm>
            <a:off x="1409700" y="2011363"/>
            <a:ext cx="982663" cy="504825"/>
          </a:xfrm>
          <a:prstGeom prst="rect">
            <a:avLst/>
          </a:prstGeom>
          <a:solidFill>
            <a:srgbClr val="FBE4D4"/>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Design</a:t>
            </a:r>
            <a:endParaRPr b="0" i="0" sz="1600" u="none" cap="none" strike="noStrike">
              <a:solidFill>
                <a:schemeClr val="dk1"/>
              </a:solidFill>
              <a:latin typeface="Calibri"/>
              <a:ea typeface="Calibri"/>
              <a:cs typeface="Calibri"/>
              <a:sym typeface="Calibri"/>
            </a:endParaRPr>
          </a:p>
        </p:txBody>
      </p:sp>
      <p:sp>
        <p:nvSpPr>
          <p:cNvPr id="585" name="Google Shape;585;p17"/>
          <p:cNvSpPr/>
          <p:nvPr/>
        </p:nvSpPr>
        <p:spPr>
          <a:xfrm>
            <a:off x="2392363" y="2011363"/>
            <a:ext cx="1114425" cy="504825"/>
          </a:xfrm>
          <a:prstGeom prst="rect">
            <a:avLst/>
          </a:prstGeom>
          <a:solidFill>
            <a:srgbClr val="BFBFBF"/>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Purchasing</a:t>
            </a:r>
            <a:endParaRPr b="0" i="0" sz="1600" u="none" cap="none" strike="noStrike">
              <a:solidFill>
                <a:schemeClr val="dk1"/>
              </a:solidFill>
              <a:latin typeface="Calibri"/>
              <a:ea typeface="Calibri"/>
              <a:cs typeface="Calibri"/>
              <a:sym typeface="Calibri"/>
            </a:endParaRPr>
          </a:p>
        </p:txBody>
      </p:sp>
      <p:sp>
        <p:nvSpPr>
          <p:cNvPr id="586" name="Google Shape;586;p17"/>
          <p:cNvSpPr/>
          <p:nvPr/>
        </p:nvSpPr>
        <p:spPr>
          <a:xfrm>
            <a:off x="3475038" y="2011363"/>
            <a:ext cx="1255712" cy="504825"/>
          </a:xfrm>
          <a:prstGeom prst="rect">
            <a:avLst/>
          </a:prstGeom>
          <a:solidFill>
            <a:srgbClr val="FCDAEB"/>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Manufacture</a:t>
            </a:r>
            <a:endParaRPr b="0" i="0" sz="1600" u="none" cap="none" strike="noStrike">
              <a:solidFill>
                <a:schemeClr val="dk1"/>
              </a:solidFill>
              <a:latin typeface="Calibri"/>
              <a:ea typeface="Calibri"/>
              <a:cs typeface="Calibri"/>
              <a:sym typeface="Calibri"/>
            </a:endParaRPr>
          </a:p>
        </p:txBody>
      </p:sp>
      <p:sp>
        <p:nvSpPr>
          <p:cNvPr id="587" name="Google Shape;587;p17"/>
          <p:cNvSpPr/>
          <p:nvPr/>
        </p:nvSpPr>
        <p:spPr>
          <a:xfrm>
            <a:off x="4668838" y="2011363"/>
            <a:ext cx="1071562" cy="504825"/>
          </a:xfrm>
          <a:prstGeom prst="rect">
            <a:avLst/>
          </a:prstGeom>
          <a:solidFill>
            <a:srgbClr val="E9E785"/>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Assemble</a:t>
            </a:r>
            <a:endParaRPr b="0" i="0" sz="1600" u="none" cap="none" strike="noStrike">
              <a:solidFill>
                <a:schemeClr val="dk1"/>
              </a:solidFill>
              <a:latin typeface="Calibri"/>
              <a:ea typeface="Calibri"/>
              <a:cs typeface="Calibri"/>
              <a:sym typeface="Calibri"/>
            </a:endParaRPr>
          </a:p>
        </p:txBody>
      </p:sp>
      <p:sp>
        <p:nvSpPr>
          <p:cNvPr id="588" name="Google Shape;588;p17"/>
          <p:cNvSpPr/>
          <p:nvPr/>
        </p:nvSpPr>
        <p:spPr>
          <a:xfrm>
            <a:off x="5729288" y="2011363"/>
            <a:ext cx="1019175" cy="504825"/>
          </a:xfrm>
          <a:prstGeom prst="rect">
            <a:avLst/>
          </a:prstGeom>
          <a:solidFill>
            <a:srgbClr val="C3EAC0"/>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Shipment</a:t>
            </a:r>
            <a:endParaRPr b="0" i="0" sz="1600" u="none" cap="none" strike="noStrike">
              <a:solidFill>
                <a:schemeClr val="dk1"/>
              </a:solidFill>
              <a:latin typeface="Calibri"/>
              <a:ea typeface="Calibri"/>
              <a:cs typeface="Calibri"/>
              <a:sym typeface="Calibri"/>
            </a:endParaRPr>
          </a:p>
        </p:txBody>
      </p:sp>
      <p:sp>
        <p:nvSpPr>
          <p:cNvPr id="589" name="Google Shape;589;p17"/>
          <p:cNvSpPr/>
          <p:nvPr/>
        </p:nvSpPr>
        <p:spPr>
          <a:xfrm>
            <a:off x="1409700" y="3187700"/>
            <a:ext cx="1449388" cy="504825"/>
          </a:xfrm>
          <a:prstGeom prst="rect">
            <a:avLst/>
          </a:prstGeom>
          <a:solidFill>
            <a:srgbClr val="FBE4D4"/>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Inventory</a:t>
            </a:r>
            <a:endParaRPr b="0" i="0" sz="1600" u="none" cap="none" strike="noStrike">
              <a:solidFill>
                <a:schemeClr val="dk1"/>
              </a:solidFill>
              <a:latin typeface="Calibri"/>
              <a:ea typeface="Calibri"/>
              <a:cs typeface="Calibri"/>
              <a:sym typeface="Calibri"/>
            </a:endParaRPr>
          </a:p>
        </p:txBody>
      </p:sp>
      <p:sp>
        <p:nvSpPr>
          <p:cNvPr id="590" name="Google Shape;590;p17"/>
          <p:cNvSpPr/>
          <p:nvPr/>
        </p:nvSpPr>
        <p:spPr>
          <a:xfrm>
            <a:off x="2859088" y="3187700"/>
            <a:ext cx="1512887" cy="504825"/>
          </a:xfrm>
          <a:prstGeom prst="rect">
            <a:avLst/>
          </a:prstGeom>
          <a:solidFill>
            <a:srgbClr val="FCDAEB"/>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Manufacture</a:t>
            </a:r>
            <a:endParaRPr b="0" i="0" sz="1600" u="none" cap="none" strike="noStrike">
              <a:solidFill>
                <a:schemeClr val="dk1"/>
              </a:solidFill>
              <a:latin typeface="Calibri"/>
              <a:ea typeface="Calibri"/>
              <a:cs typeface="Calibri"/>
              <a:sym typeface="Calibri"/>
            </a:endParaRPr>
          </a:p>
        </p:txBody>
      </p:sp>
      <p:sp>
        <p:nvSpPr>
          <p:cNvPr id="591" name="Google Shape;591;p17"/>
          <p:cNvSpPr/>
          <p:nvPr/>
        </p:nvSpPr>
        <p:spPr>
          <a:xfrm>
            <a:off x="4371975" y="3187700"/>
            <a:ext cx="1223963" cy="504825"/>
          </a:xfrm>
          <a:prstGeom prst="rect">
            <a:avLst/>
          </a:prstGeom>
          <a:solidFill>
            <a:srgbClr val="E9E785"/>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Assemble</a:t>
            </a:r>
            <a:endParaRPr b="0" i="0" sz="1600" u="none" cap="none" strike="noStrike">
              <a:solidFill>
                <a:schemeClr val="dk1"/>
              </a:solidFill>
              <a:latin typeface="Calibri"/>
              <a:ea typeface="Calibri"/>
              <a:cs typeface="Calibri"/>
              <a:sym typeface="Calibri"/>
            </a:endParaRPr>
          </a:p>
        </p:txBody>
      </p:sp>
      <p:sp>
        <p:nvSpPr>
          <p:cNvPr id="592" name="Google Shape;592;p17"/>
          <p:cNvSpPr/>
          <p:nvPr/>
        </p:nvSpPr>
        <p:spPr>
          <a:xfrm>
            <a:off x="5595938" y="3187700"/>
            <a:ext cx="1152525" cy="504825"/>
          </a:xfrm>
          <a:prstGeom prst="rect">
            <a:avLst/>
          </a:prstGeom>
          <a:solidFill>
            <a:srgbClr val="C3EAC0"/>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Shipment</a:t>
            </a:r>
            <a:endParaRPr b="0" i="0" sz="1600" u="none" cap="none" strike="noStrike">
              <a:solidFill>
                <a:schemeClr val="dk1"/>
              </a:solidFill>
              <a:latin typeface="Calibri"/>
              <a:ea typeface="Calibri"/>
              <a:cs typeface="Calibri"/>
              <a:sym typeface="Calibri"/>
            </a:endParaRPr>
          </a:p>
        </p:txBody>
      </p:sp>
      <p:sp>
        <p:nvSpPr>
          <p:cNvPr id="593" name="Google Shape;593;p17"/>
          <p:cNvSpPr/>
          <p:nvPr/>
        </p:nvSpPr>
        <p:spPr>
          <a:xfrm>
            <a:off x="2811463" y="4357688"/>
            <a:ext cx="1565275" cy="503237"/>
          </a:xfrm>
          <a:prstGeom prst="rect">
            <a:avLst/>
          </a:prstGeom>
          <a:solidFill>
            <a:srgbClr val="FBE4D4"/>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Inventory</a:t>
            </a:r>
            <a:endParaRPr b="0" i="0" sz="1600" u="none" cap="none" strike="noStrike">
              <a:solidFill>
                <a:schemeClr val="dk1"/>
              </a:solidFill>
              <a:latin typeface="Calibri"/>
              <a:ea typeface="Calibri"/>
              <a:cs typeface="Calibri"/>
              <a:sym typeface="Calibri"/>
            </a:endParaRPr>
          </a:p>
        </p:txBody>
      </p:sp>
      <p:sp>
        <p:nvSpPr>
          <p:cNvPr id="594" name="Google Shape;594;p17"/>
          <p:cNvSpPr/>
          <p:nvPr/>
        </p:nvSpPr>
        <p:spPr>
          <a:xfrm>
            <a:off x="1384300" y="4357688"/>
            <a:ext cx="1511300" cy="503237"/>
          </a:xfrm>
          <a:prstGeom prst="rect">
            <a:avLst/>
          </a:prstGeom>
          <a:solidFill>
            <a:srgbClr val="FCDAEB"/>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Manufacture</a:t>
            </a:r>
            <a:endParaRPr b="0" i="0" sz="1600" u="none" cap="none" strike="noStrike">
              <a:solidFill>
                <a:schemeClr val="dk1"/>
              </a:solidFill>
              <a:latin typeface="Calibri"/>
              <a:ea typeface="Calibri"/>
              <a:cs typeface="Calibri"/>
              <a:sym typeface="Calibri"/>
            </a:endParaRPr>
          </a:p>
        </p:txBody>
      </p:sp>
      <p:sp>
        <p:nvSpPr>
          <p:cNvPr id="595" name="Google Shape;595;p17"/>
          <p:cNvSpPr/>
          <p:nvPr/>
        </p:nvSpPr>
        <p:spPr>
          <a:xfrm>
            <a:off x="4376738" y="4357688"/>
            <a:ext cx="1223962" cy="503237"/>
          </a:xfrm>
          <a:prstGeom prst="rect">
            <a:avLst/>
          </a:prstGeom>
          <a:solidFill>
            <a:srgbClr val="E9E785"/>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Assemble</a:t>
            </a:r>
            <a:endParaRPr b="0" i="0" sz="1600" u="none" cap="none" strike="noStrike">
              <a:solidFill>
                <a:schemeClr val="dk1"/>
              </a:solidFill>
              <a:latin typeface="Calibri"/>
              <a:ea typeface="Calibri"/>
              <a:cs typeface="Calibri"/>
              <a:sym typeface="Calibri"/>
            </a:endParaRPr>
          </a:p>
        </p:txBody>
      </p:sp>
      <p:sp>
        <p:nvSpPr>
          <p:cNvPr id="596" name="Google Shape;596;p17"/>
          <p:cNvSpPr/>
          <p:nvPr/>
        </p:nvSpPr>
        <p:spPr>
          <a:xfrm>
            <a:off x="5600700" y="4357688"/>
            <a:ext cx="1152525" cy="503237"/>
          </a:xfrm>
          <a:prstGeom prst="rect">
            <a:avLst/>
          </a:prstGeom>
          <a:solidFill>
            <a:srgbClr val="C3EAC0"/>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Shipment</a:t>
            </a:r>
            <a:endParaRPr b="0" i="0" sz="1600" u="none" cap="none" strike="noStrike">
              <a:solidFill>
                <a:schemeClr val="dk1"/>
              </a:solidFill>
              <a:latin typeface="Calibri"/>
              <a:ea typeface="Calibri"/>
              <a:cs typeface="Calibri"/>
              <a:sym typeface="Calibri"/>
            </a:endParaRPr>
          </a:p>
        </p:txBody>
      </p:sp>
      <p:sp>
        <p:nvSpPr>
          <p:cNvPr id="597" name="Google Shape;597;p17"/>
          <p:cNvSpPr/>
          <p:nvPr/>
        </p:nvSpPr>
        <p:spPr>
          <a:xfrm>
            <a:off x="4291013" y="5726113"/>
            <a:ext cx="1309687" cy="503237"/>
          </a:xfrm>
          <a:prstGeom prst="rect">
            <a:avLst/>
          </a:prstGeom>
          <a:solidFill>
            <a:srgbClr val="FBE4D4"/>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Inventory</a:t>
            </a:r>
            <a:endParaRPr b="0" i="0" sz="1600" u="none" cap="none" strike="noStrike">
              <a:solidFill>
                <a:schemeClr val="dk1"/>
              </a:solidFill>
              <a:latin typeface="Calibri"/>
              <a:ea typeface="Calibri"/>
              <a:cs typeface="Calibri"/>
              <a:sym typeface="Calibri"/>
            </a:endParaRPr>
          </a:p>
        </p:txBody>
      </p:sp>
      <p:sp>
        <p:nvSpPr>
          <p:cNvPr id="598" name="Google Shape;598;p17"/>
          <p:cNvSpPr/>
          <p:nvPr/>
        </p:nvSpPr>
        <p:spPr>
          <a:xfrm>
            <a:off x="1384300" y="5726113"/>
            <a:ext cx="1511300" cy="503237"/>
          </a:xfrm>
          <a:prstGeom prst="rect">
            <a:avLst/>
          </a:prstGeom>
          <a:solidFill>
            <a:srgbClr val="FCDAEB"/>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Manufacture</a:t>
            </a:r>
            <a:endParaRPr b="0" i="0" sz="1600" u="none" cap="none" strike="noStrike">
              <a:solidFill>
                <a:schemeClr val="dk1"/>
              </a:solidFill>
              <a:latin typeface="Calibri"/>
              <a:ea typeface="Calibri"/>
              <a:cs typeface="Calibri"/>
              <a:sym typeface="Calibri"/>
            </a:endParaRPr>
          </a:p>
        </p:txBody>
      </p:sp>
      <p:sp>
        <p:nvSpPr>
          <p:cNvPr id="599" name="Google Shape;599;p17"/>
          <p:cNvSpPr/>
          <p:nvPr/>
        </p:nvSpPr>
        <p:spPr>
          <a:xfrm>
            <a:off x="2916238" y="5726113"/>
            <a:ext cx="1398587" cy="503237"/>
          </a:xfrm>
          <a:prstGeom prst="rect">
            <a:avLst/>
          </a:prstGeom>
          <a:solidFill>
            <a:srgbClr val="E9E785"/>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Assemble</a:t>
            </a:r>
            <a:endParaRPr b="0" i="0" sz="1600" u="none" cap="none" strike="noStrike">
              <a:solidFill>
                <a:schemeClr val="dk1"/>
              </a:solidFill>
              <a:latin typeface="Calibri"/>
              <a:ea typeface="Calibri"/>
              <a:cs typeface="Calibri"/>
              <a:sym typeface="Calibri"/>
            </a:endParaRPr>
          </a:p>
        </p:txBody>
      </p:sp>
      <p:sp>
        <p:nvSpPr>
          <p:cNvPr id="600" name="Google Shape;600;p17"/>
          <p:cNvSpPr/>
          <p:nvPr/>
        </p:nvSpPr>
        <p:spPr>
          <a:xfrm>
            <a:off x="5588000" y="5726113"/>
            <a:ext cx="1165225" cy="503237"/>
          </a:xfrm>
          <a:prstGeom prst="rect">
            <a:avLst/>
          </a:prstGeom>
          <a:solidFill>
            <a:srgbClr val="C3EAC0"/>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Shipment</a:t>
            </a:r>
            <a:endParaRPr b="0" i="0" sz="1600" u="none" cap="none" strike="noStrike">
              <a:solidFill>
                <a:schemeClr val="dk1"/>
              </a:solidFill>
              <a:latin typeface="Calibri"/>
              <a:ea typeface="Calibri"/>
              <a:cs typeface="Calibri"/>
              <a:sym typeface="Calibri"/>
            </a:endParaRPr>
          </a:p>
        </p:txBody>
      </p:sp>
      <p:cxnSp>
        <p:nvCxnSpPr>
          <p:cNvPr id="601" name="Google Shape;601;p17"/>
          <p:cNvCxnSpPr/>
          <p:nvPr/>
        </p:nvCxnSpPr>
        <p:spPr>
          <a:xfrm>
            <a:off x="1409700" y="1477963"/>
            <a:ext cx="0" cy="466725"/>
          </a:xfrm>
          <a:prstGeom prst="straightConnector1">
            <a:avLst/>
          </a:prstGeom>
          <a:noFill/>
          <a:ln cap="flat" cmpd="sng" w="9525">
            <a:solidFill>
              <a:srgbClr val="0C0C0C"/>
            </a:solidFill>
            <a:prstDash val="solid"/>
            <a:miter lim="800000"/>
            <a:headEnd len="sm" w="sm" type="none"/>
            <a:tailEnd len="sm" w="sm" type="none"/>
          </a:ln>
        </p:spPr>
      </p:cxnSp>
      <p:cxnSp>
        <p:nvCxnSpPr>
          <p:cNvPr id="602" name="Google Shape;602;p17"/>
          <p:cNvCxnSpPr/>
          <p:nvPr/>
        </p:nvCxnSpPr>
        <p:spPr>
          <a:xfrm>
            <a:off x="6748463" y="1477963"/>
            <a:ext cx="0" cy="466725"/>
          </a:xfrm>
          <a:prstGeom prst="straightConnector1">
            <a:avLst/>
          </a:prstGeom>
          <a:noFill/>
          <a:ln cap="flat" cmpd="sng" w="9525">
            <a:solidFill>
              <a:srgbClr val="0C0C0C"/>
            </a:solidFill>
            <a:prstDash val="solid"/>
            <a:miter lim="800000"/>
            <a:headEnd len="sm" w="sm" type="none"/>
            <a:tailEnd len="sm" w="sm" type="none"/>
          </a:ln>
        </p:spPr>
      </p:cxnSp>
      <p:cxnSp>
        <p:nvCxnSpPr>
          <p:cNvPr id="603" name="Google Shape;603;p17"/>
          <p:cNvCxnSpPr/>
          <p:nvPr/>
        </p:nvCxnSpPr>
        <p:spPr>
          <a:xfrm>
            <a:off x="1547813" y="1714500"/>
            <a:ext cx="5111750" cy="0"/>
          </a:xfrm>
          <a:prstGeom prst="straightConnector1">
            <a:avLst/>
          </a:prstGeom>
          <a:noFill/>
          <a:ln cap="flat" cmpd="sng" w="9525">
            <a:solidFill>
              <a:srgbClr val="A5A5A5"/>
            </a:solidFill>
            <a:prstDash val="solid"/>
            <a:miter lim="800000"/>
            <a:headEnd len="med" w="med" type="triangle"/>
            <a:tailEnd len="med" w="med" type="triangle"/>
          </a:ln>
        </p:spPr>
      </p:cxnSp>
      <p:sp>
        <p:nvSpPr>
          <p:cNvPr id="604" name="Google Shape;604;p17"/>
          <p:cNvSpPr txBox="1"/>
          <p:nvPr/>
        </p:nvSpPr>
        <p:spPr>
          <a:xfrm>
            <a:off x="3643313" y="1374775"/>
            <a:ext cx="1944687" cy="3079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chemeClr val="dk1"/>
                </a:solidFill>
                <a:latin typeface="Nunito"/>
                <a:ea typeface="Nunito"/>
                <a:cs typeface="Nunito"/>
                <a:sym typeface="Nunito"/>
              </a:rPr>
              <a:t>Lead time</a:t>
            </a:r>
            <a:endParaRPr sz="1400">
              <a:solidFill>
                <a:schemeClr val="dk1"/>
              </a:solidFill>
              <a:latin typeface="Nunito"/>
              <a:ea typeface="Nunito"/>
              <a:cs typeface="Nunito"/>
              <a:sym typeface="Nunito"/>
            </a:endParaRPr>
          </a:p>
        </p:txBody>
      </p:sp>
      <p:cxnSp>
        <p:nvCxnSpPr>
          <p:cNvPr id="605" name="Google Shape;605;p17"/>
          <p:cNvCxnSpPr/>
          <p:nvPr/>
        </p:nvCxnSpPr>
        <p:spPr>
          <a:xfrm>
            <a:off x="2859088" y="2765425"/>
            <a:ext cx="0" cy="395288"/>
          </a:xfrm>
          <a:prstGeom prst="straightConnector1">
            <a:avLst/>
          </a:prstGeom>
          <a:noFill/>
          <a:ln cap="flat" cmpd="sng" w="9525">
            <a:solidFill>
              <a:srgbClr val="0C0C0C"/>
            </a:solidFill>
            <a:prstDash val="solid"/>
            <a:miter lim="800000"/>
            <a:headEnd len="sm" w="sm" type="none"/>
            <a:tailEnd len="sm" w="sm" type="none"/>
          </a:ln>
        </p:spPr>
      </p:cxnSp>
      <p:cxnSp>
        <p:nvCxnSpPr>
          <p:cNvPr id="606" name="Google Shape;606;p17"/>
          <p:cNvCxnSpPr/>
          <p:nvPr/>
        </p:nvCxnSpPr>
        <p:spPr>
          <a:xfrm>
            <a:off x="6748463" y="2736850"/>
            <a:ext cx="0" cy="396875"/>
          </a:xfrm>
          <a:prstGeom prst="straightConnector1">
            <a:avLst/>
          </a:prstGeom>
          <a:noFill/>
          <a:ln cap="flat" cmpd="sng" w="9525">
            <a:solidFill>
              <a:srgbClr val="0C0C0C"/>
            </a:solidFill>
            <a:prstDash val="solid"/>
            <a:miter lim="800000"/>
            <a:headEnd len="sm" w="sm" type="none"/>
            <a:tailEnd len="sm" w="sm" type="none"/>
          </a:ln>
        </p:spPr>
      </p:cxnSp>
      <p:cxnSp>
        <p:nvCxnSpPr>
          <p:cNvPr id="607" name="Google Shape;607;p17"/>
          <p:cNvCxnSpPr/>
          <p:nvPr/>
        </p:nvCxnSpPr>
        <p:spPr>
          <a:xfrm>
            <a:off x="2859088" y="2998788"/>
            <a:ext cx="3889375" cy="0"/>
          </a:xfrm>
          <a:prstGeom prst="straightConnector1">
            <a:avLst/>
          </a:prstGeom>
          <a:noFill/>
          <a:ln cap="flat" cmpd="sng" w="9525">
            <a:solidFill>
              <a:srgbClr val="A5A5A5"/>
            </a:solidFill>
            <a:prstDash val="solid"/>
            <a:miter lim="800000"/>
            <a:headEnd len="med" w="med" type="triangle"/>
            <a:tailEnd len="med" w="med" type="triangle"/>
          </a:ln>
        </p:spPr>
      </p:cxnSp>
      <p:sp>
        <p:nvSpPr>
          <p:cNvPr id="608" name="Google Shape;608;p17"/>
          <p:cNvSpPr txBox="1"/>
          <p:nvPr/>
        </p:nvSpPr>
        <p:spPr>
          <a:xfrm>
            <a:off x="4371975" y="2663825"/>
            <a:ext cx="1943100" cy="3079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Nunito"/>
                <a:ea typeface="Nunito"/>
                <a:cs typeface="Nunito"/>
                <a:sym typeface="Nunito"/>
              </a:rPr>
              <a:t>Lead time</a:t>
            </a:r>
            <a:endParaRPr sz="1400">
              <a:solidFill>
                <a:schemeClr val="dk1"/>
              </a:solidFill>
              <a:latin typeface="Nunito"/>
              <a:ea typeface="Nunito"/>
              <a:cs typeface="Nunito"/>
              <a:sym typeface="Nunito"/>
            </a:endParaRPr>
          </a:p>
        </p:txBody>
      </p:sp>
      <p:cxnSp>
        <p:nvCxnSpPr>
          <p:cNvPr id="609" name="Google Shape;609;p17"/>
          <p:cNvCxnSpPr/>
          <p:nvPr/>
        </p:nvCxnSpPr>
        <p:spPr>
          <a:xfrm>
            <a:off x="4371975" y="3962400"/>
            <a:ext cx="0" cy="395288"/>
          </a:xfrm>
          <a:prstGeom prst="straightConnector1">
            <a:avLst/>
          </a:prstGeom>
          <a:noFill/>
          <a:ln cap="flat" cmpd="sng" w="9525">
            <a:solidFill>
              <a:srgbClr val="0C0C0C"/>
            </a:solidFill>
            <a:prstDash val="solid"/>
            <a:miter lim="800000"/>
            <a:headEnd len="sm" w="sm" type="none"/>
            <a:tailEnd len="sm" w="sm" type="none"/>
          </a:ln>
        </p:spPr>
      </p:cxnSp>
      <p:cxnSp>
        <p:nvCxnSpPr>
          <p:cNvPr id="610" name="Google Shape;610;p17"/>
          <p:cNvCxnSpPr/>
          <p:nvPr/>
        </p:nvCxnSpPr>
        <p:spPr>
          <a:xfrm>
            <a:off x="6748463" y="3944938"/>
            <a:ext cx="0" cy="396875"/>
          </a:xfrm>
          <a:prstGeom prst="straightConnector1">
            <a:avLst/>
          </a:prstGeom>
          <a:noFill/>
          <a:ln cap="flat" cmpd="sng" w="9525">
            <a:solidFill>
              <a:srgbClr val="0C0C0C"/>
            </a:solidFill>
            <a:prstDash val="solid"/>
            <a:miter lim="800000"/>
            <a:headEnd len="sm" w="sm" type="none"/>
            <a:tailEnd len="sm" w="sm" type="none"/>
          </a:ln>
        </p:spPr>
      </p:cxnSp>
      <p:cxnSp>
        <p:nvCxnSpPr>
          <p:cNvPr id="611" name="Google Shape;611;p17"/>
          <p:cNvCxnSpPr/>
          <p:nvPr/>
        </p:nvCxnSpPr>
        <p:spPr>
          <a:xfrm>
            <a:off x="4371975" y="4194175"/>
            <a:ext cx="2376488" cy="0"/>
          </a:xfrm>
          <a:prstGeom prst="straightConnector1">
            <a:avLst/>
          </a:prstGeom>
          <a:noFill/>
          <a:ln cap="flat" cmpd="sng" w="9525">
            <a:solidFill>
              <a:srgbClr val="A5A5A5"/>
            </a:solidFill>
            <a:prstDash val="solid"/>
            <a:miter lim="800000"/>
            <a:headEnd len="med" w="med" type="triangle"/>
            <a:tailEnd len="med" w="med" type="triangle"/>
          </a:ln>
        </p:spPr>
      </p:cxnSp>
      <p:sp>
        <p:nvSpPr>
          <p:cNvPr id="612" name="Google Shape;612;p17"/>
          <p:cNvSpPr txBox="1"/>
          <p:nvPr/>
        </p:nvSpPr>
        <p:spPr>
          <a:xfrm>
            <a:off x="5024438" y="3905250"/>
            <a:ext cx="1081087" cy="3079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Nunito"/>
                <a:ea typeface="Nunito"/>
                <a:cs typeface="Nunito"/>
                <a:sym typeface="Nunito"/>
              </a:rPr>
              <a:t>Lead time</a:t>
            </a:r>
            <a:endParaRPr sz="1400">
              <a:solidFill>
                <a:schemeClr val="dk1"/>
              </a:solidFill>
              <a:latin typeface="Nunito"/>
              <a:ea typeface="Nunito"/>
              <a:cs typeface="Nunito"/>
              <a:sym typeface="Nunito"/>
            </a:endParaRPr>
          </a:p>
        </p:txBody>
      </p:sp>
      <p:cxnSp>
        <p:nvCxnSpPr>
          <p:cNvPr id="613" name="Google Shape;613;p17"/>
          <p:cNvCxnSpPr/>
          <p:nvPr/>
        </p:nvCxnSpPr>
        <p:spPr>
          <a:xfrm>
            <a:off x="5588000" y="5329238"/>
            <a:ext cx="0" cy="396875"/>
          </a:xfrm>
          <a:prstGeom prst="straightConnector1">
            <a:avLst/>
          </a:prstGeom>
          <a:noFill/>
          <a:ln cap="flat" cmpd="sng" w="9525">
            <a:solidFill>
              <a:srgbClr val="0C0C0C"/>
            </a:solidFill>
            <a:prstDash val="solid"/>
            <a:miter lim="800000"/>
            <a:headEnd len="sm" w="sm" type="none"/>
            <a:tailEnd len="sm" w="sm" type="none"/>
          </a:ln>
        </p:spPr>
      </p:cxnSp>
      <p:cxnSp>
        <p:nvCxnSpPr>
          <p:cNvPr id="614" name="Google Shape;614;p17"/>
          <p:cNvCxnSpPr/>
          <p:nvPr/>
        </p:nvCxnSpPr>
        <p:spPr>
          <a:xfrm>
            <a:off x="6748463" y="5329238"/>
            <a:ext cx="0" cy="396875"/>
          </a:xfrm>
          <a:prstGeom prst="straightConnector1">
            <a:avLst/>
          </a:prstGeom>
          <a:noFill/>
          <a:ln cap="flat" cmpd="sng" w="9525">
            <a:solidFill>
              <a:srgbClr val="0C0C0C"/>
            </a:solidFill>
            <a:prstDash val="solid"/>
            <a:miter lim="800000"/>
            <a:headEnd len="sm" w="sm" type="none"/>
            <a:tailEnd len="sm" w="sm" type="none"/>
          </a:ln>
        </p:spPr>
      </p:cxnSp>
      <p:cxnSp>
        <p:nvCxnSpPr>
          <p:cNvPr id="615" name="Google Shape;615;p17"/>
          <p:cNvCxnSpPr/>
          <p:nvPr/>
        </p:nvCxnSpPr>
        <p:spPr>
          <a:xfrm>
            <a:off x="5595938" y="5510213"/>
            <a:ext cx="1095375" cy="0"/>
          </a:xfrm>
          <a:prstGeom prst="straightConnector1">
            <a:avLst/>
          </a:prstGeom>
          <a:noFill/>
          <a:ln cap="flat" cmpd="sng" w="9525">
            <a:solidFill>
              <a:srgbClr val="A5A5A5"/>
            </a:solidFill>
            <a:prstDash val="solid"/>
            <a:miter lim="800000"/>
            <a:headEnd len="med" w="med" type="triangle"/>
            <a:tailEnd len="med" w="med" type="triangle"/>
          </a:ln>
        </p:spPr>
      </p:cxnSp>
      <p:sp>
        <p:nvSpPr>
          <p:cNvPr id="616" name="Google Shape;616;p17"/>
          <p:cNvSpPr txBox="1"/>
          <p:nvPr/>
        </p:nvSpPr>
        <p:spPr>
          <a:xfrm>
            <a:off x="5654675" y="5203825"/>
            <a:ext cx="1079500" cy="3079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Nunito"/>
                <a:ea typeface="Nunito"/>
                <a:cs typeface="Nunito"/>
                <a:sym typeface="Nunito"/>
              </a:rPr>
              <a:t>Lead time</a:t>
            </a:r>
            <a:endParaRPr sz="1400">
              <a:solidFill>
                <a:schemeClr val="dk1"/>
              </a:solidFill>
              <a:latin typeface="Nunito"/>
              <a:ea typeface="Nunito"/>
              <a:cs typeface="Nunito"/>
              <a:sym typeface="Nunito"/>
            </a:endParaRPr>
          </a:p>
        </p:txBody>
      </p:sp>
      <p:sp>
        <p:nvSpPr>
          <p:cNvPr id="617" name="Google Shape;617;p17"/>
          <p:cNvSpPr/>
          <p:nvPr/>
        </p:nvSpPr>
        <p:spPr>
          <a:xfrm>
            <a:off x="7021512" y="2078038"/>
            <a:ext cx="3244705"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Nunito"/>
                <a:ea typeface="Nunito"/>
                <a:cs typeface="Nunito"/>
                <a:sym typeface="Nunito"/>
              </a:rPr>
              <a:t>Engineering to Order </a:t>
            </a:r>
            <a:r>
              <a:rPr lang="en-US" sz="1800">
                <a:solidFill>
                  <a:schemeClr val="dk1"/>
                </a:solidFill>
                <a:latin typeface="Nunito"/>
                <a:ea typeface="Nunito"/>
                <a:cs typeface="Nunito"/>
                <a:sym typeface="Nunito"/>
              </a:rPr>
              <a:t>(ETO)</a:t>
            </a:r>
            <a:endParaRPr sz="1800">
              <a:solidFill>
                <a:schemeClr val="dk1"/>
              </a:solidFill>
              <a:latin typeface="Calibri"/>
              <a:ea typeface="Calibri"/>
              <a:cs typeface="Calibri"/>
              <a:sym typeface="Calibri"/>
            </a:endParaRPr>
          </a:p>
        </p:txBody>
      </p:sp>
      <p:sp>
        <p:nvSpPr>
          <p:cNvPr id="618" name="Google Shape;618;p17"/>
          <p:cNvSpPr/>
          <p:nvPr/>
        </p:nvSpPr>
        <p:spPr>
          <a:xfrm>
            <a:off x="7021513" y="3221038"/>
            <a:ext cx="23990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Nunito"/>
                <a:ea typeface="Nunito"/>
                <a:cs typeface="Nunito"/>
                <a:sym typeface="Nunito"/>
              </a:rPr>
              <a:t>Made to Order </a:t>
            </a:r>
            <a:r>
              <a:rPr lang="en-US" sz="1800">
                <a:solidFill>
                  <a:schemeClr val="dk1"/>
                </a:solidFill>
                <a:latin typeface="Nunito"/>
                <a:ea typeface="Nunito"/>
                <a:cs typeface="Nunito"/>
                <a:sym typeface="Nunito"/>
              </a:rPr>
              <a:t>(MTO)</a:t>
            </a:r>
            <a:endParaRPr sz="1800">
              <a:solidFill>
                <a:schemeClr val="dk1"/>
              </a:solidFill>
              <a:latin typeface="Calibri"/>
              <a:ea typeface="Calibri"/>
              <a:cs typeface="Calibri"/>
              <a:sym typeface="Calibri"/>
            </a:endParaRPr>
          </a:p>
        </p:txBody>
      </p:sp>
      <p:sp>
        <p:nvSpPr>
          <p:cNvPr id="619" name="Google Shape;619;p17"/>
          <p:cNvSpPr/>
          <p:nvPr/>
        </p:nvSpPr>
        <p:spPr>
          <a:xfrm>
            <a:off x="7002463" y="4492625"/>
            <a:ext cx="2843212" cy="368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Nunito"/>
                <a:ea typeface="Nunito"/>
                <a:cs typeface="Nunito"/>
                <a:sym typeface="Nunito"/>
              </a:rPr>
              <a:t>Assembly to Order </a:t>
            </a:r>
            <a:r>
              <a:rPr lang="en-US" sz="1800">
                <a:solidFill>
                  <a:schemeClr val="dk1"/>
                </a:solidFill>
                <a:latin typeface="Nunito"/>
                <a:ea typeface="Nunito"/>
                <a:cs typeface="Nunito"/>
                <a:sym typeface="Nunito"/>
              </a:rPr>
              <a:t>(ATO)</a:t>
            </a:r>
            <a:endParaRPr/>
          </a:p>
        </p:txBody>
      </p:sp>
      <p:sp>
        <p:nvSpPr>
          <p:cNvPr id="620" name="Google Shape;620;p17"/>
          <p:cNvSpPr/>
          <p:nvPr/>
        </p:nvSpPr>
        <p:spPr>
          <a:xfrm>
            <a:off x="7011988" y="5764213"/>
            <a:ext cx="2362200" cy="368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Nunito"/>
                <a:ea typeface="Nunito"/>
                <a:cs typeface="Nunito"/>
                <a:sym typeface="Nunito"/>
              </a:rPr>
              <a:t>Made to Stock </a:t>
            </a:r>
            <a:r>
              <a:rPr lang="en-US" sz="1800">
                <a:solidFill>
                  <a:schemeClr val="dk1"/>
                </a:solidFill>
                <a:latin typeface="Nunito"/>
                <a:ea typeface="Nunito"/>
                <a:cs typeface="Nunito"/>
                <a:sym typeface="Nunito"/>
              </a:rPr>
              <a:t>(MTS)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pic>
        <p:nvPicPr>
          <p:cNvPr descr="Man shows something on laptop" id="626" name="Google Shape;626;p18"/>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627" name="Google Shape;627;p18"/>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sz="3300">
                <a:solidFill>
                  <a:srgbClr val="3F3F3F"/>
                </a:solidFill>
              </a:rPr>
              <a:t>Klasifikasi Sistem Manufaktur  berdasarkan </a:t>
            </a:r>
            <a:br>
              <a:rPr b="1" lang="en-US" sz="3300">
                <a:solidFill>
                  <a:srgbClr val="3F3F3F"/>
                </a:solidFill>
              </a:rPr>
            </a:br>
            <a:r>
              <a:rPr b="1" lang="en-US" sz="3300">
                <a:solidFill>
                  <a:srgbClr val="3F3F3F"/>
                </a:solidFill>
              </a:rPr>
              <a:t>Tipe Produksi :</a:t>
            </a:r>
            <a:endParaRPr b="1" sz="3300">
              <a:solidFill>
                <a:srgbClr val="3F3F3F"/>
              </a:solidFill>
            </a:endParaRPr>
          </a:p>
        </p:txBody>
      </p:sp>
      <p:sp>
        <p:nvSpPr>
          <p:cNvPr id="628" name="Google Shape;62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629" name="Google Shape;62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lang="en-US" sz="1200">
                <a:solidFill>
                  <a:srgbClr val="FFFFFF"/>
                </a:solidFill>
                <a:latin typeface="Calibri"/>
                <a:ea typeface="Calibri"/>
                <a:cs typeface="Calibri"/>
                <a:sym typeface="Calibri"/>
              </a:rPr>
              <a:t>‹#›</a:t>
            </a:fld>
            <a:endParaRPr sz="1200">
              <a:solidFill>
                <a:srgbClr val="FFFFFF"/>
              </a:solidFill>
              <a:latin typeface="Calibri"/>
              <a:ea typeface="Calibri"/>
              <a:cs typeface="Calibri"/>
              <a:sym typeface="Calibri"/>
            </a:endParaRPr>
          </a:p>
        </p:txBody>
      </p:sp>
      <p:pic>
        <p:nvPicPr>
          <p:cNvPr id="630" name="Google Shape;630;p18"/>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631" name="Google Shape;631;p18"/>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pic>
        <p:nvPicPr>
          <p:cNvPr id="632" name="Google Shape;632;p18"/>
          <p:cNvPicPr preferRelativeResize="0"/>
          <p:nvPr/>
        </p:nvPicPr>
        <p:blipFill rotWithShape="1">
          <a:blip r:embed="rId6">
            <a:alphaModFix/>
          </a:blip>
          <a:srcRect b="14138" l="0" r="761" t="0"/>
          <a:stretch/>
        </p:blipFill>
        <p:spPr>
          <a:xfrm>
            <a:off x="1483044" y="1646237"/>
            <a:ext cx="8132012" cy="3812454"/>
          </a:xfrm>
          <a:prstGeom prst="rect">
            <a:avLst/>
          </a:prstGeom>
          <a:noFill/>
          <a:ln>
            <a:noFill/>
          </a:ln>
        </p:spPr>
      </p:pic>
      <p:pic>
        <p:nvPicPr>
          <p:cNvPr id="633" name="Google Shape;633;p18"/>
          <p:cNvPicPr preferRelativeResize="0"/>
          <p:nvPr/>
        </p:nvPicPr>
        <p:blipFill rotWithShape="1">
          <a:blip r:embed="rId6">
            <a:alphaModFix/>
          </a:blip>
          <a:srcRect b="858" l="29749" r="59424" t="85861"/>
          <a:stretch/>
        </p:blipFill>
        <p:spPr>
          <a:xfrm flipH="1">
            <a:off x="3920836" y="5458691"/>
            <a:ext cx="887138" cy="589684"/>
          </a:xfrm>
          <a:prstGeom prst="rect">
            <a:avLst/>
          </a:prstGeom>
          <a:noFill/>
          <a:ln>
            <a:noFill/>
          </a:ln>
        </p:spPr>
      </p:pic>
      <p:pic>
        <p:nvPicPr>
          <p:cNvPr id="634" name="Google Shape;634;p18"/>
          <p:cNvPicPr preferRelativeResize="0"/>
          <p:nvPr/>
        </p:nvPicPr>
        <p:blipFill rotWithShape="1">
          <a:blip r:embed="rId6">
            <a:alphaModFix/>
          </a:blip>
          <a:srcRect b="1889" l="40145" r="32088" t="85861"/>
          <a:stretch/>
        </p:blipFill>
        <p:spPr>
          <a:xfrm>
            <a:off x="4936195" y="5475431"/>
            <a:ext cx="2275320" cy="54389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640" name="Google Shape;640;p19"/>
          <p:cNvCxnSpPr/>
          <p:nvPr/>
        </p:nvCxnSpPr>
        <p:spPr>
          <a:xfrm flipH="1" rot="10800000">
            <a:off x="2948305" y="5929312"/>
            <a:ext cx="7416800" cy="1588"/>
          </a:xfrm>
          <a:prstGeom prst="straightConnector1">
            <a:avLst/>
          </a:prstGeom>
          <a:noFill/>
          <a:ln cap="flat" cmpd="sng" w="28575">
            <a:solidFill>
              <a:srgbClr val="0C0C0C"/>
            </a:solidFill>
            <a:prstDash val="solid"/>
            <a:miter lim="800000"/>
            <a:headEnd len="sm" w="sm" type="none"/>
            <a:tailEnd len="med" w="med" type="triangle"/>
          </a:ln>
        </p:spPr>
      </p:cxnSp>
      <p:cxnSp>
        <p:nvCxnSpPr>
          <p:cNvPr id="641" name="Google Shape;641;p19"/>
          <p:cNvCxnSpPr/>
          <p:nvPr/>
        </p:nvCxnSpPr>
        <p:spPr>
          <a:xfrm rot="10800000">
            <a:off x="2948305" y="1609725"/>
            <a:ext cx="0" cy="4321175"/>
          </a:xfrm>
          <a:prstGeom prst="straightConnector1">
            <a:avLst/>
          </a:prstGeom>
          <a:noFill/>
          <a:ln cap="flat" cmpd="sng" w="28575">
            <a:solidFill>
              <a:srgbClr val="0C0C0C"/>
            </a:solidFill>
            <a:prstDash val="solid"/>
            <a:miter lim="800000"/>
            <a:headEnd len="sm" w="sm" type="none"/>
            <a:tailEnd len="med" w="med" type="triangle"/>
          </a:ln>
        </p:spPr>
      </p:cxnSp>
      <p:cxnSp>
        <p:nvCxnSpPr>
          <p:cNvPr id="642" name="Google Shape;642;p19"/>
          <p:cNvCxnSpPr/>
          <p:nvPr/>
        </p:nvCxnSpPr>
        <p:spPr>
          <a:xfrm>
            <a:off x="2948305" y="2025650"/>
            <a:ext cx="6985000" cy="3903662"/>
          </a:xfrm>
          <a:prstGeom prst="straightConnector1">
            <a:avLst/>
          </a:prstGeom>
          <a:noFill/>
          <a:ln cap="flat" cmpd="sng" w="9525">
            <a:solidFill>
              <a:schemeClr val="accent1"/>
            </a:solidFill>
            <a:prstDash val="solid"/>
            <a:miter lim="800000"/>
            <a:headEnd len="sm" w="sm" type="none"/>
            <a:tailEnd len="sm" w="sm" type="none"/>
          </a:ln>
        </p:spPr>
      </p:cxnSp>
      <p:sp>
        <p:nvSpPr>
          <p:cNvPr id="643" name="Google Shape;643;p19"/>
          <p:cNvSpPr/>
          <p:nvPr/>
        </p:nvSpPr>
        <p:spPr>
          <a:xfrm>
            <a:off x="7652068" y="5110162"/>
            <a:ext cx="811212"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ETO</a:t>
            </a:r>
            <a:endParaRPr/>
          </a:p>
        </p:txBody>
      </p:sp>
      <p:cxnSp>
        <p:nvCxnSpPr>
          <p:cNvPr id="644" name="Google Shape;644;p19"/>
          <p:cNvCxnSpPr/>
          <p:nvPr/>
        </p:nvCxnSpPr>
        <p:spPr>
          <a:xfrm>
            <a:off x="4388168" y="2789237"/>
            <a:ext cx="0" cy="3132138"/>
          </a:xfrm>
          <a:prstGeom prst="straightConnector1">
            <a:avLst/>
          </a:prstGeom>
          <a:noFill/>
          <a:ln cap="flat" cmpd="sng" w="9525">
            <a:solidFill>
              <a:schemeClr val="accent1"/>
            </a:solidFill>
            <a:prstDash val="dash"/>
            <a:miter lim="800000"/>
            <a:headEnd len="sm" w="sm" type="none"/>
            <a:tailEnd len="sm" w="sm" type="none"/>
          </a:ln>
        </p:spPr>
      </p:cxnSp>
      <p:cxnSp>
        <p:nvCxnSpPr>
          <p:cNvPr id="645" name="Google Shape;645;p19"/>
          <p:cNvCxnSpPr/>
          <p:nvPr/>
        </p:nvCxnSpPr>
        <p:spPr>
          <a:xfrm>
            <a:off x="5828030" y="3648075"/>
            <a:ext cx="0" cy="2266950"/>
          </a:xfrm>
          <a:prstGeom prst="straightConnector1">
            <a:avLst/>
          </a:prstGeom>
          <a:noFill/>
          <a:ln cap="flat" cmpd="sng" w="9525">
            <a:solidFill>
              <a:schemeClr val="accent1"/>
            </a:solidFill>
            <a:prstDash val="dash"/>
            <a:miter lim="800000"/>
            <a:headEnd len="sm" w="sm" type="none"/>
            <a:tailEnd len="sm" w="sm" type="none"/>
          </a:ln>
        </p:spPr>
      </p:cxnSp>
      <p:cxnSp>
        <p:nvCxnSpPr>
          <p:cNvPr id="646" name="Google Shape;646;p19"/>
          <p:cNvCxnSpPr/>
          <p:nvPr/>
        </p:nvCxnSpPr>
        <p:spPr>
          <a:xfrm>
            <a:off x="7494905" y="4452937"/>
            <a:ext cx="0" cy="1439863"/>
          </a:xfrm>
          <a:prstGeom prst="straightConnector1">
            <a:avLst/>
          </a:prstGeom>
          <a:noFill/>
          <a:ln cap="flat" cmpd="sng" w="9525">
            <a:solidFill>
              <a:schemeClr val="accent1"/>
            </a:solidFill>
            <a:prstDash val="dash"/>
            <a:miter lim="800000"/>
            <a:headEnd len="sm" w="sm" type="none"/>
            <a:tailEnd len="sm" w="sm" type="none"/>
          </a:ln>
        </p:spPr>
      </p:cxnSp>
      <p:sp>
        <p:nvSpPr>
          <p:cNvPr id="647" name="Google Shape;647;p19"/>
          <p:cNvSpPr/>
          <p:nvPr/>
        </p:nvSpPr>
        <p:spPr>
          <a:xfrm>
            <a:off x="6231255" y="4514850"/>
            <a:ext cx="860425"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MTO</a:t>
            </a:r>
            <a:endParaRPr/>
          </a:p>
        </p:txBody>
      </p:sp>
      <p:sp>
        <p:nvSpPr>
          <p:cNvPr id="648" name="Google Shape;648;p19"/>
          <p:cNvSpPr/>
          <p:nvPr/>
        </p:nvSpPr>
        <p:spPr>
          <a:xfrm>
            <a:off x="4672330" y="3562350"/>
            <a:ext cx="787400"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ATO</a:t>
            </a:r>
            <a:endParaRPr/>
          </a:p>
        </p:txBody>
      </p:sp>
      <p:sp>
        <p:nvSpPr>
          <p:cNvPr id="649" name="Google Shape;649;p19"/>
          <p:cNvSpPr/>
          <p:nvPr/>
        </p:nvSpPr>
        <p:spPr>
          <a:xfrm>
            <a:off x="3092768" y="2635250"/>
            <a:ext cx="833437"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MTS</a:t>
            </a:r>
            <a:endParaRPr/>
          </a:p>
        </p:txBody>
      </p:sp>
      <p:sp>
        <p:nvSpPr>
          <p:cNvPr id="650" name="Google Shape;650;p19"/>
          <p:cNvSpPr/>
          <p:nvPr/>
        </p:nvSpPr>
        <p:spPr>
          <a:xfrm>
            <a:off x="2087880" y="6007100"/>
            <a:ext cx="900113" cy="3397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Rendah</a:t>
            </a:r>
            <a:endParaRPr/>
          </a:p>
        </p:txBody>
      </p:sp>
      <p:sp>
        <p:nvSpPr>
          <p:cNvPr id="651" name="Google Shape;651;p19"/>
          <p:cNvSpPr/>
          <p:nvPr/>
        </p:nvSpPr>
        <p:spPr>
          <a:xfrm>
            <a:off x="1821180" y="1441450"/>
            <a:ext cx="733425" cy="3381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Tinggi</a:t>
            </a:r>
            <a:endParaRPr/>
          </a:p>
        </p:txBody>
      </p:sp>
      <p:sp>
        <p:nvSpPr>
          <p:cNvPr id="652" name="Google Shape;652;p19"/>
          <p:cNvSpPr/>
          <p:nvPr/>
        </p:nvSpPr>
        <p:spPr>
          <a:xfrm>
            <a:off x="9933305" y="5929312"/>
            <a:ext cx="733425" cy="3397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Tinggi</a:t>
            </a:r>
            <a:endParaRPr/>
          </a:p>
        </p:txBody>
      </p:sp>
      <p:sp>
        <p:nvSpPr>
          <p:cNvPr id="653" name="Google Shape;653;p19"/>
          <p:cNvSpPr/>
          <p:nvPr/>
        </p:nvSpPr>
        <p:spPr>
          <a:xfrm>
            <a:off x="5115242" y="6111874"/>
            <a:ext cx="250337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Calibri"/>
                <a:ea typeface="Calibri"/>
                <a:cs typeface="Calibri"/>
                <a:sym typeface="Calibri"/>
              </a:rPr>
              <a:t>Customization &amp; Lead Time</a:t>
            </a:r>
            <a:endParaRPr/>
          </a:p>
        </p:txBody>
      </p:sp>
      <p:sp>
        <p:nvSpPr>
          <p:cNvPr id="654" name="Google Shape;654;p19"/>
          <p:cNvSpPr/>
          <p:nvPr/>
        </p:nvSpPr>
        <p:spPr>
          <a:xfrm>
            <a:off x="1754505" y="3146425"/>
            <a:ext cx="1233488" cy="8318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Calibri"/>
                <a:ea typeface="Calibri"/>
                <a:cs typeface="Calibri"/>
                <a:sym typeface="Calibri"/>
              </a:rPr>
              <a:t>Production Volume &amp; Inventory</a:t>
            </a:r>
            <a:endParaRPr/>
          </a:p>
        </p:txBody>
      </p:sp>
      <p:sp>
        <p:nvSpPr>
          <p:cNvPr id="655" name="Google Shape;655;p19"/>
          <p:cNvSpPr txBox="1"/>
          <p:nvPr/>
        </p:nvSpPr>
        <p:spPr>
          <a:xfrm>
            <a:off x="0" y="0"/>
            <a:ext cx="12192000" cy="1296988"/>
          </a:xfrm>
          <a:prstGeom prst="rect">
            <a:avLst/>
          </a:prstGeom>
          <a:solidFill>
            <a:srgbClr val="D8E2F3"/>
          </a:solid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b="1" lang="en-US" sz="3300">
                <a:solidFill>
                  <a:srgbClr val="3F3F3F"/>
                </a:solidFill>
                <a:latin typeface="Calibri"/>
                <a:ea typeface="Calibri"/>
                <a:cs typeface="Calibri"/>
                <a:sym typeface="Calibri"/>
              </a:rPr>
              <a:t>Klasifikasi Sistem Manufaktur  berdasarkan </a:t>
            </a:r>
            <a:br>
              <a:rPr b="1" lang="en-US" sz="3300">
                <a:solidFill>
                  <a:srgbClr val="3F3F3F"/>
                </a:solidFill>
                <a:latin typeface="Calibri"/>
                <a:ea typeface="Calibri"/>
                <a:cs typeface="Calibri"/>
                <a:sym typeface="Calibri"/>
              </a:rPr>
            </a:br>
            <a:r>
              <a:rPr b="1" lang="en-US" sz="3300">
                <a:solidFill>
                  <a:srgbClr val="3F3F3F"/>
                </a:solidFill>
                <a:latin typeface="Calibri"/>
                <a:ea typeface="Calibri"/>
                <a:cs typeface="Calibri"/>
                <a:sym typeface="Calibri"/>
              </a:rPr>
              <a:t>Tipe Produksi :</a:t>
            </a:r>
            <a:endParaRPr b="1" sz="3300">
              <a:solidFill>
                <a:srgbClr val="3F3F3F"/>
              </a:solidFill>
              <a:latin typeface="Calibri"/>
              <a:ea typeface="Calibri"/>
              <a:cs typeface="Calibri"/>
              <a:sym typeface="Calibri"/>
            </a:endParaRPr>
          </a:p>
        </p:txBody>
      </p:sp>
      <p:pic>
        <p:nvPicPr>
          <p:cNvPr id="656" name="Google Shape;656;p19"/>
          <p:cNvPicPr preferRelativeResize="0"/>
          <p:nvPr/>
        </p:nvPicPr>
        <p:blipFill rotWithShape="1">
          <a:blip r:embed="rId3">
            <a:alphaModFix/>
          </a:blip>
          <a:srcRect b="0" l="0" r="0" t="0"/>
          <a:stretch/>
        </p:blipFill>
        <p:spPr>
          <a:xfrm>
            <a:off x="8232775" y="250825"/>
            <a:ext cx="2574925" cy="776288"/>
          </a:xfrm>
          <a:prstGeom prst="rect">
            <a:avLst/>
          </a:prstGeom>
          <a:solidFill>
            <a:srgbClr val="D8E2F3"/>
          </a:solidFill>
          <a:ln>
            <a:noFill/>
          </a:ln>
        </p:spPr>
      </p:pic>
      <p:pic>
        <p:nvPicPr>
          <p:cNvPr id="657" name="Google Shape;657;p19"/>
          <p:cNvPicPr preferRelativeResize="0"/>
          <p:nvPr/>
        </p:nvPicPr>
        <p:blipFill rotWithShape="1">
          <a:blip r:embed="rId4">
            <a:alphaModFix/>
          </a:blip>
          <a:srcRect b="0" l="0" r="0" t="0"/>
          <a:stretch/>
        </p:blipFill>
        <p:spPr>
          <a:xfrm>
            <a:off x="11022013" y="106363"/>
            <a:ext cx="1062037" cy="1184275"/>
          </a:xfrm>
          <a:prstGeom prst="rect">
            <a:avLst/>
          </a:prstGeom>
          <a:solidFill>
            <a:srgbClr val="D8E2F3"/>
          </a:solid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pic>
        <p:nvPicPr>
          <p:cNvPr descr="Man shows something on laptop" id="663" name="Google Shape;663;p20"/>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664" name="Google Shape;664;p20"/>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sz="3300">
                <a:solidFill>
                  <a:srgbClr val="3F3F3F"/>
                </a:solidFill>
              </a:rPr>
              <a:t>Karakteristik Berbagai Sistem Manufaktur </a:t>
            </a:r>
            <a:endParaRPr b="1" sz="3300">
              <a:solidFill>
                <a:srgbClr val="3F3F3F"/>
              </a:solidFill>
            </a:endParaRPr>
          </a:p>
        </p:txBody>
      </p:sp>
      <p:sp>
        <p:nvSpPr>
          <p:cNvPr id="665" name="Google Shape;66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666" name="Google Shape;66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lang="en-US" sz="1200">
                <a:solidFill>
                  <a:srgbClr val="FFFFFF"/>
                </a:solidFill>
                <a:latin typeface="Calibri"/>
                <a:ea typeface="Calibri"/>
                <a:cs typeface="Calibri"/>
                <a:sym typeface="Calibri"/>
              </a:rPr>
              <a:t>‹#›</a:t>
            </a:fld>
            <a:endParaRPr sz="1200">
              <a:solidFill>
                <a:srgbClr val="FFFFFF"/>
              </a:solidFill>
              <a:latin typeface="Calibri"/>
              <a:ea typeface="Calibri"/>
              <a:cs typeface="Calibri"/>
              <a:sym typeface="Calibri"/>
            </a:endParaRPr>
          </a:p>
        </p:txBody>
      </p:sp>
      <p:pic>
        <p:nvPicPr>
          <p:cNvPr id="667" name="Google Shape;667;p20"/>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668" name="Google Shape;668;p20"/>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grpSp>
        <p:nvGrpSpPr>
          <p:cNvPr id="669" name="Google Shape;669;p20"/>
          <p:cNvGrpSpPr/>
          <p:nvPr/>
        </p:nvGrpSpPr>
        <p:grpSpPr>
          <a:xfrm>
            <a:off x="457200" y="1547813"/>
            <a:ext cx="11279817" cy="4540288"/>
            <a:chOff x="288" y="768"/>
            <a:chExt cx="5087" cy="2792"/>
          </a:xfrm>
        </p:grpSpPr>
        <p:sp>
          <p:nvSpPr>
            <p:cNvPr id="670" name="Google Shape;670;p20"/>
            <p:cNvSpPr/>
            <p:nvPr/>
          </p:nvSpPr>
          <p:spPr>
            <a:xfrm>
              <a:off x="288" y="768"/>
              <a:ext cx="1150" cy="161"/>
            </a:xfrm>
            <a:prstGeom prst="rect">
              <a:avLst/>
            </a:prstGeom>
            <a:noFill/>
            <a:ln>
              <a:noFill/>
            </a:ln>
          </p:spPr>
          <p:txBody>
            <a:bodyPr anchorCtr="0" anchor="t" bIns="46800" lIns="90000" spcFirstLastPara="1" rIns="90000" wrap="square" tIns="46800">
              <a:noAutofit/>
            </a:bodyPr>
            <a:lstStyle/>
            <a:p>
              <a:pPr indent="-339725" lvl="0" marL="342900" marR="0" rtl="0" algn="ctr">
                <a:spcBef>
                  <a:spcPts val="0"/>
                </a:spcBef>
                <a:spcAft>
                  <a:spcPts val="0"/>
                </a:spcAft>
                <a:buNone/>
              </a:pPr>
              <a:r>
                <a:rPr b="1" lang="en-US" sz="1100">
                  <a:solidFill>
                    <a:srgbClr val="000000"/>
                  </a:solidFill>
                  <a:latin typeface="Times New Roman"/>
                  <a:ea typeface="Times New Roman"/>
                  <a:cs typeface="Times New Roman"/>
                  <a:sym typeface="Times New Roman"/>
                </a:rPr>
                <a:t>Karakteristik</a:t>
              </a:r>
              <a:endParaRPr/>
            </a:p>
          </p:txBody>
        </p:sp>
        <p:sp>
          <p:nvSpPr>
            <p:cNvPr id="671" name="Google Shape;671;p20"/>
            <p:cNvSpPr/>
            <p:nvPr/>
          </p:nvSpPr>
          <p:spPr>
            <a:xfrm>
              <a:off x="1440" y="768"/>
              <a:ext cx="1006" cy="161"/>
            </a:xfrm>
            <a:prstGeom prst="rect">
              <a:avLst/>
            </a:prstGeom>
            <a:noFill/>
            <a:ln>
              <a:noFill/>
            </a:ln>
          </p:spPr>
          <p:txBody>
            <a:bodyPr anchorCtr="0" anchor="t" bIns="46800" lIns="90000" spcFirstLastPara="1" rIns="90000" wrap="square" tIns="46800">
              <a:noAutofit/>
            </a:bodyPr>
            <a:lstStyle/>
            <a:p>
              <a:pPr indent="-339725" lvl="0" marL="342900" marR="0" rtl="0" algn="ctr">
                <a:spcBef>
                  <a:spcPts val="0"/>
                </a:spcBef>
                <a:spcAft>
                  <a:spcPts val="0"/>
                </a:spcAft>
                <a:buNone/>
              </a:pPr>
              <a:r>
                <a:rPr b="1" lang="en-US" sz="1100">
                  <a:solidFill>
                    <a:srgbClr val="000000"/>
                  </a:solidFill>
                  <a:latin typeface="Times New Roman"/>
                  <a:ea typeface="Times New Roman"/>
                  <a:cs typeface="Times New Roman"/>
                  <a:sym typeface="Times New Roman"/>
                </a:rPr>
                <a:t>MTS</a:t>
              </a:r>
              <a:endParaRPr/>
            </a:p>
          </p:txBody>
        </p:sp>
        <p:sp>
          <p:nvSpPr>
            <p:cNvPr id="672" name="Google Shape;672;p20"/>
            <p:cNvSpPr/>
            <p:nvPr/>
          </p:nvSpPr>
          <p:spPr>
            <a:xfrm>
              <a:off x="2447" y="768"/>
              <a:ext cx="1006" cy="161"/>
            </a:xfrm>
            <a:prstGeom prst="rect">
              <a:avLst/>
            </a:prstGeom>
            <a:noFill/>
            <a:ln>
              <a:noFill/>
            </a:ln>
          </p:spPr>
          <p:txBody>
            <a:bodyPr anchorCtr="0" anchor="t" bIns="46800" lIns="90000" spcFirstLastPara="1" rIns="90000" wrap="square" tIns="46800">
              <a:noAutofit/>
            </a:bodyPr>
            <a:lstStyle/>
            <a:p>
              <a:pPr indent="-339725" lvl="0" marL="342900" marR="0" rtl="0" algn="ctr">
                <a:spcBef>
                  <a:spcPts val="0"/>
                </a:spcBef>
                <a:spcAft>
                  <a:spcPts val="0"/>
                </a:spcAft>
                <a:buNone/>
              </a:pPr>
              <a:r>
                <a:rPr b="1" lang="en-US" sz="1100">
                  <a:solidFill>
                    <a:srgbClr val="000000"/>
                  </a:solidFill>
                  <a:latin typeface="Times New Roman"/>
                  <a:ea typeface="Times New Roman"/>
                  <a:cs typeface="Times New Roman"/>
                  <a:sym typeface="Times New Roman"/>
                </a:rPr>
                <a:t>ATO</a:t>
              </a:r>
              <a:endParaRPr/>
            </a:p>
          </p:txBody>
        </p:sp>
        <p:sp>
          <p:nvSpPr>
            <p:cNvPr id="673" name="Google Shape;673;p20"/>
            <p:cNvSpPr/>
            <p:nvPr/>
          </p:nvSpPr>
          <p:spPr>
            <a:xfrm>
              <a:off x="3455" y="768"/>
              <a:ext cx="947" cy="161"/>
            </a:xfrm>
            <a:prstGeom prst="rect">
              <a:avLst/>
            </a:prstGeom>
            <a:noFill/>
            <a:ln>
              <a:noFill/>
            </a:ln>
          </p:spPr>
          <p:txBody>
            <a:bodyPr anchorCtr="0" anchor="t" bIns="46800" lIns="90000" spcFirstLastPara="1" rIns="90000" wrap="square" tIns="46800">
              <a:noAutofit/>
            </a:bodyPr>
            <a:lstStyle/>
            <a:p>
              <a:pPr indent="-339725" lvl="0" marL="342900" marR="0" rtl="0" algn="ctr">
                <a:spcBef>
                  <a:spcPts val="0"/>
                </a:spcBef>
                <a:spcAft>
                  <a:spcPts val="0"/>
                </a:spcAft>
                <a:buNone/>
              </a:pPr>
              <a:r>
                <a:rPr b="1" lang="en-US" sz="1100">
                  <a:solidFill>
                    <a:srgbClr val="000000"/>
                  </a:solidFill>
                  <a:latin typeface="Times New Roman"/>
                  <a:ea typeface="Times New Roman"/>
                  <a:cs typeface="Times New Roman"/>
                  <a:sym typeface="Times New Roman"/>
                </a:rPr>
                <a:t>MTO</a:t>
              </a:r>
              <a:endParaRPr/>
            </a:p>
          </p:txBody>
        </p:sp>
        <p:sp>
          <p:nvSpPr>
            <p:cNvPr id="674" name="Google Shape;674;p20"/>
            <p:cNvSpPr/>
            <p:nvPr/>
          </p:nvSpPr>
          <p:spPr>
            <a:xfrm>
              <a:off x="4404" y="768"/>
              <a:ext cx="969" cy="161"/>
            </a:xfrm>
            <a:prstGeom prst="rect">
              <a:avLst/>
            </a:prstGeom>
            <a:noFill/>
            <a:ln>
              <a:noFill/>
            </a:ln>
          </p:spPr>
          <p:txBody>
            <a:bodyPr anchorCtr="0" anchor="t" bIns="46800" lIns="90000" spcFirstLastPara="1" rIns="90000" wrap="square" tIns="46800">
              <a:noAutofit/>
            </a:bodyPr>
            <a:lstStyle/>
            <a:p>
              <a:pPr indent="-339725" lvl="0" marL="342900" marR="0" rtl="0" algn="ctr">
                <a:spcBef>
                  <a:spcPts val="0"/>
                </a:spcBef>
                <a:spcAft>
                  <a:spcPts val="0"/>
                </a:spcAft>
                <a:buNone/>
              </a:pPr>
              <a:r>
                <a:rPr b="1" lang="en-US" sz="1100">
                  <a:solidFill>
                    <a:srgbClr val="000000"/>
                  </a:solidFill>
                  <a:latin typeface="Times New Roman"/>
                  <a:ea typeface="Times New Roman"/>
                  <a:cs typeface="Times New Roman"/>
                  <a:sym typeface="Times New Roman"/>
                </a:rPr>
                <a:t>ETO</a:t>
              </a:r>
              <a:endParaRPr/>
            </a:p>
          </p:txBody>
        </p:sp>
        <p:sp>
          <p:nvSpPr>
            <p:cNvPr id="675" name="Google Shape;675;p20"/>
            <p:cNvSpPr/>
            <p:nvPr/>
          </p:nvSpPr>
          <p:spPr>
            <a:xfrm>
              <a:off x="288" y="931"/>
              <a:ext cx="1150"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Produk</a:t>
              </a:r>
              <a:endParaRPr/>
            </a:p>
          </p:txBody>
        </p:sp>
        <p:sp>
          <p:nvSpPr>
            <p:cNvPr id="676" name="Google Shape;676;p20"/>
            <p:cNvSpPr/>
            <p:nvPr/>
          </p:nvSpPr>
          <p:spPr>
            <a:xfrm>
              <a:off x="1440" y="931"/>
              <a:ext cx="1006"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Standard</a:t>
              </a:r>
              <a:endParaRPr/>
            </a:p>
          </p:txBody>
        </p:sp>
        <p:sp>
          <p:nvSpPr>
            <p:cNvPr id="677" name="Google Shape;677;p20"/>
            <p:cNvSpPr/>
            <p:nvPr/>
          </p:nvSpPr>
          <p:spPr>
            <a:xfrm>
              <a:off x="2447" y="931"/>
              <a:ext cx="1006"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Keluarga produk tertentu</a:t>
              </a:r>
              <a:endParaRPr/>
            </a:p>
          </p:txBody>
        </p:sp>
        <p:sp>
          <p:nvSpPr>
            <p:cNvPr id="678" name="Google Shape;678;p20"/>
            <p:cNvSpPr/>
            <p:nvPr/>
          </p:nvSpPr>
          <p:spPr>
            <a:xfrm>
              <a:off x="3455" y="931"/>
              <a:ext cx="947"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Tidak punya keluarga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produk, </a:t>
              </a:r>
              <a:r>
                <a:rPr i="1" lang="en-US" sz="1100">
                  <a:solidFill>
                    <a:srgbClr val="000000"/>
                  </a:solidFill>
                  <a:latin typeface="Times New Roman"/>
                  <a:ea typeface="Times New Roman"/>
                  <a:cs typeface="Times New Roman"/>
                  <a:sym typeface="Times New Roman"/>
                </a:rPr>
                <a:t>customized</a:t>
              </a:r>
              <a:endParaRPr/>
            </a:p>
          </p:txBody>
        </p:sp>
        <p:sp>
          <p:nvSpPr>
            <p:cNvPr id="679" name="Google Shape;679;p20"/>
            <p:cNvSpPr/>
            <p:nvPr/>
          </p:nvSpPr>
          <p:spPr>
            <a:xfrm>
              <a:off x="4404" y="931"/>
              <a:ext cx="969"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i="1" lang="en-US" sz="1100">
                  <a:solidFill>
                    <a:srgbClr val="000000"/>
                  </a:solidFill>
                  <a:latin typeface="Times New Roman"/>
                  <a:ea typeface="Times New Roman"/>
                  <a:cs typeface="Times New Roman"/>
                  <a:sym typeface="Times New Roman"/>
                </a:rPr>
                <a:t>Customized </a:t>
              </a:r>
              <a:r>
                <a:rPr lang="en-US" sz="1100">
                  <a:solidFill>
                    <a:srgbClr val="000000"/>
                  </a:solidFill>
                  <a:latin typeface="Times New Roman"/>
                  <a:ea typeface="Times New Roman"/>
                  <a:cs typeface="Times New Roman"/>
                  <a:sym typeface="Times New Roman"/>
                </a:rPr>
                <a:t>total</a:t>
              </a:r>
              <a:endParaRPr/>
            </a:p>
          </p:txBody>
        </p:sp>
        <p:sp>
          <p:nvSpPr>
            <p:cNvPr id="680" name="Google Shape;680;p20"/>
            <p:cNvSpPr/>
            <p:nvPr/>
          </p:nvSpPr>
          <p:spPr>
            <a:xfrm>
              <a:off x="288" y="1200"/>
              <a:ext cx="1150" cy="324"/>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Kebutuhan produk</a:t>
              </a:r>
              <a:endParaRPr/>
            </a:p>
          </p:txBody>
        </p:sp>
        <p:sp>
          <p:nvSpPr>
            <p:cNvPr id="681" name="Google Shape;681;p20"/>
            <p:cNvSpPr/>
            <p:nvPr/>
          </p:nvSpPr>
          <p:spPr>
            <a:xfrm>
              <a:off x="1440" y="1200"/>
              <a:ext cx="1006" cy="324"/>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Dapat diramalkan</a:t>
              </a:r>
              <a:endParaRPr/>
            </a:p>
          </p:txBody>
        </p:sp>
        <p:sp>
          <p:nvSpPr>
            <p:cNvPr id="682" name="Google Shape;682;p20"/>
            <p:cNvSpPr/>
            <p:nvPr/>
          </p:nvSpPr>
          <p:spPr>
            <a:xfrm>
              <a:off x="2447" y="1200"/>
              <a:ext cx="1006" cy="3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3" name="Google Shape;683;p20"/>
            <p:cNvSpPr/>
            <p:nvPr/>
          </p:nvSpPr>
          <p:spPr>
            <a:xfrm>
              <a:off x="3455" y="1200"/>
              <a:ext cx="947" cy="3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4" name="Google Shape;684;p20"/>
            <p:cNvSpPr/>
            <p:nvPr/>
          </p:nvSpPr>
          <p:spPr>
            <a:xfrm>
              <a:off x="4404" y="1200"/>
              <a:ext cx="969" cy="324"/>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Tidak dapat diramalkan</a:t>
              </a:r>
              <a:endParaRPr/>
            </a:p>
          </p:txBody>
        </p:sp>
        <p:sp>
          <p:nvSpPr>
            <p:cNvPr id="685" name="Google Shape;685;p20"/>
            <p:cNvSpPr/>
            <p:nvPr/>
          </p:nvSpPr>
          <p:spPr>
            <a:xfrm>
              <a:off x="288" y="1525"/>
              <a:ext cx="1150" cy="334"/>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Kapasitas</a:t>
              </a:r>
              <a:endParaRPr/>
            </a:p>
          </p:txBody>
        </p:sp>
        <p:sp>
          <p:nvSpPr>
            <p:cNvPr id="686" name="Google Shape;686;p20"/>
            <p:cNvSpPr/>
            <p:nvPr/>
          </p:nvSpPr>
          <p:spPr>
            <a:xfrm>
              <a:off x="1440" y="1525"/>
              <a:ext cx="1006" cy="334"/>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Dapat direncanakan</a:t>
              </a:r>
              <a:endParaRPr/>
            </a:p>
          </p:txBody>
        </p:sp>
        <p:sp>
          <p:nvSpPr>
            <p:cNvPr id="687" name="Google Shape;687;p20"/>
            <p:cNvSpPr/>
            <p:nvPr/>
          </p:nvSpPr>
          <p:spPr>
            <a:xfrm>
              <a:off x="2447" y="1525"/>
              <a:ext cx="1006" cy="33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8" name="Google Shape;688;p20"/>
            <p:cNvSpPr/>
            <p:nvPr/>
          </p:nvSpPr>
          <p:spPr>
            <a:xfrm>
              <a:off x="3455" y="1525"/>
              <a:ext cx="947" cy="33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9" name="Google Shape;689;p20"/>
            <p:cNvSpPr/>
            <p:nvPr/>
          </p:nvSpPr>
          <p:spPr>
            <a:xfrm>
              <a:off x="4404" y="1525"/>
              <a:ext cx="969" cy="334"/>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Tidak dapat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direncanakan</a:t>
              </a:r>
              <a:endParaRPr/>
            </a:p>
          </p:txBody>
        </p:sp>
        <p:sp>
          <p:nvSpPr>
            <p:cNvPr id="690" name="Google Shape;690;p20"/>
            <p:cNvSpPr/>
            <p:nvPr/>
          </p:nvSpPr>
          <p:spPr>
            <a:xfrm>
              <a:off x="288" y="1862"/>
              <a:ext cx="1150"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Waktu produksi</a:t>
              </a:r>
              <a:endParaRPr/>
            </a:p>
          </p:txBody>
        </p:sp>
        <p:sp>
          <p:nvSpPr>
            <p:cNvPr id="691" name="Google Shape;691;p20"/>
            <p:cNvSpPr/>
            <p:nvPr/>
          </p:nvSpPr>
          <p:spPr>
            <a:xfrm>
              <a:off x="1440" y="1862"/>
              <a:ext cx="1006"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Tidak penting bagi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pelanggan</a:t>
              </a:r>
              <a:endParaRPr/>
            </a:p>
          </p:txBody>
        </p:sp>
        <p:sp>
          <p:nvSpPr>
            <p:cNvPr id="692" name="Google Shape;692;p20"/>
            <p:cNvSpPr/>
            <p:nvPr/>
          </p:nvSpPr>
          <p:spPr>
            <a:xfrm>
              <a:off x="2447" y="1862"/>
              <a:ext cx="1006"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Penting</a:t>
              </a:r>
              <a:endParaRPr/>
            </a:p>
          </p:txBody>
        </p:sp>
        <p:sp>
          <p:nvSpPr>
            <p:cNvPr id="693" name="Google Shape;693;p20"/>
            <p:cNvSpPr/>
            <p:nvPr/>
          </p:nvSpPr>
          <p:spPr>
            <a:xfrm>
              <a:off x="3455" y="1862"/>
              <a:ext cx="947"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Penting</a:t>
              </a:r>
              <a:endParaRPr/>
            </a:p>
          </p:txBody>
        </p:sp>
        <p:sp>
          <p:nvSpPr>
            <p:cNvPr id="694" name="Google Shape;694;p20"/>
            <p:cNvSpPr/>
            <p:nvPr/>
          </p:nvSpPr>
          <p:spPr>
            <a:xfrm>
              <a:off x="4404" y="1862"/>
              <a:ext cx="969"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Sangat penting</a:t>
              </a:r>
              <a:endParaRPr/>
            </a:p>
          </p:txBody>
        </p:sp>
        <p:sp>
          <p:nvSpPr>
            <p:cNvPr id="695" name="Google Shape;695;p20"/>
            <p:cNvSpPr/>
            <p:nvPr/>
          </p:nvSpPr>
          <p:spPr>
            <a:xfrm>
              <a:off x="288" y="2131"/>
              <a:ext cx="1150"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Kunci persaingan</a:t>
              </a:r>
              <a:endParaRPr/>
            </a:p>
          </p:txBody>
        </p:sp>
        <p:sp>
          <p:nvSpPr>
            <p:cNvPr id="696" name="Google Shape;696;p20"/>
            <p:cNvSpPr/>
            <p:nvPr/>
          </p:nvSpPr>
          <p:spPr>
            <a:xfrm>
              <a:off x="1440" y="2131"/>
              <a:ext cx="1006"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Logistik</a:t>
              </a:r>
              <a:endParaRPr/>
            </a:p>
          </p:txBody>
        </p:sp>
        <p:sp>
          <p:nvSpPr>
            <p:cNvPr id="697" name="Google Shape;697;p20"/>
            <p:cNvSpPr/>
            <p:nvPr/>
          </p:nvSpPr>
          <p:spPr>
            <a:xfrm>
              <a:off x="2447" y="2131"/>
              <a:ext cx="1006"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Perakitan akhir</a:t>
              </a:r>
              <a:endParaRPr/>
            </a:p>
          </p:txBody>
        </p:sp>
        <p:sp>
          <p:nvSpPr>
            <p:cNvPr id="698" name="Google Shape;698;p20"/>
            <p:cNvSpPr/>
            <p:nvPr/>
          </p:nvSpPr>
          <p:spPr>
            <a:xfrm>
              <a:off x="3455" y="2131"/>
              <a:ext cx="947"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Fabrikasi, perakitan</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 akhir</a:t>
              </a:r>
              <a:endParaRPr/>
            </a:p>
          </p:txBody>
        </p:sp>
        <p:sp>
          <p:nvSpPr>
            <p:cNvPr id="699" name="Google Shape;699;p20"/>
            <p:cNvSpPr/>
            <p:nvPr/>
          </p:nvSpPr>
          <p:spPr>
            <a:xfrm>
              <a:off x="4404" y="2131"/>
              <a:ext cx="969"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Seluruh proses</a:t>
              </a:r>
              <a:endParaRPr/>
            </a:p>
          </p:txBody>
        </p:sp>
        <p:sp>
          <p:nvSpPr>
            <p:cNvPr id="700" name="Google Shape;700;p20"/>
            <p:cNvSpPr/>
            <p:nvPr/>
          </p:nvSpPr>
          <p:spPr>
            <a:xfrm>
              <a:off x="288" y="2399"/>
              <a:ext cx="1150" cy="162"/>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Kompleksitas Operasi</a:t>
              </a:r>
              <a:endParaRPr/>
            </a:p>
          </p:txBody>
        </p:sp>
        <p:sp>
          <p:nvSpPr>
            <p:cNvPr id="701" name="Google Shape;701;p20"/>
            <p:cNvSpPr/>
            <p:nvPr/>
          </p:nvSpPr>
          <p:spPr>
            <a:xfrm>
              <a:off x="1440" y="2399"/>
              <a:ext cx="1006" cy="162"/>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Distribusi</a:t>
              </a:r>
              <a:endParaRPr/>
            </a:p>
          </p:txBody>
        </p:sp>
        <p:sp>
          <p:nvSpPr>
            <p:cNvPr id="702" name="Google Shape;702;p20"/>
            <p:cNvSpPr/>
            <p:nvPr/>
          </p:nvSpPr>
          <p:spPr>
            <a:xfrm>
              <a:off x="2447" y="2399"/>
              <a:ext cx="1006" cy="162"/>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Perakitan</a:t>
              </a:r>
              <a:endParaRPr/>
            </a:p>
          </p:txBody>
        </p:sp>
        <p:sp>
          <p:nvSpPr>
            <p:cNvPr id="703" name="Google Shape;703;p20"/>
            <p:cNvSpPr/>
            <p:nvPr/>
          </p:nvSpPr>
          <p:spPr>
            <a:xfrm>
              <a:off x="3455" y="2399"/>
              <a:ext cx="947" cy="162"/>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Manufaktur komponen</a:t>
              </a:r>
              <a:endParaRPr/>
            </a:p>
          </p:txBody>
        </p:sp>
        <p:sp>
          <p:nvSpPr>
            <p:cNvPr id="704" name="Google Shape;704;p20"/>
            <p:cNvSpPr/>
            <p:nvPr/>
          </p:nvSpPr>
          <p:spPr>
            <a:xfrm>
              <a:off x="4404" y="2399"/>
              <a:ext cx="969" cy="162"/>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Engineering</a:t>
              </a:r>
              <a:endParaRPr/>
            </a:p>
          </p:txBody>
        </p:sp>
        <p:sp>
          <p:nvSpPr>
            <p:cNvPr id="705" name="Google Shape;705;p20"/>
            <p:cNvSpPr/>
            <p:nvPr/>
          </p:nvSpPr>
          <p:spPr>
            <a:xfrm>
              <a:off x="288" y="2563"/>
              <a:ext cx="1150" cy="324"/>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Ketidakjelasan Operasi</a:t>
              </a:r>
              <a:endParaRPr/>
            </a:p>
          </p:txBody>
        </p:sp>
        <p:sp>
          <p:nvSpPr>
            <p:cNvPr id="706" name="Google Shape;706;p20"/>
            <p:cNvSpPr/>
            <p:nvPr/>
          </p:nvSpPr>
          <p:spPr>
            <a:xfrm>
              <a:off x="1440" y="2563"/>
              <a:ext cx="1006" cy="324"/>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Terendah</a:t>
              </a:r>
              <a:endParaRPr/>
            </a:p>
          </p:txBody>
        </p:sp>
        <p:sp>
          <p:nvSpPr>
            <p:cNvPr id="707" name="Google Shape;707;p20"/>
            <p:cNvSpPr/>
            <p:nvPr/>
          </p:nvSpPr>
          <p:spPr>
            <a:xfrm>
              <a:off x="2447" y="2563"/>
              <a:ext cx="1006" cy="3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8" name="Google Shape;708;p20"/>
            <p:cNvSpPr/>
            <p:nvPr/>
          </p:nvSpPr>
          <p:spPr>
            <a:xfrm>
              <a:off x="3455" y="2563"/>
              <a:ext cx="947" cy="3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9" name="Google Shape;709;p20"/>
            <p:cNvSpPr/>
            <p:nvPr/>
          </p:nvSpPr>
          <p:spPr>
            <a:xfrm>
              <a:off x="4404" y="2563"/>
              <a:ext cx="969" cy="324"/>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Tertinggi</a:t>
              </a:r>
              <a:endParaRPr/>
            </a:p>
          </p:txBody>
        </p:sp>
        <p:sp>
          <p:nvSpPr>
            <p:cNvPr id="710" name="Google Shape;710;p20"/>
            <p:cNvSpPr/>
            <p:nvPr/>
          </p:nvSpPr>
          <p:spPr>
            <a:xfrm>
              <a:off x="288" y="2889"/>
              <a:ext cx="1150"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Fokus manajemen puncak</a:t>
              </a:r>
              <a:endParaRPr/>
            </a:p>
          </p:txBody>
        </p:sp>
        <p:sp>
          <p:nvSpPr>
            <p:cNvPr id="711" name="Google Shape;711;p20"/>
            <p:cNvSpPr/>
            <p:nvPr/>
          </p:nvSpPr>
          <p:spPr>
            <a:xfrm>
              <a:off x="1440" y="2889"/>
              <a:ext cx="1006"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Marketing/distribusi</a:t>
              </a:r>
              <a:endParaRPr/>
            </a:p>
          </p:txBody>
        </p:sp>
        <p:sp>
          <p:nvSpPr>
            <p:cNvPr id="712" name="Google Shape;712;p20"/>
            <p:cNvSpPr/>
            <p:nvPr/>
          </p:nvSpPr>
          <p:spPr>
            <a:xfrm>
              <a:off x="2447" y="2889"/>
              <a:ext cx="1006"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Inovasi</a:t>
              </a:r>
              <a:endParaRPr/>
            </a:p>
          </p:txBody>
        </p:sp>
        <p:sp>
          <p:nvSpPr>
            <p:cNvPr id="713" name="Google Shape;713;p20"/>
            <p:cNvSpPr/>
            <p:nvPr/>
          </p:nvSpPr>
          <p:spPr>
            <a:xfrm>
              <a:off x="3455" y="2889"/>
              <a:ext cx="947"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Kapasitas</a:t>
              </a:r>
              <a:endParaRPr/>
            </a:p>
          </p:txBody>
        </p:sp>
        <p:sp>
          <p:nvSpPr>
            <p:cNvPr id="714" name="Google Shape;714;p20"/>
            <p:cNvSpPr/>
            <p:nvPr/>
          </p:nvSpPr>
          <p:spPr>
            <a:xfrm>
              <a:off x="4404" y="2889"/>
              <a:ext cx="969" cy="267"/>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Kontrak order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pelanggan</a:t>
              </a:r>
              <a:endParaRPr/>
            </a:p>
          </p:txBody>
        </p:sp>
        <p:sp>
          <p:nvSpPr>
            <p:cNvPr id="715" name="Google Shape;715;p20"/>
            <p:cNvSpPr/>
            <p:nvPr/>
          </p:nvSpPr>
          <p:spPr>
            <a:xfrm>
              <a:off x="288" y="3158"/>
              <a:ext cx="1150" cy="400"/>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Fokus manajemen menengah</a:t>
              </a:r>
              <a:endParaRPr/>
            </a:p>
          </p:txBody>
        </p:sp>
        <p:sp>
          <p:nvSpPr>
            <p:cNvPr id="716" name="Google Shape;716;p20"/>
            <p:cNvSpPr/>
            <p:nvPr/>
          </p:nvSpPr>
          <p:spPr>
            <a:xfrm>
              <a:off x="1440" y="3158"/>
              <a:ext cx="1006" cy="400"/>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Kontrol stock</a:t>
              </a:r>
              <a:endParaRPr/>
            </a:p>
          </p:txBody>
        </p:sp>
        <p:sp>
          <p:nvSpPr>
            <p:cNvPr id="717" name="Google Shape;717;p20"/>
            <p:cNvSpPr/>
            <p:nvPr/>
          </p:nvSpPr>
          <p:spPr>
            <a:xfrm>
              <a:off x="2447" y="3158"/>
              <a:ext cx="1006" cy="400"/>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MPS dan order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pelanggan</a:t>
              </a:r>
              <a:endParaRPr/>
            </a:p>
          </p:txBody>
        </p:sp>
        <p:sp>
          <p:nvSpPr>
            <p:cNvPr id="718" name="Google Shape;718;p20"/>
            <p:cNvSpPr/>
            <p:nvPr/>
          </p:nvSpPr>
          <p:spPr>
            <a:xfrm>
              <a:off x="3455" y="3158"/>
              <a:ext cx="947" cy="400"/>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Shop floor control,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pelanggan</a:t>
              </a:r>
              <a:endParaRPr/>
            </a:p>
          </p:txBody>
        </p:sp>
        <p:sp>
          <p:nvSpPr>
            <p:cNvPr id="719" name="Google Shape;719;p20"/>
            <p:cNvSpPr/>
            <p:nvPr/>
          </p:nvSpPr>
          <p:spPr>
            <a:xfrm>
              <a:off x="4404" y="3158"/>
              <a:ext cx="969" cy="400"/>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Manajemen proyek</a:t>
              </a:r>
              <a:endParaRPr/>
            </a:p>
          </p:txBody>
        </p:sp>
        <p:cxnSp>
          <p:nvCxnSpPr>
            <p:cNvPr id="720" name="Google Shape;720;p20"/>
            <p:cNvCxnSpPr/>
            <p:nvPr/>
          </p:nvCxnSpPr>
          <p:spPr>
            <a:xfrm>
              <a:off x="1440" y="768"/>
              <a:ext cx="0" cy="2790"/>
            </a:xfrm>
            <a:prstGeom prst="straightConnector1">
              <a:avLst/>
            </a:prstGeom>
            <a:noFill/>
            <a:ln cap="sq" cmpd="sng" w="12600">
              <a:solidFill>
                <a:srgbClr val="000000"/>
              </a:solidFill>
              <a:prstDash val="solid"/>
              <a:miter lim="800000"/>
              <a:headEnd len="med" w="med" type="none"/>
              <a:tailEnd len="med" w="med" type="none"/>
            </a:ln>
          </p:spPr>
        </p:cxnSp>
        <p:cxnSp>
          <p:nvCxnSpPr>
            <p:cNvPr id="721" name="Google Shape;721;p20"/>
            <p:cNvCxnSpPr/>
            <p:nvPr/>
          </p:nvCxnSpPr>
          <p:spPr>
            <a:xfrm>
              <a:off x="2447" y="768"/>
              <a:ext cx="0" cy="2790"/>
            </a:xfrm>
            <a:prstGeom prst="straightConnector1">
              <a:avLst/>
            </a:prstGeom>
            <a:noFill/>
            <a:ln cap="sq" cmpd="sng" w="12600">
              <a:solidFill>
                <a:srgbClr val="000000"/>
              </a:solidFill>
              <a:prstDash val="solid"/>
              <a:miter lim="800000"/>
              <a:headEnd len="med" w="med" type="none"/>
              <a:tailEnd len="med" w="med" type="none"/>
            </a:ln>
          </p:spPr>
        </p:cxnSp>
        <p:cxnSp>
          <p:nvCxnSpPr>
            <p:cNvPr id="722" name="Google Shape;722;p20"/>
            <p:cNvCxnSpPr/>
            <p:nvPr/>
          </p:nvCxnSpPr>
          <p:spPr>
            <a:xfrm>
              <a:off x="3455" y="768"/>
              <a:ext cx="0" cy="2790"/>
            </a:xfrm>
            <a:prstGeom prst="straightConnector1">
              <a:avLst/>
            </a:prstGeom>
            <a:noFill/>
            <a:ln cap="sq" cmpd="sng" w="12600">
              <a:solidFill>
                <a:srgbClr val="000000"/>
              </a:solidFill>
              <a:prstDash val="solid"/>
              <a:miter lim="800000"/>
              <a:headEnd len="med" w="med" type="none"/>
              <a:tailEnd len="med" w="med" type="none"/>
            </a:ln>
          </p:spPr>
        </p:cxnSp>
        <p:cxnSp>
          <p:nvCxnSpPr>
            <p:cNvPr id="723" name="Google Shape;723;p20"/>
            <p:cNvCxnSpPr/>
            <p:nvPr/>
          </p:nvCxnSpPr>
          <p:spPr>
            <a:xfrm>
              <a:off x="4404" y="768"/>
              <a:ext cx="0" cy="2790"/>
            </a:xfrm>
            <a:prstGeom prst="straightConnector1">
              <a:avLst/>
            </a:prstGeom>
            <a:noFill/>
            <a:ln cap="sq" cmpd="sng" w="12600">
              <a:solidFill>
                <a:srgbClr val="000000"/>
              </a:solidFill>
              <a:prstDash val="solid"/>
              <a:miter lim="800000"/>
              <a:headEnd len="med" w="med" type="none"/>
              <a:tailEnd len="med" w="med" type="none"/>
            </a:ln>
          </p:spPr>
        </p:cxnSp>
        <p:cxnSp>
          <p:nvCxnSpPr>
            <p:cNvPr id="724" name="Google Shape;724;p20"/>
            <p:cNvCxnSpPr/>
            <p:nvPr/>
          </p:nvCxnSpPr>
          <p:spPr>
            <a:xfrm>
              <a:off x="288" y="931"/>
              <a:ext cx="5085" cy="0"/>
            </a:xfrm>
            <a:prstGeom prst="straightConnector1">
              <a:avLst/>
            </a:prstGeom>
            <a:noFill/>
            <a:ln cap="sq" cmpd="sng" w="12600">
              <a:solidFill>
                <a:srgbClr val="000000"/>
              </a:solidFill>
              <a:prstDash val="solid"/>
              <a:miter lim="800000"/>
              <a:headEnd len="med" w="med" type="none"/>
              <a:tailEnd len="med" w="med" type="none"/>
            </a:ln>
          </p:spPr>
        </p:cxnSp>
        <p:cxnSp>
          <p:nvCxnSpPr>
            <p:cNvPr id="725" name="Google Shape;725;p20"/>
            <p:cNvCxnSpPr/>
            <p:nvPr/>
          </p:nvCxnSpPr>
          <p:spPr>
            <a:xfrm>
              <a:off x="288" y="1200"/>
              <a:ext cx="5085" cy="0"/>
            </a:xfrm>
            <a:prstGeom prst="straightConnector1">
              <a:avLst/>
            </a:prstGeom>
            <a:noFill/>
            <a:ln cap="sq" cmpd="sng" w="12600">
              <a:solidFill>
                <a:srgbClr val="000000"/>
              </a:solidFill>
              <a:prstDash val="solid"/>
              <a:miter lim="800000"/>
              <a:headEnd len="med" w="med" type="none"/>
              <a:tailEnd len="med" w="med" type="none"/>
            </a:ln>
          </p:spPr>
        </p:cxnSp>
        <p:cxnSp>
          <p:nvCxnSpPr>
            <p:cNvPr id="726" name="Google Shape;726;p20"/>
            <p:cNvCxnSpPr/>
            <p:nvPr/>
          </p:nvCxnSpPr>
          <p:spPr>
            <a:xfrm>
              <a:off x="288" y="1525"/>
              <a:ext cx="5085" cy="0"/>
            </a:xfrm>
            <a:prstGeom prst="straightConnector1">
              <a:avLst/>
            </a:prstGeom>
            <a:noFill/>
            <a:ln cap="sq" cmpd="sng" w="12600">
              <a:solidFill>
                <a:srgbClr val="000000"/>
              </a:solidFill>
              <a:prstDash val="solid"/>
              <a:miter lim="800000"/>
              <a:headEnd len="med" w="med" type="none"/>
              <a:tailEnd len="med" w="med" type="none"/>
            </a:ln>
          </p:spPr>
        </p:cxnSp>
        <p:cxnSp>
          <p:nvCxnSpPr>
            <p:cNvPr id="727" name="Google Shape;727;p20"/>
            <p:cNvCxnSpPr/>
            <p:nvPr/>
          </p:nvCxnSpPr>
          <p:spPr>
            <a:xfrm>
              <a:off x="288" y="1862"/>
              <a:ext cx="5085" cy="0"/>
            </a:xfrm>
            <a:prstGeom prst="straightConnector1">
              <a:avLst/>
            </a:prstGeom>
            <a:noFill/>
            <a:ln cap="sq" cmpd="sng" w="12600">
              <a:solidFill>
                <a:srgbClr val="000000"/>
              </a:solidFill>
              <a:prstDash val="solid"/>
              <a:miter lim="800000"/>
              <a:headEnd len="med" w="med" type="none"/>
              <a:tailEnd len="med" w="med" type="none"/>
            </a:ln>
          </p:spPr>
        </p:cxnSp>
        <p:cxnSp>
          <p:nvCxnSpPr>
            <p:cNvPr id="728" name="Google Shape;728;p20"/>
            <p:cNvCxnSpPr/>
            <p:nvPr/>
          </p:nvCxnSpPr>
          <p:spPr>
            <a:xfrm>
              <a:off x="288" y="2131"/>
              <a:ext cx="5085" cy="0"/>
            </a:xfrm>
            <a:prstGeom prst="straightConnector1">
              <a:avLst/>
            </a:prstGeom>
            <a:noFill/>
            <a:ln cap="sq" cmpd="sng" w="12600">
              <a:solidFill>
                <a:srgbClr val="000000"/>
              </a:solidFill>
              <a:prstDash val="solid"/>
              <a:miter lim="800000"/>
              <a:headEnd len="med" w="med" type="none"/>
              <a:tailEnd len="med" w="med" type="none"/>
            </a:ln>
          </p:spPr>
        </p:cxnSp>
        <p:cxnSp>
          <p:nvCxnSpPr>
            <p:cNvPr id="729" name="Google Shape;729;p20"/>
            <p:cNvCxnSpPr/>
            <p:nvPr/>
          </p:nvCxnSpPr>
          <p:spPr>
            <a:xfrm>
              <a:off x="288" y="2399"/>
              <a:ext cx="5085" cy="0"/>
            </a:xfrm>
            <a:prstGeom prst="straightConnector1">
              <a:avLst/>
            </a:prstGeom>
            <a:noFill/>
            <a:ln cap="sq" cmpd="sng" w="12600">
              <a:solidFill>
                <a:srgbClr val="000000"/>
              </a:solidFill>
              <a:prstDash val="solid"/>
              <a:miter lim="800000"/>
              <a:headEnd len="med" w="med" type="none"/>
              <a:tailEnd len="med" w="med" type="none"/>
            </a:ln>
          </p:spPr>
        </p:cxnSp>
        <p:cxnSp>
          <p:nvCxnSpPr>
            <p:cNvPr id="730" name="Google Shape;730;p20"/>
            <p:cNvCxnSpPr/>
            <p:nvPr/>
          </p:nvCxnSpPr>
          <p:spPr>
            <a:xfrm>
              <a:off x="288" y="2563"/>
              <a:ext cx="5085" cy="0"/>
            </a:xfrm>
            <a:prstGeom prst="straightConnector1">
              <a:avLst/>
            </a:prstGeom>
            <a:noFill/>
            <a:ln cap="sq" cmpd="sng" w="12600">
              <a:solidFill>
                <a:srgbClr val="000000"/>
              </a:solidFill>
              <a:prstDash val="solid"/>
              <a:miter lim="800000"/>
              <a:headEnd len="med" w="med" type="none"/>
              <a:tailEnd len="med" w="med" type="none"/>
            </a:ln>
          </p:spPr>
        </p:cxnSp>
        <p:cxnSp>
          <p:nvCxnSpPr>
            <p:cNvPr id="731" name="Google Shape;731;p20"/>
            <p:cNvCxnSpPr/>
            <p:nvPr/>
          </p:nvCxnSpPr>
          <p:spPr>
            <a:xfrm>
              <a:off x="288" y="2889"/>
              <a:ext cx="5085" cy="0"/>
            </a:xfrm>
            <a:prstGeom prst="straightConnector1">
              <a:avLst/>
            </a:prstGeom>
            <a:noFill/>
            <a:ln cap="sq" cmpd="sng" w="12600">
              <a:solidFill>
                <a:srgbClr val="000000"/>
              </a:solidFill>
              <a:prstDash val="solid"/>
              <a:miter lim="800000"/>
              <a:headEnd len="med" w="med" type="none"/>
              <a:tailEnd len="med" w="med" type="none"/>
            </a:ln>
          </p:spPr>
        </p:cxnSp>
        <p:cxnSp>
          <p:nvCxnSpPr>
            <p:cNvPr id="732" name="Google Shape;732;p20"/>
            <p:cNvCxnSpPr/>
            <p:nvPr/>
          </p:nvCxnSpPr>
          <p:spPr>
            <a:xfrm>
              <a:off x="288" y="3158"/>
              <a:ext cx="5085" cy="0"/>
            </a:xfrm>
            <a:prstGeom prst="straightConnector1">
              <a:avLst/>
            </a:prstGeom>
            <a:noFill/>
            <a:ln cap="sq" cmpd="sng" w="12600">
              <a:solidFill>
                <a:srgbClr val="000000"/>
              </a:solidFill>
              <a:prstDash val="solid"/>
              <a:miter lim="800000"/>
              <a:headEnd len="med" w="med" type="none"/>
              <a:tailEnd len="med" w="med" type="none"/>
            </a:ln>
          </p:spPr>
        </p:cxnSp>
        <p:cxnSp>
          <p:nvCxnSpPr>
            <p:cNvPr id="733" name="Google Shape;733;p20"/>
            <p:cNvCxnSpPr/>
            <p:nvPr/>
          </p:nvCxnSpPr>
          <p:spPr>
            <a:xfrm>
              <a:off x="288" y="768"/>
              <a:ext cx="0" cy="2790"/>
            </a:xfrm>
            <a:prstGeom prst="straightConnector1">
              <a:avLst/>
            </a:prstGeom>
            <a:noFill/>
            <a:ln cap="sq" cmpd="sng" w="12600">
              <a:solidFill>
                <a:srgbClr val="000000"/>
              </a:solidFill>
              <a:prstDash val="solid"/>
              <a:miter lim="800000"/>
              <a:headEnd len="med" w="med" type="none"/>
              <a:tailEnd len="med" w="med" type="none"/>
            </a:ln>
          </p:spPr>
        </p:cxnSp>
        <p:cxnSp>
          <p:nvCxnSpPr>
            <p:cNvPr id="734" name="Google Shape;734;p20"/>
            <p:cNvCxnSpPr/>
            <p:nvPr/>
          </p:nvCxnSpPr>
          <p:spPr>
            <a:xfrm>
              <a:off x="5375" y="768"/>
              <a:ext cx="0" cy="2790"/>
            </a:xfrm>
            <a:prstGeom prst="straightConnector1">
              <a:avLst/>
            </a:prstGeom>
            <a:noFill/>
            <a:ln cap="sq" cmpd="sng" w="12600">
              <a:solidFill>
                <a:srgbClr val="000000"/>
              </a:solidFill>
              <a:prstDash val="solid"/>
              <a:miter lim="800000"/>
              <a:headEnd len="med" w="med" type="none"/>
              <a:tailEnd len="med" w="med" type="none"/>
            </a:ln>
          </p:spPr>
        </p:cxnSp>
        <p:cxnSp>
          <p:nvCxnSpPr>
            <p:cNvPr id="735" name="Google Shape;735;p20"/>
            <p:cNvCxnSpPr/>
            <p:nvPr/>
          </p:nvCxnSpPr>
          <p:spPr>
            <a:xfrm>
              <a:off x="288" y="768"/>
              <a:ext cx="5085" cy="0"/>
            </a:xfrm>
            <a:prstGeom prst="straightConnector1">
              <a:avLst/>
            </a:prstGeom>
            <a:noFill/>
            <a:ln cap="sq" cmpd="sng" w="12600">
              <a:solidFill>
                <a:srgbClr val="000000"/>
              </a:solidFill>
              <a:prstDash val="solid"/>
              <a:miter lim="800000"/>
              <a:headEnd len="med" w="med" type="none"/>
              <a:tailEnd len="med" w="med" type="none"/>
            </a:ln>
          </p:spPr>
        </p:cxnSp>
        <p:cxnSp>
          <p:nvCxnSpPr>
            <p:cNvPr id="736" name="Google Shape;736;p20"/>
            <p:cNvCxnSpPr/>
            <p:nvPr/>
          </p:nvCxnSpPr>
          <p:spPr>
            <a:xfrm>
              <a:off x="288" y="3560"/>
              <a:ext cx="5085" cy="0"/>
            </a:xfrm>
            <a:prstGeom prst="straightConnector1">
              <a:avLst/>
            </a:prstGeom>
            <a:noFill/>
            <a:ln cap="sq" cmpd="sng" w="12600">
              <a:solidFill>
                <a:srgbClr val="000000"/>
              </a:solidFill>
              <a:prstDash val="solid"/>
              <a:miter lim="800000"/>
              <a:headEnd len="med" w="med" type="none"/>
              <a:tailEnd len="med" w="med" type="none"/>
            </a:ln>
          </p:spPr>
        </p:cxn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pic>
        <p:nvPicPr>
          <p:cNvPr descr="Man shows something on laptop" id="742" name="Google Shape;742;p21"/>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743" name="Google Shape;743;p21"/>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t/>
            </a:r>
            <a:endParaRPr b="1" sz="3300">
              <a:solidFill>
                <a:srgbClr val="3F3F3F"/>
              </a:solidFill>
            </a:endParaRPr>
          </a:p>
        </p:txBody>
      </p:sp>
      <p:sp>
        <p:nvSpPr>
          <p:cNvPr id="744" name="Google Shape;744;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745" name="Google Shape;74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lang="en-US" sz="1200">
                <a:solidFill>
                  <a:srgbClr val="FFFFFF"/>
                </a:solidFill>
                <a:latin typeface="Calibri"/>
                <a:ea typeface="Calibri"/>
                <a:cs typeface="Calibri"/>
                <a:sym typeface="Calibri"/>
              </a:rPr>
              <a:t>‹#›</a:t>
            </a:fld>
            <a:endParaRPr sz="1200">
              <a:solidFill>
                <a:srgbClr val="FFFFFF"/>
              </a:solidFill>
              <a:latin typeface="Calibri"/>
              <a:ea typeface="Calibri"/>
              <a:cs typeface="Calibri"/>
              <a:sym typeface="Calibri"/>
            </a:endParaRPr>
          </a:p>
        </p:txBody>
      </p:sp>
      <p:pic>
        <p:nvPicPr>
          <p:cNvPr id="746" name="Google Shape;746;p21"/>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747" name="Google Shape;747;p21"/>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sp>
        <p:nvSpPr>
          <p:cNvPr id="748" name="Google Shape;748;p21"/>
          <p:cNvSpPr txBox="1"/>
          <p:nvPr/>
        </p:nvSpPr>
        <p:spPr>
          <a:xfrm>
            <a:off x="254000" y="1624013"/>
            <a:ext cx="5078413" cy="7080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Calibri"/>
                <a:ea typeface="Calibri"/>
                <a:cs typeface="Calibri"/>
                <a:sym typeface="Calibri"/>
              </a:rPr>
              <a:t>Perbedaan antara Sistem Produksi MTO Repetitif &amp; Non-Repetitif</a:t>
            </a:r>
            <a:endParaRPr sz="2000">
              <a:solidFill>
                <a:schemeClr val="dk1"/>
              </a:solidFill>
              <a:latin typeface="Calibri"/>
              <a:ea typeface="Calibri"/>
              <a:cs typeface="Calibri"/>
              <a:sym typeface="Calibri"/>
            </a:endParaRPr>
          </a:p>
        </p:txBody>
      </p:sp>
      <p:grpSp>
        <p:nvGrpSpPr>
          <p:cNvPr id="749" name="Google Shape;749;p21"/>
          <p:cNvGrpSpPr/>
          <p:nvPr/>
        </p:nvGrpSpPr>
        <p:grpSpPr>
          <a:xfrm>
            <a:off x="508000" y="2671763"/>
            <a:ext cx="4826425" cy="3373751"/>
            <a:chOff x="288" y="1152"/>
            <a:chExt cx="2399" cy="1775"/>
          </a:xfrm>
        </p:grpSpPr>
        <p:sp>
          <p:nvSpPr>
            <p:cNvPr id="750" name="Google Shape;750;p21"/>
            <p:cNvSpPr/>
            <p:nvPr/>
          </p:nvSpPr>
          <p:spPr>
            <a:xfrm>
              <a:off x="288" y="1152"/>
              <a:ext cx="797" cy="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1" name="Google Shape;751;p21"/>
            <p:cNvSpPr/>
            <p:nvPr/>
          </p:nvSpPr>
          <p:spPr>
            <a:xfrm>
              <a:off x="1088" y="1152"/>
              <a:ext cx="773" cy="472"/>
            </a:xfrm>
            <a:prstGeom prst="rect">
              <a:avLst/>
            </a:prstGeom>
            <a:noFill/>
            <a:ln>
              <a:noFill/>
            </a:ln>
          </p:spPr>
          <p:txBody>
            <a:bodyPr anchorCtr="0" anchor="ctr" bIns="46800" lIns="90000" spcFirstLastPara="1" rIns="90000" wrap="square" tIns="46800">
              <a:noAutofit/>
            </a:bodyPr>
            <a:lstStyle/>
            <a:p>
              <a:pPr indent="-339725" lvl="0" marL="342900" marR="0" rtl="0" algn="ctr">
                <a:spcBef>
                  <a:spcPts val="0"/>
                </a:spcBef>
                <a:spcAft>
                  <a:spcPts val="0"/>
                </a:spcAft>
                <a:buNone/>
              </a:pPr>
              <a:r>
                <a:rPr b="1" lang="en-US" sz="1100">
                  <a:solidFill>
                    <a:srgbClr val="000000"/>
                  </a:solidFill>
                  <a:latin typeface="Times New Roman"/>
                  <a:ea typeface="Times New Roman"/>
                  <a:cs typeface="Times New Roman"/>
                  <a:sym typeface="Times New Roman"/>
                </a:rPr>
                <a:t>MTO Repetitif</a:t>
              </a:r>
              <a:endParaRPr/>
            </a:p>
          </p:txBody>
        </p:sp>
        <p:sp>
          <p:nvSpPr>
            <p:cNvPr id="752" name="Google Shape;752;p21"/>
            <p:cNvSpPr/>
            <p:nvPr/>
          </p:nvSpPr>
          <p:spPr>
            <a:xfrm>
              <a:off x="1863" y="1152"/>
              <a:ext cx="822" cy="472"/>
            </a:xfrm>
            <a:prstGeom prst="rect">
              <a:avLst/>
            </a:prstGeom>
            <a:noFill/>
            <a:ln>
              <a:noFill/>
            </a:ln>
          </p:spPr>
          <p:txBody>
            <a:bodyPr anchorCtr="0" anchor="ctr" bIns="46800" lIns="90000" spcFirstLastPara="1" rIns="90000" wrap="square" tIns="46800">
              <a:noAutofit/>
            </a:bodyPr>
            <a:lstStyle/>
            <a:p>
              <a:pPr indent="-339725" lvl="0" marL="342900" marR="0" rtl="0" algn="l">
                <a:spcBef>
                  <a:spcPts val="0"/>
                </a:spcBef>
                <a:spcAft>
                  <a:spcPts val="0"/>
                </a:spcAft>
                <a:buNone/>
              </a:pPr>
              <a:r>
                <a:rPr b="1" lang="en-US" sz="1100">
                  <a:solidFill>
                    <a:srgbClr val="000000"/>
                  </a:solidFill>
                  <a:latin typeface="Times New Roman"/>
                  <a:ea typeface="Times New Roman"/>
                  <a:cs typeface="Times New Roman"/>
                  <a:sym typeface="Times New Roman"/>
                </a:rPr>
                <a:t>MTO Non-</a:t>
              </a:r>
              <a:endParaRPr/>
            </a:p>
            <a:p>
              <a:pPr indent="-339725" lvl="0" marL="342900" marR="0" rtl="0" algn="l">
                <a:spcBef>
                  <a:spcPts val="0"/>
                </a:spcBef>
                <a:spcAft>
                  <a:spcPts val="0"/>
                </a:spcAft>
                <a:buNone/>
              </a:pPr>
              <a:r>
                <a:rPr b="1" lang="en-US" sz="1100">
                  <a:solidFill>
                    <a:srgbClr val="000000"/>
                  </a:solidFill>
                  <a:latin typeface="Times New Roman"/>
                  <a:ea typeface="Times New Roman"/>
                  <a:cs typeface="Times New Roman"/>
                  <a:sym typeface="Times New Roman"/>
                </a:rPr>
                <a:t>Repetitif</a:t>
              </a:r>
              <a:endParaRPr/>
            </a:p>
          </p:txBody>
        </p:sp>
        <p:sp>
          <p:nvSpPr>
            <p:cNvPr id="753" name="Google Shape;753;p21"/>
            <p:cNvSpPr/>
            <p:nvPr/>
          </p:nvSpPr>
          <p:spPr>
            <a:xfrm>
              <a:off x="288" y="1625"/>
              <a:ext cx="797" cy="505"/>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Karakteristik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pesanan</a:t>
              </a:r>
              <a:endParaRPr/>
            </a:p>
          </p:txBody>
        </p:sp>
        <p:sp>
          <p:nvSpPr>
            <p:cNvPr id="754" name="Google Shape;754;p21"/>
            <p:cNvSpPr/>
            <p:nvPr/>
          </p:nvSpPr>
          <p:spPr>
            <a:xfrm>
              <a:off x="1088" y="1625"/>
              <a:ext cx="773" cy="505"/>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Pesanan berulang</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dalam waktu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singkat </a:t>
              </a:r>
              <a:endParaRPr/>
            </a:p>
          </p:txBody>
        </p:sp>
        <p:sp>
          <p:nvSpPr>
            <p:cNvPr id="755" name="Google Shape;755;p21"/>
            <p:cNvSpPr/>
            <p:nvPr/>
          </p:nvSpPr>
          <p:spPr>
            <a:xfrm>
              <a:off x="1863" y="1625"/>
              <a:ext cx="822" cy="505"/>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Pesanan tidak</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 berulang atau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berulang dalam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jangka panjang</a:t>
              </a:r>
              <a:endParaRPr/>
            </a:p>
          </p:txBody>
        </p:sp>
        <p:sp>
          <p:nvSpPr>
            <p:cNvPr id="756" name="Google Shape;756;p21"/>
            <p:cNvSpPr/>
            <p:nvPr/>
          </p:nvSpPr>
          <p:spPr>
            <a:xfrm>
              <a:off x="288" y="2132"/>
              <a:ext cx="797" cy="792"/>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Tindakan untuk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mengulang </a:t>
              </a:r>
              <a:r>
                <a:rPr i="1" lang="en-US" sz="1100">
                  <a:solidFill>
                    <a:srgbClr val="000000"/>
                  </a:solidFill>
                  <a:latin typeface="Times New Roman"/>
                  <a:ea typeface="Times New Roman"/>
                  <a:cs typeface="Times New Roman"/>
                  <a:sym typeface="Times New Roman"/>
                </a:rPr>
                <a:t>setup</a:t>
              </a:r>
              <a:endParaRPr/>
            </a:p>
          </p:txBody>
        </p:sp>
        <p:sp>
          <p:nvSpPr>
            <p:cNvPr id="757" name="Google Shape;757;p21"/>
            <p:cNvSpPr/>
            <p:nvPr/>
          </p:nvSpPr>
          <p:spPr>
            <a:xfrm>
              <a:off x="1088" y="2132"/>
              <a:ext cx="773" cy="792"/>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Dilakukan dengan</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 meningkatkan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efisiensi </a:t>
              </a:r>
              <a:r>
                <a:rPr i="1" lang="en-US" sz="1100">
                  <a:solidFill>
                    <a:srgbClr val="000000"/>
                  </a:solidFill>
                  <a:latin typeface="Times New Roman"/>
                  <a:ea typeface="Times New Roman"/>
                  <a:cs typeface="Times New Roman"/>
                  <a:sym typeface="Times New Roman"/>
                </a:rPr>
                <a:t>setup</a:t>
              </a:r>
              <a:r>
                <a:rPr lang="en-US" sz="1100">
                  <a:solidFill>
                    <a:srgbClr val="000000"/>
                  </a:solidFill>
                  <a:latin typeface="Times New Roman"/>
                  <a:ea typeface="Times New Roman"/>
                  <a:cs typeface="Times New Roman"/>
                  <a:sym typeface="Times New Roman"/>
                </a:rPr>
                <a:t> dan</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 mengatur </a:t>
              </a:r>
              <a:r>
                <a:rPr i="1" lang="en-US" sz="1100">
                  <a:solidFill>
                    <a:srgbClr val="000000"/>
                  </a:solidFill>
                  <a:latin typeface="Times New Roman"/>
                  <a:ea typeface="Times New Roman"/>
                  <a:cs typeface="Times New Roman"/>
                  <a:sym typeface="Times New Roman"/>
                </a:rPr>
                <a:t>order</a:t>
              </a:r>
              <a:r>
                <a:rPr lang="en-US" sz="1100">
                  <a:solidFill>
                    <a:srgbClr val="000000"/>
                  </a:solidFill>
                  <a:latin typeface="Times New Roman"/>
                  <a:ea typeface="Times New Roman"/>
                  <a:cs typeface="Times New Roman"/>
                  <a:sym typeface="Times New Roman"/>
                </a:rPr>
                <a:t>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yang akan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diproses </a:t>
              </a:r>
              <a:endParaRPr/>
            </a:p>
          </p:txBody>
        </p:sp>
        <p:sp>
          <p:nvSpPr>
            <p:cNvPr id="758" name="Google Shape;758;p21"/>
            <p:cNvSpPr/>
            <p:nvPr/>
          </p:nvSpPr>
          <p:spPr>
            <a:xfrm>
              <a:off x="1863" y="2132"/>
              <a:ext cx="822" cy="792"/>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Dilakukan dengan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meningkatkan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efisiensi </a:t>
              </a:r>
              <a:r>
                <a:rPr i="1" lang="en-US" sz="1100">
                  <a:solidFill>
                    <a:srgbClr val="000000"/>
                  </a:solidFill>
                  <a:latin typeface="Times New Roman"/>
                  <a:ea typeface="Times New Roman"/>
                  <a:cs typeface="Times New Roman"/>
                  <a:sym typeface="Times New Roman"/>
                </a:rPr>
                <a:t>setup</a:t>
              </a:r>
              <a:endParaRPr/>
            </a:p>
          </p:txBody>
        </p:sp>
        <p:cxnSp>
          <p:nvCxnSpPr>
            <p:cNvPr id="759" name="Google Shape;759;p21"/>
            <p:cNvCxnSpPr/>
            <p:nvPr/>
          </p:nvCxnSpPr>
          <p:spPr>
            <a:xfrm>
              <a:off x="1088" y="1152"/>
              <a:ext cx="0" cy="1773"/>
            </a:xfrm>
            <a:prstGeom prst="straightConnector1">
              <a:avLst/>
            </a:prstGeom>
            <a:noFill/>
            <a:ln cap="sq" cmpd="sng" w="12600">
              <a:solidFill>
                <a:srgbClr val="000000"/>
              </a:solidFill>
              <a:prstDash val="solid"/>
              <a:miter lim="800000"/>
              <a:headEnd len="med" w="med" type="none"/>
              <a:tailEnd len="med" w="med" type="none"/>
            </a:ln>
          </p:spPr>
        </p:cxnSp>
        <p:cxnSp>
          <p:nvCxnSpPr>
            <p:cNvPr id="760" name="Google Shape;760;p21"/>
            <p:cNvCxnSpPr/>
            <p:nvPr/>
          </p:nvCxnSpPr>
          <p:spPr>
            <a:xfrm>
              <a:off x="1863" y="1152"/>
              <a:ext cx="0" cy="1773"/>
            </a:xfrm>
            <a:prstGeom prst="straightConnector1">
              <a:avLst/>
            </a:prstGeom>
            <a:noFill/>
            <a:ln cap="sq" cmpd="sng" w="12600">
              <a:solidFill>
                <a:srgbClr val="000000"/>
              </a:solidFill>
              <a:prstDash val="solid"/>
              <a:miter lim="800000"/>
              <a:headEnd len="med" w="med" type="none"/>
              <a:tailEnd len="med" w="med" type="none"/>
            </a:ln>
          </p:spPr>
        </p:cxnSp>
        <p:cxnSp>
          <p:nvCxnSpPr>
            <p:cNvPr id="761" name="Google Shape;761;p21"/>
            <p:cNvCxnSpPr/>
            <p:nvPr/>
          </p:nvCxnSpPr>
          <p:spPr>
            <a:xfrm>
              <a:off x="288" y="1625"/>
              <a:ext cx="2397" cy="0"/>
            </a:xfrm>
            <a:prstGeom prst="straightConnector1">
              <a:avLst/>
            </a:prstGeom>
            <a:noFill/>
            <a:ln cap="sq" cmpd="sng" w="12600">
              <a:solidFill>
                <a:srgbClr val="000000"/>
              </a:solidFill>
              <a:prstDash val="solid"/>
              <a:miter lim="800000"/>
              <a:headEnd len="med" w="med" type="none"/>
              <a:tailEnd len="med" w="med" type="none"/>
            </a:ln>
          </p:spPr>
        </p:cxnSp>
        <p:cxnSp>
          <p:nvCxnSpPr>
            <p:cNvPr id="762" name="Google Shape;762;p21"/>
            <p:cNvCxnSpPr/>
            <p:nvPr/>
          </p:nvCxnSpPr>
          <p:spPr>
            <a:xfrm>
              <a:off x="288" y="2132"/>
              <a:ext cx="2397" cy="0"/>
            </a:xfrm>
            <a:prstGeom prst="straightConnector1">
              <a:avLst/>
            </a:prstGeom>
            <a:noFill/>
            <a:ln cap="sq" cmpd="sng" w="12600">
              <a:solidFill>
                <a:srgbClr val="000000"/>
              </a:solidFill>
              <a:prstDash val="solid"/>
              <a:miter lim="800000"/>
              <a:headEnd len="med" w="med" type="none"/>
              <a:tailEnd len="med" w="med" type="none"/>
            </a:ln>
          </p:spPr>
        </p:cxnSp>
        <p:cxnSp>
          <p:nvCxnSpPr>
            <p:cNvPr id="763" name="Google Shape;763;p21"/>
            <p:cNvCxnSpPr/>
            <p:nvPr/>
          </p:nvCxnSpPr>
          <p:spPr>
            <a:xfrm>
              <a:off x="288" y="1152"/>
              <a:ext cx="0" cy="1773"/>
            </a:xfrm>
            <a:prstGeom prst="straightConnector1">
              <a:avLst/>
            </a:prstGeom>
            <a:noFill/>
            <a:ln cap="sq" cmpd="sng" w="12600">
              <a:solidFill>
                <a:srgbClr val="000000"/>
              </a:solidFill>
              <a:prstDash val="solid"/>
              <a:miter lim="800000"/>
              <a:headEnd len="med" w="med" type="none"/>
              <a:tailEnd len="med" w="med" type="none"/>
            </a:ln>
          </p:spPr>
        </p:cxnSp>
        <p:cxnSp>
          <p:nvCxnSpPr>
            <p:cNvPr id="764" name="Google Shape;764;p21"/>
            <p:cNvCxnSpPr/>
            <p:nvPr/>
          </p:nvCxnSpPr>
          <p:spPr>
            <a:xfrm>
              <a:off x="2687" y="1152"/>
              <a:ext cx="0" cy="1773"/>
            </a:xfrm>
            <a:prstGeom prst="straightConnector1">
              <a:avLst/>
            </a:prstGeom>
            <a:noFill/>
            <a:ln cap="sq" cmpd="sng" w="12600">
              <a:solidFill>
                <a:srgbClr val="000000"/>
              </a:solidFill>
              <a:prstDash val="solid"/>
              <a:miter lim="800000"/>
              <a:headEnd len="med" w="med" type="none"/>
              <a:tailEnd len="med" w="med" type="none"/>
            </a:ln>
          </p:spPr>
        </p:cxnSp>
        <p:cxnSp>
          <p:nvCxnSpPr>
            <p:cNvPr id="765" name="Google Shape;765;p21"/>
            <p:cNvCxnSpPr/>
            <p:nvPr/>
          </p:nvCxnSpPr>
          <p:spPr>
            <a:xfrm>
              <a:off x="288" y="1152"/>
              <a:ext cx="2397" cy="0"/>
            </a:xfrm>
            <a:prstGeom prst="straightConnector1">
              <a:avLst/>
            </a:prstGeom>
            <a:noFill/>
            <a:ln cap="sq" cmpd="sng" w="12600">
              <a:solidFill>
                <a:srgbClr val="000000"/>
              </a:solidFill>
              <a:prstDash val="solid"/>
              <a:miter lim="800000"/>
              <a:headEnd len="med" w="med" type="none"/>
              <a:tailEnd len="med" w="med" type="none"/>
            </a:ln>
          </p:spPr>
        </p:cxnSp>
        <p:cxnSp>
          <p:nvCxnSpPr>
            <p:cNvPr id="766" name="Google Shape;766;p21"/>
            <p:cNvCxnSpPr/>
            <p:nvPr/>
          </p:nvCxnSpPr>
          <p:spPr>
            <a:xfrm>
              <a:off x="288" y="2927"/>
              <a:ext cx="2397" cy="0"/>
            </a:xfrm>
            <a:prstGeom prst="straightConnector1">
              <a:avLst/>
            </a:prstGeom>
            <a:noFill/>
            <a:ln cap="sq" cmpd="sng" w="12600">
              <a:solidFill>
                <a:srgbClr val="000000"/>
              </a:solidFill>
              <a:prstDash val="solid"/>
              <a:miter lim="800000"/>
              <a:headEnd len="med" w="med" type="none"/>
              <a:tailEnd len="med" w="med" type="none"/>
            </a:ln>
          </p:spPr>
        </p:cxnSp>
      </p:grpSp>
      <p:sp>
        <p:nvSpPr>
          <p:cNvPr id="767" name="Google Shape;767;p21"/>
          <p:cNvSpPr txBox="1"/>
          <p:nvPr/>
        </p:nvSpPr>
        <p:spPr>
          <a:xfrm>
            <a:off x="6096000" y="1549400"/>
            <a:ext cx="5435600" cy="7080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Calibri"/>
                <a:ea typeface="Calibri"/>
                <a:cs typeface="Calibri"/>
                <a:sym typeface="Calibri"/>
              </a:rPr>
              <a:t>Perbedaan antara Sistem Manufaktur MTO Repetitif  Flow Shop &amp; Make to Stock Flow Shop</a:t>
            </a:r>
            <a:endParaRPr/>
          </a:p>
        </p:txBody>
      </p:sp>
      <p:grpSp>
        <p:nvGrpSpPr>
          <p:cNvPr id="768" name="Google Shape;768;p21"/>
          <p:cNvGrpSpPr/>
          <p:nvPr/>
        </p:nvGrpSpPr>
        <p:grpSpPr>
          <a:xfrm>
            <a:off x="5838825" y="2617788"/>
            <a:ext cx="6025413" cy="3600202"/>
            <a:chOff x="2832" y="1152"/>
            <a:chExt cx="2471" cy="2687"/>
          </a:xfrm>
        </p:grpSpPr>
        <p:sp>
          <p:nvSpPr>
            <p:cNvPr id="769" name="Google Shape;769;p21"/>
            <p:cNvSpPr/>
            <p:nvPr/>
          </p:nvSpPr>
          <p:spPr>
            <a:xfrm>
              <a:off x="2832" y="1152"/>
              <a:ext cx="664" cy="40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0" name="Google Shape;770;p21"/>
            <p:cNvSpPr/>
            <p:nvPr/>
          </p:nvSpPr>
          <p:spPr>
            <a:xfrm>
              <a:off x="3497" y="1152"/>
              <a:ext cx="996" cy="407"/>
            </a:xfrm>
            <a:prstGeom prst="rect">
              <a:avLst/>
            </a:prstGeom>
            <a:noFill/>
            <a:ln>
              <a:noFill/>
            </a:ln>
          </p:spPr>
          <p:txBody>
            <a:bodyPr anchorCtr="0" anchor="ctr" bIns="46800" lIns="90000" spcFirstLastPara="1" rIns="90000" wrap="square" tIns="46800">
              <a:noAutofit/>
            </a:bodyPr>
            <a:lstStyle/>
            <a:p>
              <a:pPr indent="-339725" lvl="0" marL="342900" marR="0" rtl="0" algn="l">
                <a:spcBef>
                  <a:spcPts val="0"/>
                </a:spcBef>
                <a:spcAft>
                  <a:spcPts val="0"/>
                </a:spcAft>
                <a:buNone/>
              </a:pPr>
              <a:r>
                <a:rPr b="1" lang="en-US" sz="1100">
                  <a:solidFill>
                    <a:srgbClr val="000000"/>
                  </a:solidFill>
                  <a:latin typeface="Times New Roman"/>
                  <a:ea typeface="Times New Roman"/>
                  <a:cs typeface="Times New Roman"/>
                  <a:sym typeface="Times New Roman"/>
                </a:rPr>
                <a:t>MTO Repetitif </a:t>
              </a:r>
              <a:r>
                <a:rPr b="1" i="1" lang="en-US" sz="1100">
                  <a:solidFill>
                    <a:srgbClr val="000000"/>
                  </a:solidFill>
                  <a:latin typeface="Times New Roman"/>
                  <a:ea typeface="Times New Roman"/>
                  <a:cs typeface="Times New Roman"/>
                  <a:sym typeface="Times New Roman"/>
                </a:rPr>
                <a:t>Flow </a:t>
              </a:r>
              <a:endParaRPr/>
            </a:p>
            <a:p>
              <a:pPr indent="-339725" lvl="0" marL="342900" marR="0" rtl="0" algn="l">
                <a:spcBef>
                  <a:spcPts val="0"/>
                </a:spcBef>
                <a:spcAft>
                  <a:spcPts val="0"/>
                </a:spcAft>
                <a:buNone/>
              </a:pPr>
              <a:r>
                <a:rPr b="1" i="1" lang="en-US" sz="1100">
                  <a:solidFill>
                    <a:srgbClr val="000000"/>
                  </a:solidFill>
                  <a:latin typeface="Times New Roman"/>
                  <a:ea typeface="Times New Roman"/>
                  <a:cs typeface="Times New Roman"/>
                  <a:sym typeface="Times New Roman"/>
                </a:rPr>
                <a:t>Shop</a:t>
              </a:r>
              <a:endParaRPr/>
            </a:p>
          </p:txBody>
        </p:sp>
        <p:sp>
          <p:nvSpPr>
            <p:cNvPr id="771" name="Google Shape;771;p21"/>
            <p:cNvSpPr/>
            <p:nvPr/>
          </p:nvSpPr>
          <p:spPr>
            <a:xfrm>
              <a:off x="4495" y="1152"/>
              <a:ext cx="806" cy="407"/>
            </a:xfrm>
            <a:prstGeom prst="rect">
              <a:avLst/>
            </a:prstGeom>
            <a:noFill/>
            <a:ln>
              <a:noFill/>
            </a:ln>
          </p:spPr>
          <p:txBody>
            <a:bodyPr anchorCtr="0" anchor="ctr" bIns="46800" lIns="90000" spcFirstLastPara="1" rIns="90000" wrap="square" tIns="46800">
              <a:noAutofit/>
            </a:bodyPr>
            <a:lstStyle/>
            <a:p>
              <a:pPr indent="-339725" lvl="0" marL="342900" marR="0" rtl="0" algn="ctr">
                <a:spcBef>
                  <a:spcPts val="0"/>
                </a:spcBef>
                <a:spcAft>
                  <a:spcPts val="0"/>
                </a:spcAft>
                <a:buNone/>
              </a:pPr>
              <a:r>
                <a:rPr b="1" lang="en-US" sz="1100">
                  <a:solidFill>
                    <a:srgbClr val="000000"/>
                  </a:solidFill>
                  <a:latin typeface="Times New Roman"/>
                  <a:ea typeface="Times New Roman"/>
                  <a:cs typeface="Times New Roman"/>
                  <a:sym typeface="Times New Roman"/>
                </a:rPr>
                <a:t>MTS </a:t>
              </a:r>
              <a:r>
                <a:rPr b="1" i="1" lang="en-US" sz="1100">
                  <a:solidFill>
                    <a:srgbClr val="000000"/>
                  </a:solidFill>
                  <a:latin typeface="Times New Roman"/>
                  <a:ea typeface="Times New Roman"/>
                  <a:cs typeface="Times New Roman"/>
                  <a:sym typeface="Times New Roman"/>
                </a:rPr>
                <a:t>Flow Shop</a:t>
              </a:r>
              <a:endParaRPr/>
            </a:p>
          </p:txBody>
        </p:sp>
        <p:sp>
          <p:nvSpPr>
            <p:cNvPr id="772" name="Google Shape;772;p21"/>
            <p:cNvSpPr/>
            <p:nvPr/>
          </p:nvSpPr>
          <p:spPr>
            <a:xfrm>
              <a:off x="2832" y="1561"/>
              <a:ext cx="664" cy="566"/>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100">
                  <a:solidFill>
                    <a:srgbClr val="000000"/>
                  </a:solidFill>
                  <a:latin typeface="Times New Roman"/>
                  <a:ea typeface="Times New Roman"/>
                  <a:cs typeface="Times New Roman"/>
                  <a:sym typeface="Times New Roman"/>
                </a:rPr>
                <a:t>Respons </a:t>
              </a:r>
              <a:endParaRPr/>
            </a:p>
            <a:p>
              <a:pPr indent="-339725" lvl="0" marL="342900" marR="0" rtl="0" algn="just">
                <a:spcBef>
                  <a:spcPts val="0"/>
                </a:spcBef>
                <a:spcAft>
                  <a:spcPts val="0"/>
                </a:spcAft>
                <a:buNone/>
              </a:pPr>
              <a:r>
                <a:rPr lang="en-US" sz="1100">
                  <a:solidFill>
                    <a:srgbClr val="000000"/>
                  </a:solidFill>
                  <a:latin typeface="Times New Roman"/>
                  <a:ea typeface="Times New Roman"/>
                  <a:cs typeface="Times New Roman"/>
                  <a:sym typeface="Times New Roman"/>
                </a:rPr>
                <a:t>terhadap </a:t>
              </a:r>
              <a:endParaRPr/>
            </a:p>
            <a:p>
              <a:pPr indent="-339725" lvl="0" marL="342900" marR="0" rtl="0" algn="just">
                <a:spcBef>
                  <a:spcPts val="0"/>
                </a:spcBef>
                <a:spcAft>
                  <a:spcPts val="0"/>
                </a:spcAft>
                <a:buNone/>
              </a:pPr>
              <a:r>
                <a:rPr lang="en-US" sz="1100">
                  <a:solidFill>
                    <a:srgbClr val="000000"/>
                  </a:solidFill>
                  <a:latin typeface="Times New Roman"/>
                  <a:ea typeface="Times New Roman"/>
                  <a:cs typeface="Times New Roman"/>
                  <a:sym typeface="Times New Roman"/>
                </a:rPr>
                <a:t>fluktuasi </a:t>
              </a:r>
              <a:endParaRPr/>
            </a:p>
            <a:p>
              <a:pPr indent="-339725" lvl="0" marL="342900" marR="0" rtl="0" algn="just">
                <a:spcBef>
                  <a:spcPts val="0"/>
                </a:spcBef>
                <a:spcAft>
                  <a:spcPts val="0"/>
                </a:spcAft>
                <a:buNone/>
              </a:pPr>
              <a:r>
                <a:rPr i="1" lang="en-US" sz="1100">
                  <a:solidFill>
                    <a:srgbClr val="000000"/>
                  </a:solidFill>
                  <a:latin typeface="Times New Roman"/>
                  <a:ea typeface="Times New Roman"/>
                  <a:cs typeface="Times New Roman"/>
                  <a:sym typeface="Times New Roman"/>
                </a:rPr>
                <a:t>demand</a:t>
              </a:r>
              <a:endParaRPr/>
            </a:p>
          </p:txBody>
        </p:sp>
        <p:sp>
          <p:nvSpPr>
            <p:cNvPr id="773" name="Google Shape;773;p21"/>
            <p:cNvSpPr/>
            <p:nvPr/>
          </p:nvSpPr>
          <p:spPr>
            <a:xfrm>
              <a:off x="3497" y="1561"/>
              <a:ext cx="996" cy="566"/>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Memperkecil waktu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penyelesaian </a:t>
              </a:r>
              <a:endParaRPr/>
            </a:p>
          </p:txBody>
        </p:sp>
        <p:sp>
          <p:nvSpPr>
            <p:cNvPr id="774" name="Google Shape;774;p21"/>
            <p:cNvSpPr/>
            <p:nvPr/>
          </p:nvSpPr>
          <p:spPr>
            <a:xfrm>
              <a:off x="4495" y="1561"/>
              <a:ext cx="806" cy="566"/>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Mencari jumlah</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 inventori yang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sesuai </a:t>
              </a:r>
              <a:endParaRPr/>
            </a:p>
          </p:txBody>
        </p:sp>
        <p:sp>
          <p:nvSpPr>
            <p:cNvPr id="775" name="Google Shape;775;p21"/>
            <p:cNvSpPr/>
            <p:nvPr/>
          </p:nvSpPr>
          <p:spPr>
            <a:xfrm>
              <a:off x="2832" y="2128"/>
              <a:ext cx="664" cy="382"/>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Persediaan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produk jadi </a:t>
              </a:r>
              <a:endParaRPr/>
            </a:p>
          </p:txBody>
        </p:sp>
        <p:sp>
          <p:nvSpPr>
            <p:cNvPr id="776" name="Google Shape;776;p21"/>
            <p:cNvSpPr/>
            <p:nvPr/>
          </p:nvSpPr>
          <p:spPr>
            <a:xfrm>
              <a:off x="3497" y="2128"/>
              <a:ext cx="996" cy="382"/>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Tidak ada (siklus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pemesanan besar)</a:t>
              </a:r>
              <a:endParaRPr/>
            </a:p>
          </p:txBody>
        </p:sp>
        <p:sp>
          <p:nvSpPr>
            <p:cNvPr id="777" name="Google Shape;777;p21"/>
            <p:cNvSpPr/>
            <p:nvPr/>
          </p:nvSpPr>
          <p:spPr>
            <a:xfrm>
              <a:off x="4495" y="2128"/>
              <a:ext cx="806" cy="382"/>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100">
                  <a:solidFill>
                    <a:srgbClr val="000000"/>
                  </a:solidFill>
                  <a:latin typeface="Times New Roman"/>
                  <a:ea typeface="Times New Roman"/>
                  <a:cs typeface="Times New Roman"/>
                  <a:sym typeface="Times New Roman"/>
                </a:rPr>
                <a:t>ada</a:t>
              </a:r>
              <a:endParaRPr/>
            </a:p>
          </p:txBody>
        </p:sp>
        <p:sp>
          <p:nvSpPr>
            <p:cNvPr id="778" name="Google Shape;778;p21"/>
            <p:cNvSpPr/>
            <p:nvPr/>
          </p:nvSpPr>
          <p:spPr>
            <a:xfrm>
              <a:off x="2832" y="2512"/>
              <a:ext cx="664" cy="440"/>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100">
                  <a:solidFill>
                    <a:srgbClr val="000000"/>
                  </a:solidFill>
                  <a:latin typeface="Times New Roman"/>
                  <a:ea typeface="Times New Roman"/>
                  <a:cs typeface="Times New Roman"/>
                  <a:sym typeface="Times New Roman"/>
                </a:rPr>
                <a:t>Saat mulai</a:t>
              </a:r>
              <a:endParaRPr/>
            </a:p>
            <a:p>
              <a:pPr indent="-339725" lvl="0" marL="342900" marR="0" rtl="0" algn="just">
                <a:spcBef>
                  <a:spcPts val="0"/>
                </a:spcBef>
                <a:spcAft>
                  <a:spcPts val="0"/>
                </a:spcAft>
                <a:buNone/>
              </a:pPr>
              <a:r>
                <a:rPr lang="en-US" sz="1100">
                  <a:solidFill>
                    <a:srgbClr val="000000"/>
                  </a:solidFill>
                  <a:latin typeface="Times New Roman"/>
                  <a:ea typeface="Times New Roman"/>
                  <a:cs typeface="Times New Roman"/>
                  <a:sym typeface="Times New Roman"/>
                </a:rPr>
                <a:t> proses </a:t>
              </a:r>
              <a:endParaRPr/>
            </a:p>
            <a:p>
              <a:pPr indent="-339725" lvl="0" marL="342900" marR="0" rtl="0" algn="just">
                <a:spcBef>
                  <a:spcPts val="0"/>
                </a:spcBef>
                <a:spcAft>
                  <a:spcPts val="0"/>
                </a:spcAft>
                <a:buNone/>
              </a:pPr>
              <a:r>
                <a:rPr lang="en-US" sz="1100">
                  <a:solidFill>
                    <a:srgbClr val="000000"/>
                  </a:solidFill>
                  <a:latin typeface="Times New Roman"/>
                  <a:ea typeface="Times New Roman"/>
                  <a:cs typeface="Times New Roman"/>
                  <a:sym typeface="Times New Roman"/>
                </a:rPr>
                <a:t>produksi </a:t>
              </a:r>
              <a:endParaRPr/>
            </a:p>
          </p:txBody>
        </p:sp>
        <p:sp>
          <p:nvSpPr>
            <p:cNvPr id="779" name="Google Shape;779;p21"/>
            <p:cNvSpPr/>
            <p:nvPr/>
          </p:nvSpPr>
          <p:spPr>
            <a:xfrm>
              <a:off x="3497" y="2512"/>
              <a:ext cx="996" cy="440"/>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100">
                  <a:solidFill>
                    <a:srgbClr val="000000"/>
                  </a:solidFill>
                  <a:latin typeface="Times New Roman"/>
                  <a:ea typeface="Times New Roman"/>
                  <a:cs typeface="Times New Roman"/>
                  <a:sym typeface="Times New Roman"/>
                </a:rPr>
                <a:t>Jika ada pesanan </a:t>
              </a:r>
              <a:endParaRPr/>
            </a:p>
          </p:txBody>
        </p:sp>
        <p:sp>
          <p:nvSpPr>
            <p:cNvPr id="780" name="Google Shape;780;p21"/>
            <p:cNvSpPr/>
            <p:nvPr/>
          </p:nvSpPr>
          <p:spPr>
            <a:xfrm>
              <a:off x="4495" y="2512"/>
              <a:ext cx="806" cy="440"/>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Sesuai hasil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peramalan </a:t>
              </a:r>
              <a:endParaRPr/>
            </a:p>
          </p:txBody>
        </p:sp>
        <p:sp>
          <p:nvSpPr>
            <p:cNvPr id="781" name="Google Shape;781;p21"/>
            <p:cNvSpPr/>
            <p:nvPr/>
          </p:nvSpPr>
          <p:spPr>
            <a:xfrm>
              <a:off x="2832" y="2954"/>
              <a:ext cx="664" cy="441"/>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100">
                  <a:solidFill>
                    <a:srgbClr val="000000"/>
                  </a:solidFill>
                  <a:latin typeface="Times New Roman"/>
                  <a:ea typeface="Times New Roman"/>
                  <a:cs typeface="Times New Roman"/>
                  <a:sym typeface="Times New Roman"/>
                </a:rPr>
                <a:t>Jumlah yang</a:t>
              </a:r>
              <a:endParaRPr/>
            </a:p>
            <a:p>
              <a:pPr indent="-339725" lvl="0" marL="342900" marR="0" rtl="0" algn="just">
                <a:spcBef>
                  <a:spcPts val="0"/>
                </a:spcBef>
                <a:spcAft>
                  <a:spcPts val="0"/>
                </a:spcAft>
                <a:buNone/>
              </a:pPr>
              <a:r>
                <a:rPr lang="en-US" sz="1100">
                  <a:solidFill>
                    <a:srgbClr val="000000"/>
                  </a:solidFill>
                  <a:latin typeface="Times New Roman"/>
                  <a:ea typeface="Times New Roman"/>
                  <a:cs typeface="Times New Roman"/>
                  <a:sym typeface="Times New Roman"/>
                </a:rPr>
                <a:t> diproduksi </a:t>
              </a:r>
              <a:endParaRPr/>
            </a:p>
          </p:txBody>
        </p:sp>
        <p:sp>
          <p:nvSpPr>
            <p:cNvPr id="782" name="Google Shape;782;p21"/>
            <p:cNvSpPr/>
            <p:nvPr/>
          </p:nvSpPr>
          <p:spPr>
            <a:xfrm>
              <a:off x="3497" y="2954"/>
              <a:ext cx="996" cy="441"/>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Tergantung jumlah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pesanan </a:t>
              </a:r>
              <a:endParaRPr/>
            </a:p>
          </p:txBody>
        </p:sp>
        <p:sp>
          <p:nvSpPr>
            <p:cNvPr id="783" name="Google Shape;783;p21"/>
            <p:cNvSpPr/>
            <p:nvPr/>
          </p:nvSpPr>
          <p:spPr>
            <a:xfrm>
              <a:off x="4495" y="2954"/>
              <a:ext cx="806" cy="441"/>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Sesuai hasil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perencanaan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produksi </a:t>
              </a:r>
              <a:endParaRPr/>
            </a:p>
          </p:txBody>
        </p:sp>
        <p:sp>
          <p:nvSpPr>
            <p:cNvPr id="784" name="Google Shape;784;p21"/>
            <p:cNvSpPr/>
            <p:nvPr/>
          </p:nvSpPr>
          <p:spPr>
            <a:xfrm>
              <a:off x="2832" y="3397"/>
              <a:ext cx="664" cy="440"/>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100">
                  <a:solidFill>
                    <a:srgbClr val="000000"/>
                  </a:solidFill>
                  <a:latin typeface="Times New Roman"/>
                  <a:ea typeface="Times New Roman"/>
                  <a:cs typeface="Times New Roman"/>
                  <a:sym typeface="Times New Roman"/>
                </a:rPr>
                <a:t>Perencenaan </a:t>
              </a:r>
              <a:endParaRPr/>
            </a:p>
            <a:p>
              <a:pPr indent="-339725" lvl="0" marL="342900" marR="0" rtl="0" algn="just">
                <a:spcBef>
                  <a:spcPts val="0"/>
                </a:spcBef>
                <a:spcAft>
                  <a:spcPts val="0"/>
                </a:spcAft>
                <a:buNone/>
              </a:pPr>
              <a:r>
                <a:rPr lang="en-US" sz="1100">
                  <a:solidFill>
                    <a:srgbClr val="000000"/>
                  </a:solidFill>
                  <a:latin typeface="Times New Roman"/>
                  <a:ea typeface="Times New Roman"/>
                  <a:cs typeface="Times New Roman"/>
                  <a:sym typeface="Times New Roman"/>
                </a:rPr>
                <a:t>produksi </a:t>
              </a:r>
              <a:endParaRPr/>
            </a:p>
          </p:txBody>
        </p:sp>
        <p:sp>
          <p:nvSpPr>
            <p:cNvPr id="785" name="Google Shape;785;p21"/>
            <p:cNvSpPr/>
            <p:nvPr/>
          </p:nvSpPr>
          <p:spPr>
            <a:xfrm>
              <a:off x="3497" y="3397"/>
              <a:ext cx="996" cy="440"/>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Perencanaan kapasitas </a:t>
              </a:r>
              <a:endParaRPr/>
            </a:p>
          </p:txBody>
        </p:sp>
        <p:sp>
          <p:nvSpPr>
            <p:cNvPr id="786" name="Google Shape;786;p21"/>
            <p:cNvSpPr/>
            <p:nvPr/>
          </p:nvSpPr>
          <p:spPr>
            <a:xfrm>
              <a:off x="4495" y="3397"/>
              <a:ext cx="806" cy="440"/>
            </a:xfrm>
            <a:prstGeom prst="rect">
              <a:avLst/>
            </a:prstGeom>
            <a:noFill/>
            <a:ln>
              <a:noFill/>
            </a:ln>
          </p:spPr>
          <p:txBody>
            <a:bodyPr anchorCtr="0" anchor="t" bIns="46800" lIns="90000" spcFirstLastPara="1" rIns="90000" wrap="square" tIns="46800">
              <a:noAutofit/>
            </a:bodyPr>
            <a:lstStyle/>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Perencanaan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jumlah yang </a:t>
              </a:r>
              <a:endParaRPr/>
            </a:p>
            <a:p>
              <a:pPr indent="-339725" lvl="0" marL="342900" marR="0" rtl="0" algn="l">
                <a:spcBef>
                  <a:spcPts val="0"/>
                </a:spcBef>
                <a:spcAft>
                  <a:spcPts val="0"/>
                </a:spcAft>
                <a:buNone/>
              </a:pPr>
              <a:r>
                <a:rPr lang="en-US" sz="1100">
                  <a:solidFill>
                    <a:srgbClr val="000000"/>
                  </a:solidFill>
                  <a:latin typeface="Times New Roman"/>
                  <a:ea typeface="Times New Roman"/>
                  <a:cs typeface="Times New Roman"/>
                  <a:sym typeface="Times New Roman"/>
                </a:rPr>
                <a:t>diproduksi </a:t>
              </a:r>
              <a:endParaRPr/>
            </a:p>
          </p:txBody>
        </p:sp>
        <p:cxnSp>
          <p:nvCxnSpPr>
            <p:cNvPr id="787" name="Google Shape;787;p21"/>
            <p:cNvCxnSpPr/>
            <p:nvPr/>
          </p:nvCxnSpPr>
          <p:spPr>
            <a:xfrm>
              <a:off x="3497" y="1152"/>
              <a:ext cx="0" cy="2685"/>
            </a:xfrm>
            <a:prstGeom prst="straightConnector1">
              <a:avLst/>
            </a:prstGeom>
            <a:noFill/>
            <a:ln cap="sq" cmpd="sng" w="12600">
              <a:solidFill>
                <a:srgbClr val="000000"/>
              </a:solidFill>
              <a:prstDash val="solid"/>
              <a:miter lim="800000"/>
              <a:headEnd len="med" w="med" type="none"/>
              <a:tailEnd len="med" w="med" type="none"/>
            </a:ln>
          </p:spPr>
        </p:cxnSp>
        <p:cxnSp>
          <p:nvCxnSpPr>
            <p:cNvPr id="788" name="Google Shape;788;p21"/>
            <p:cNvCxnSpPr/>
            <p:nvPr/>
          </p:nvCxnSpPr>
          <p:spPr>
            <a:xfrm>
              <a:off x="4495" y="1152"/>
              <a:ext cx="0" cy="2685"/>
            </a:xfrm>
            <a:prstGeom prst="straightConnector1">
              <a:avLst/>
            </a:prstGeom>
            <a:noFill/>
            <a:ln cap="sq" cmpd="sng" w="12600">
              <a:solidFill>
                <a:srgbClr val="000000"/>
              </a:solidFill>
              <a:prstDash val="solid"/>
              <a:miter lim="800000"/>
              <a:headEnd len="med" w="med" type="none"/>
              <a:tailEnd len="med" w="med" type="none"/>
            </a:ln>
          </p:spPr>
        </p:cxnSp>
        <p:cxnSp>
          <p:nvCxnSpPr>
            <p:cNvPr id="789" name="Google Shape;789;p21"/>
            <p:cNvCxnSpPr/>
            <p:nvPr/>
          </p:nvCxnSpPr>
          <p:spPr>
            <a:xfrm>
              <a:off x="2832" y="1561"/>
              <a:ext cx="2469" cy="0"/>
            </a:xfrm>
            <a:prstGeom prst="straightConnector1">
              <a:avLst/>
            </a:prstGeom>
            <a:noFill/>
            <a:ln cap="sq" cmpd="sng" w="12600">
              <a:solidFill>
                <a:srgbClr val="000000"/>
              </a:solidFill>
              <a:prstDash val="solid"/>
              <a:miter lim="800000"/>
              <a:headEnd len="med" w="med" type="none"/>
              <a:tailEnd len="med" w="med" type="none"/>
            </a:ln>
          </p:spPr>
        </p:cxnSp>
        <p:cxnSp>
          <p:nvCxnSpPr>
            <p:cNvPr id="790" name="Google Shape;790;p21"/>
            <p:cNvCxnSpPr/>
            <p:nvPr/>
          </p:nvCxnSpPr>
          <p:spPr>
            <a:xfrm>
              <a:off x="2832" y="2128"/>
              <a:ext cx="2469" cy="0"/>
            </a:xfrm>
            <a:prstGeom prst="straightConnector1">
              <a:avLst/>
            </a:prstGeom>
            <a:noFill/>
            <a:ln cap="sq" cmpd="sng" w="12600">
              <a:solidFill>
                <a:srgbClr val="000000"/>
              </a:solidFill>
              <a:prstDash val="solid"/>
              <a:miter lim="800000"/>
              <a:headEnd len="med" w="med" type="none"/>
              <a:tailEnd len="med" w="med" type="none"/>
            </a:ln>
          </p:spPr>
        </p:cxnSp>
        <p:cxnSp>
          <p:nvCxnSpPr>
            <p:cNvPr id="791" name="Google Shape;791;p21"/>
            <p:cNvCxnSpPr/>
            <p:nvPr/>
          </p:nvCxnSpPr>
          <p:spPr>
            <a:xfrm>
              <a:off x="2832" y="2512"/>
              <a:ext cx="2469" cy="0"/>
            </a:xfrm>
            <a:prstGeom prst="straightConnector1">
              <a:avLst/>
            </a:prstGeom>
            <a:noFill/>
            <a:ln cap="sq" cmpd="sng" w="12600">
              <a:solidFill>
                <a:srgbClr val="000000"/>
              </a:solidFill>
              <a:prstDash val="solid"/>
              <a:miter lim="800000"/>
              <a:headEnd len="med" w="med" type="none"/>
              <a:tailEnd len="med" w="med" type="none"/>
            </a:ln>
          </p:spPr>
        </p:cxnSp>
        <p:cxnSp>
          <p:nvCxnSpPr>
            <p:cNvPr id="792" name="Google Shape;792;p21"/>
            <p:cNvCxnSpPr/>
            <p:nvPr/>
          </p:nvCxnSpPr>
          <p:spPr>
            <a:xfrm>
              <a:off x="2832" y="2954"/>
              <a:ext cx="2469" cy="0"/>
            </a:xfrm>
            <a:prstGeom prst="straightConnector1">
              <a:avLst/>
            </a:prstGeom>
            <a:noFill/>
            <a:ln cap="sq" cmpd="sng" w="12600">
              <a:solidFill>
                <a:srgbClr val="000000"/>
              </a:solidFill>
              <a:prstDash val="solid"/>
              <a:miter lim="800000"/>
              <a:headEnd len="med" w="med" type="none"/>
              <a:tailEnd len="med" w="med" type="none"/>
            </a:ln>
          </p:spPr>
        </p:cxnSp>
        <p:cxnSp>
          <p:nvCxnSpPr>
            <p:cNvPr id="793" name="Google Shape;793;p21"/>
            <p:cNvCxnSpPr/>
            <p:nvPr/>
          </p:nvCxnSpPr>
          <p:spPr>
            <a:xfrm>
              <a:off x="2832" y="3397"/>
              <a:ext cx="2469" cy="0"/>
            </a:xfrm>
            <a:prstGeom prst="straightConnector1">
              <a:avLst/>
            </a:prstGeom>
            <a:noFill/>
            <a:ln cap="sq" cmpd="sng" w="12600">
              <a:solidFill>
                <a:srgbClr val="000000"/>
              </a:solidFill>
              <a:prstDash val="solid"/>
              <a:miter lim="800000"/>
              <a:headEnd len="med" w="med" type="none"/>
              <a:tailEnd len="med" w="med" type="none"/>
            </a:ln>
          </p:spPr>
        </p:cxnSp>
        <p:cxnSp>
          <p:nvCxnSpPr>
            <p:cNvPr id="794" name="Google Shape;794;p21"/>
            <p:cNvCxnSpPr/>
            <p:nvPr/>
          </p:nvCxnSpPr>
          <p:spPr>
            <a:xfrm>
              <a:off x="2832" y="1152"/>
              <a:ext cx="0" cy="2685"/>
            </a:xfrm>
            <a:prstGeom prst="straightConnector1">
              <a:avLst/>
            </a:prstGeom>
            <a:noFill/>
            <a:ln cap="sq" cmpd="sng" w="12600">
              <a:solidFill>
                <a:srgbClr val="000000"/>
              </a:solidFill>
              <a:prstDash val="solid"/>
              <a:miter lim="800000"/>
              <a:headEnd len="med" w="med" type="none"/>
              <a:tailEnd len="med" w="med" type="none"/>
            </a:ln>
          </p:spPr>
        </p:cxnSp>
        <p:cxnSp>
          <p:nvCxnSpPr>
            <p:cNvPr id="795" name="Google Shape;795;p21"/>
            <p:cNvCxnSpPr/>
            <p:nvPr/>
          </p:nvCxnSpPr>
          <p:spPr>
            <a:xfrm>
              <a:off x="5303" y="1152"/>
              <a:ext cx="0" cy="2685"/>
            </a:xfrm>
            <a:prstGeom prst="straightConnector1">
              <a:avLst/>
            </a:prstGeom>
            <a:noFill/>
            <a:ln cap="sq" cmpd="sng" w="12600">
              <a:solidFill>
                <a:srgbClr val="000000"/>
              </a:solidFill>
              <a:prstDash val="solid"/>
              <a:miter lim="800000"/>
              <a:headEnd len="med" w="med" type="none"/>
              <a:tailEnd len="med" w="med" type="none"/>
            </a:ln>
          </p:spPr>
        </p:cxnSp>
        <p:cxnSp>
          <p:nvCxnSpPr>
            <p:cNvPr id="796" name="Google Shape;796;p21"/>
            <p:cNvCxnSpPr/>
            <p:nvPr/>
          </p:nvCxnSpPr>
          <p:spPr>
            <a:xfrm>
              <a:off x="2832" y="1152"/>
              <a:ext cx="2469" cy="0"/>
            </a:xfrm>
            <a:prstGeom prst="straightConnector1">
              <a:avLst/>
            </a:prstGeom>
            <a:noFill/>
            <a:ln cap="sq" cmpd="sng" w="12600">
              <a:solidFill>
                <a:srgbClr val="000000"/>
              </a:solidFill>
              <a:prstDash val="solid"/>
              <a:miter lim="800000"/>
              <a:headEnd len="med" w="med" type="none"/>
              <a:tailEnd len="med" w="med" type="none"/>
            </a:ln>
          </p:spPr>
        </p:cxnSp>
        <p:cxnSp>
          <p:nvCxnSpPr>
            <p:cNvPr id="797" name="Google Shape;797;p21"/>
            <p:cNvCxnSpPr/>
            <p:nvPr/>
          </p:nvCxnSpPr>
          <p:spPr>
            <a:xfrm>
              <a:off x="2832" y="3839"/>
              <a:ext cx="2469" cy="0"/>
            </a:xfrm>
            <a:prstGeom prst="straightConnector1">
              <a:avLst/>
            </a:prstGeom>
            <a:noFill/>
            <a:ln cap="sq" cmpd="sng" w="12600">
              <a:solidFill>
                <a:srgbClr val="000000"/>
              </a:solidFill>
              <a:prstDash val="solid"/>
              <a:miter lim="800000"/>
              <a:headEnd len="med" w="med" type="none"/>
              <a:tailEnd len="med" w="med" type="none"/>
            </a:ln>
          </p:spPr>
        </p:cxn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pic>
        <p:nvPicPr>
          <p:cNvPr descr="Man shows something on laptop" id="803" name="Google Shape;803;p22"/>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804" name="Google Shape;804;p22"/>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sz="3300">
                <a:solidFill>
                  <a:srgbClr val="3F3F3F"/>
                </a:solidFill>
              </a:rPr>
              <a:t>Klasifikasi Sistem Manufaktur  berdasarkan </a:t>
            </a:r>
            <a:br>
              <a:rPr b="1" lang="en-US" sz="3300">
                <a:solidFill>
                  <a:srgbClr val="3F3F3F"/>
                </a:solidFill>
              </a:rPr>
            </a:br>
            <a:r>
              <a:rPr b="1" lang="en-US" sz="3300">
                <a:solidFill>
                  <a:srgbClr val="3F3F3F"/>
                </a:solidFill>
              </a:rPr>
              <a:t>Volume Produksi :</a:t>
            </a:r>
            <a:endParaRPr b="1" sz="3300">
              <a:solidFill>
                <a:srgbClr val="3F3F3F"/>
              </a:solidFill>
            </a:endParaRPr>
          </a:p>
        </p:txBody>
      </p:sp>
      <p:sp>
        <p:nvSpPr>
          <p:cNvPr id="805" name="Google Shape;80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806" name="Google Shape;80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lang="en-US" sz="1200">
                <a:solidFill>
                  <a:srgbClr val="FFFFFF"/>
                </a:solidFill>
                <a:latin typeface="Calibri"/>
                <a:ea typeface="Calibri"/>
                <a:cs typeface="Calibri"/>
                <a:sym typeface="Calibri"/>
              </a:rPr>
              <a:t>‹#›</a:t>
            </a:fld>
            <a:endParaRPr sz="1200">
              <a:solidFill>
                <a:srgbClr val="FFFFFF"/>
              </a:solidFill>
              <a:latin typeface="Calibri"/>
              <a:ea typeface="Calibri"/>
              <a:cs typeface="Calibri"/>
              <a:sym typeface="Calibri"/>
            </a:endParaRPr>
          </a:p>
        </p:txBody>
      </p:sp>
      <p:pic>
        <p:nvPicPr>
          <p:cNvPr id="807" name="Google Shape;807;p22"/>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808" name="Google Shape;808;p22"/>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sp>
        <p:nvSpPr>
          <p:cNvPr id="809" name="Google Shape;809;p22"/>
          <p:cNvSpPr txBox="1"/>
          <p:nvPr/>
        </p:nvSpPr>
        <p:spPr>
          <a:xfrm>
            <a:off x="4117975" y="1446213"/>
            <a:ext cx="4114800" cy="646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1"/>
                </a:solidFill>
                <a:latin typeface="Calibri"/>
                <a:ea typeface="Calibri"/>
                <a:cs typeface="Calibri"/>
                <a:sym typeface="Calibri"/>
              </a:rPr>
              <a:t>1. Produksi Massal : </a:t>
            </a:r>
            <a:endParaRPr/>
          </a:p>
        </p:txBody>
      </p:sp>
      <p:sp>
        <p:nvSpPr>
          <p:cNvPr id="810" name="Google Shape;810;p22"/>
          <p:cNvSpPr txBox="1"/>
          <p:nvPr/>
        </p:nvSpPr>
        <p:spPr>
          <a:xfrm>
            <a:off x="304800" y="2241550"/>
            <a:ext cx="6057900" cy="3911600"/>
          </a:xfrm>
          <a:prstGeom prst="rect">
            <a:avLst/>
          </a:prstGeom>
          <a:noFill/>
          <a:ln>
            <a:noFill/>
          </a:ln>
        </p:spPr>
        <p:txBody>
          <a:bodyPr anchorCtr="0" anchor="t" bIns="45700" lIns="91425" spcFirstLastPara="1" rIns="91425" wrap="square" tIns="45700">
            <a:spAutoFit/>
          </a:bodyPr>
          <a:lstStyle/>
          <a:p>
            <a:pPr indent="-190500" lvl="0" marL="0" marR="0" rtl="0" algn="l">
              <a:lnSpc>
                <a:spcPct val="80000"/>
              </a:lnSpc>
              <a:spcBef>
                <a:spcPts val="0"/>
              </a:spcBef>
              <a:spcAft>
                <a:spcPts val="0"/>
              </a:spcAft>
              <a:buClr>
                <a:schemeClr val="dk1"/>
              </a:buClr>
              <a:buSzPts val="3000"/>
              <a:buFont typeface="Comic Sans MS"/>
              <a:buChar char="•"/>
            </a:pPr>
            <a:r>
              <a:rPr lang="en-US" sz="3000">
                <a:solidFill>
                  <a:schemeClr val="dk1"/>
                </a:solidFill>
                <a:latin typeface="Calibri"/>
                <a:ea typeface="Calibri"/>
                <a:cs typeface="Calibri"/>
                <a:sym typeface="Calibri"/>
              </a:rPr>
              <a:t>Laju serta tingkat produksi pada produksi massal umumnya tinggi,</a:t>
            </a:r>
            <a:endParaRPr/>
          </a:p>
          <a:p>
            <a:pPr indent="-190500" lvl="0" marL="0" marR="0" rtl="0" algn="l">
              <a:lnSpc>
                <a:spcPct val="80000"/>
              </a:lnSpc>
              <a:spcBef>
                <a:spcPts val="600"/>
              </a:spcBef>
              <a:spcAft>
                <a:spcPts val="0"/>
              </a:spcAft>
              <a:buClr>
                <a:schemeClr val="dk1"/>
              </a:buClr>
              <a:buSzPts val="3000"/>
              <a:buFont typeface="Comic Sans MS"/>
              <a:buChar char="•"/>
            </a:pPr>
            <a:r>
              <a:rPr lang="en-US" sz="3000">
                <a:solidFill>
                  <a:schemeClr val="dk1"/>
                </a:solidFill>
                <a:latin typeface="Calibri"/>
                <a:ea typeface="Calibri"/>
                <a:cs typeface="Calibri"/>
                <a:sym typeface="Calibri"/>
              </a:rPr>
              <a:t>Permintaan terhadap produk yang dihasilkan tinggi, </a:t>
            </a:r>
            <a:endParaRPr/>
          </a:p>
          <a:p>
            <a:pPr indent="-190500" lvl="0" marL="0" marR="0" rtl="0" algn="l">
              <a:lnSpc>
                <a:spcPct val="80000"/>
              </a:lnSpc>
              <a:spcBef>
                <a:spcPts val="600"/>
              </a:spcBef>
              <a:spcAft>
                <a:spcPts val="0"/>
              </a:spcAft>
              <a:buClr>
                <a:schemeClr val="dk1"/>
              </a:buClr>
              <a:buSzPts val="3000"/>
              <a:buFont typeface="Comic Sans MS"/>
              <a:buChar char="•"/>
            </a:pPr>
            <a:r>
              <a:rPr lang="en-US" sz="3000">
                <a:solidFill>
                  <a:schemeClr val="dk1"/>
                </a:solidFill>
                <a:latin typeface="Calibri"/>
                <a:ea typeface="Calibri"/>
                <a:cs typeface="Calibri"/>
                <a:sym typeface="Calibri"/>
              </a:rPr>
              <a:t>Peralatan umumnya mempunyai fungsi khusus,</a:t>
            </a:r>
            <a:endParaRPr/>
          </a:p>
          <a:p>
            <a:pPr indent="-190500" lvl="0" marL="0" marR="0" rtl="0" algn="l">
              <a:lnSpc>
                <a:spcPct val="80000"/>
              </a:lnSpc>
              <a:spcBef>
                <a:spcPts val="500"/>
              </a:spcBef>
              <a:spcAft>
                <a:spcPts val="0"/>
              </a:spcAft>
              <a:buClr>
                <a:schemeClr val="dk1"/>
              </a:buClr>
              <a:buSzPts val="3000"/>
              <a:buFont typeface="Comic Sans MS"/>
              <a:buChar char="•"/>
            </a:pPr>
            <a:r>
              <a:rPr lang="en-US" sz="3000">
                <a:solidFill>
                  <a:schemeClr val="dk1"/>
                </a:solidFill>
                <a:latin typeface="Calibri"/>
                <a:ea typeface="Calibri"/>
                <a:cs typeface="Calibri"/>
                <a:sym typeface="Calibri"/>
              </a:rPr>
              <a:t>Keahlian tenaga kerja tidak terlalu tinggi sebagai akibat dari fungsi peralatan yang khusus.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811" name="Google Shape;811;p22"/>
          <p:cNvPicPr preferRelativeResize="0"/>
          <p:nvPr/>
        </p:nvPicPr>
        <p:blipFill rotWithShape="1">
          <a:blip r:embed="rId6">
            <a:alphaModFix/>
          </a:blip>
          <a:srcRect b="0" l="0" r="0" t="0"/>
          <a:stretch/>
        </p:blipFill>
        <p:spPr>
          <a:xfrm>
            <a:off x="6731000" y="2339975"/>
            <a:ext cx="2451100" cy="1447800"/>
          </a:xfrm>
          <a:prstGeom prst="rect">
            <a:avLst/>
          </a:prstGeom>
          <a:noFill/>
          <a:ln>
            <a:noFill/>
          </a:ln>
        </p:spPr>
      </p:pic>
      <p:pic>
        <p:nvPicPr>
          <p:cNvPr id="812" name="Google Shape;812;p22"/>
          <p:cNvPicPr preferRelativeResize="0"/>
          <p:nvPr/>
        </p:nvPicPr>
        <p:blipFill rotWithShape="1">
          <a:blip r:embed="rId7">
            <a:alphaModFix/>
          </a:blip>
          <a:srcRect b="0" l="0" r="0" t="0"/>
          <a:stretch/>
        </p:blipFill>
        <p:spPr>
          <a:xfrm>
            <a:off x="9182100" y="2274888"/>
            <a:ext cx="2641600" cy="1550987"/>
          </a:xfrm>
          <a:prstGeom prst="rect">
            <a:avLst/>
          </a:prstGeom>
          <a:noFill/>
          <a:ln>
            <a:noFill/>
          </a:ln>
        </p:spPr>
      </p:pic>
      <p:pic>
        <p:nvPicPr>
          <p:cNvPr id="813" name="Google Shape;813;p22"/>
          <p:cNvPicPr preferRelativeResize="0"/>
          <p:nvPr/>
        </p:nvPicPr>
        <p:blipFill rotWithShape="1">
          <a:blip r:embed="rId8">
            <a:alphaModFix/>
          </a:blip>
          <a:srcRect b="0" l="0" r="0" t="0"/>
          <a:stretch/>
        </p:blipFill>
        <p:spPr>
          <a:xfrm>
            <a:off x="6731000" y="3787775"/>
            <a:ext cx="5092700" cy="246221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pic>
        <p:nvPicPr>
          <p:cNvPr descr="Man shows something on laptop" id="819" name="Google Shape;819;p23"/>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820" name="Google Shape;820;p23"/>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sz="3300">
                <a:solidFill>
                  <a:srgbClr val="3F3F3F"/>
                </a:solidFill>
              </a:rPr>
              <a:t>Klasifikasi Sistem Manufaktur  berdasarkan </a:t>
            </a:r>
            <a:br>
              <a:rPr b="1" lang="en-US" sz="3300">
                <a:solidFill>
                  <a:srgbClr val="3F3F3F"/>
                </a:solidFill>
              </a:rPr>
            </a:br>
            <a:r>
              <a:rPr b="1" lang="en-US" sz="3300">
                <a:solidFill>
                  <a:srgbClr val="3F3F3F"/>
                </a:solidFill>
              </a:rPr>
              <a:t>Volume Produksi :</a:t>
            </a:r>
            <a:endParaRPr b="1" sz="3300">
              <a:solidFill>
                <a:srgbClr val="3F3F3F"/>
              </a:solidFill>
            </a:endParaRPr>
          </a:p>
        </p:txBody>
      </p:sp>
      <p:sp>
        <p:nvSpPr>
          <p:cNvPr id="821" name="Google Shape;8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822" name="Google Shape;8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lang="en-US" sz="1200">
                <a:solidFill>
                  <a:srgbClr val="FFFFFF"/>
                </a:solidFill>
                <a:latin typeface="Calibri"/>
                <a:ea typeface="Calibri"/>
                <a:cs typeface="Calibri"/>
                <a:sym typeface="Calibri"/>
              </a:rPr>
              <a:t>‹#›</a:t>
            </a:fld>
            <a:endParaRPr sz="1200">
              <a:solidFill>
                <a:srgbClr val="FFFFFF"/>
              </a:solidFill>
              <a:latin typeface="Calibri"/>
              <a:ea typeface="Calibri"/>
              <a:cs typeface="Calibri"/>
              <a:sym typeface="Calibri"/>
            </a:endParaRPr>
          </a:p>
        </p:txBody>
      </p:sp>
      <p:pic>
        <p:nvPicPr>
          <p:cNvPr id="823" name="Google Shape;823;p23"/>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824" name="Google Shape;824;p23"/>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sp>
        <p:nvSpPr>
          <p:cNvPr id="825" name="Google Shape;825;p23"/>
          <p:cNvSpPr txBox="1"/>
          <p:nvPr/>
        </p:nvSpPr>
        <p:spPr>
          <a:xfrm>
            <a:off x="4117975" y="1446213"/>
            <a:ext cx="4114800" cy="646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1"/>
                </a:solidFill>
                <a:latin typeface="Calibri"/>
                <a:ea typeface="Calibri"/>
                <a:cs typeface="Calibri"/>
                <a:sym typeface="Calibri"/>
              </a:rPr>
              <a:t>2. Produksi Batch : </a:t>
            </a:r>
            <a:endParaRPr/>
          </a:p>
        </p:txBody>
      </p:sp>
      <p:sp>
        <p:nvSpPr>
          <p:cNvPr id="826" name="Google Shape;826;p23"/>
          <p:cNvSpPr txBox="1"/>
          <p:nvPr/>
        </p:nvSpPr>
        <p:spPr>
          <a:xfrm>
            <a:off x="3146425" y="2241550"/>
            <a:ext cx="6057900" cy="4016375"/>
          </a:xfrm>
          <a:prstGeom prst="rect">
            <a:avLst/>
          </a:prstGeom>
          <a:noFill/>
          <a:ln>
            <a:noFill/>
          </a:ln>
        </p:spPr>
        <p:txBody>
          <a:bodyPr anchorCtr="0" anchor="t" bIns="45700" lIns="91425" spcFirstLastPara="1" rIns="91425" wrap="square" tIns="45700">
            <a:spAutoFit/>
          </a:bodyPr>
          <a:lstStyle/>
          <a:p>
            <a:pPr indent="-190500" lvl="0" marL="0" marR="0" rtl="0" algn="l">
              <a:spcBef>
                <a:spcPts val="0"/>
              </a:spcBef>
              <a:spcAft>
                <a:spcPts val="0"/>
              </a:spcAft>
              <a:buClr>
                <a:schemeClr val="dk1"/>
              </a:buClr>
              <a:buSzPts val="3000"/>
              <a:buFont typeface="Comic Sans MS"/>
              <a:buChar char="•"/>
            </a:pPr>
            <a:r>
              <a:rPr lang="en-US" sz="3000">
                <a:solidFill>
                  <a:schemeClr val="dk1"/>
                </a:solidFill>
                <a:latin typeface="Calibri"/>
                <a:ea typeface="Calibri"/>
                <a:cs typeface="Calibri"/>
                <a:sym typeface="Calibri"/>
              </a:rPr>
              <a:t>Ukuran lot produksi adalah medium,</a:t>
            </a:r>
            <a:endParaRPr/>
          </a:p>
          <a:p>
            <a:pPr indent="-190500" lvl="0" marL="0" marR="0" rtl="0" algn="l">
              <a:spcBef>
                <a:spcPts val="575"/>
              </a:spcBef>
              <a:spcAft>
                <a:spcPts val="0"/>
              </a:spcAft>
              <a:buClr>
                <a:schemeClr val="dk1"/>
              </a:buClr>
              <a:buSzPts val="3000"/>
              <a:buFont typeface="Comic Sans MS"/>
              <a:buChar char="•"/>
            </a:pPr>
            <a:r>
              <a:rPr lang="en-US" sz="3000">
                <a:solidFill>
                  <a:schemeClr val="dk1"/>
                </a:solidFill>
                <a:latin typeface="Calibri"/>
                <a:ea typeface="Calibri"/>
                <a:cs typeface="Calibri"/>
                <a:sym typeface="Calibri"/>
              </a:rPr>
              <a:t>Tujuan: untuk memenuhi kebutuhan konsumen terhadap produk-produk yang diperlukan secara kontinu,</a:t>
            </a:r>
            <a:endParaRPr/>
          </a:p>
          <a:p>
            <a:pPr indent="-190500" lvl="0" marL="0" marR="0" rtl="0" algn="l">
              <a:spcBef>
                <a:spcPts val="575"/>
              </a:spcBef>
              <a:spcAft>
                <a:spcPts val="0"/>
              </a:spcAft>
              <a:buClr>
                <a:schemeClr val="dk1"/>
              </a:buClr>
              <a:buSzPts val="3000"/>
              <a:buFont typeface="Comic Sans MS"/>
              <a:buChar char="•"/>
            </a:pPr>
            <a:r>
              <a:rPr lang="en-US" sz="3000">
                <a:solidFill>
                  <a:schemeClr val="dk1"/>
                </a:solidFill>
                <a:latin typeface="Calibri"/>
                <a:ea typeface="Calibri"/>
                <a:cs typeface="Calibri"/>
                <a:sym typeface="Calibri"/>
              </a:rPr>
              <a:t>Peralatan umumnya mempunyai fungsi umum tetapi dirancang untuk tingkat produksi yang tinggi.</a:t>
            </a:r>
            <a:endParaRPr/>
          </a:p>
        </p:txBody>
      </p:sp>
      <p:pic>
        <p:nvPicPr>
          <p:cNvPr id="827" name="Google Shape;827;p23"/>
          <p:cNvPicPr preferRelativeResize="0"/>
          <p:nvPr/>
        </p:nvPicPr>
        <p:blipFill rotWithShape="1">
          <a:blip r:embed="rId6">
            <a:alphaModFix/>
          </a:blip>
          <a:srcRect b="0" l="0" r="0" t="0"/>
          <a:stretch/>
        </p:blipFill>
        <p:spPr>
          <a:xfrm>
            <a:off x="315913" y="1692275"/>
            <a:ext cx="2514600" cy="2133600"/>
          </a:xfrm>
          <a:prstGeom prst="rect">
            <a:avLst/>
          </a:prstGeom>
          <a:noFill/>
          <a:ln>
            <a:noFill/>
          </a:ln>
        </p:spPr>
      </p:pic>
      <p:pic>
        <p:nvPicPr>
          <p:cNvPr id="828" name="Google Shape;828;p23"/>
          <p:cNvPicPr preferRelativeResize="0"/>
          <p:nvPr/>
        </p:nvPicPr>
        <p:blipFill rotWithShape="1">
          <a:blip r:embed="rId7">
            <a:alphaModFix/>
          </a:blip>
          <a:srcRect b="0" l="0" r="0" t="0"/>
          <a:stretch/>
        </p:blipFill>
        <p:spPr>
          <a:xfrm>
            <a:off x="9593263" y="4135438"/>
            <a:ext cx="2209800" cy="1828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pic>
        <p:nvPicPr>
          <p:cNvPr descr="Man shows something on laptop" id="834" name="Google Shape;834;p24"/>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835" name="Google Shape;835;p24"/>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sz="3300">
                <a:solidFill>
                  <a:srgbClr val="3F3F3F"/>
                </a:solidFill>
              </a:rPr>
              <a:t>Klasifikasi Sistem Manufaktur  berdasarkan </a:t>
            </a:r>
            <a:br>
              <a:rPr b="1" lang="en-US" sz="3300">
                <a:solidFill>
                  <a:srgbClr val="3F3F3F"/>
                </a:solidFill>
              </a:rPr>
            </a:br>
            <a:r>
              <a:rPr b="1" lang="en-US" sz="3300">
                <a:solidFill>
                  <a:srgbClr val="3F3F3F"/>
                </a:solidFill>
              </a:rPr>
              <a:t>Volume Produksi :</a:t>
            </a:r>
            <a:endParaRPr b="1" sz="3300">
              <a:solidFill>
                <a:srgbClr val="3F3F3F"/>
              </a:solidFill>
            </a:endParaRPr>
          </a:p>
        </p:txBody>
      </p:sp>
      <p:sp>
        <p:nvSpPr>
          <p:cNvPr id="836" name="Google Shape;83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837" name="Google Shape;83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lang="en-US" sz="1200">
                <a:solidFill>
                  <a:srgbClr val="FFFFFF"/>
                </a:solidFill>
                <a:latin typeface="Calibri"/>
                <a:ea typeface="Calibri"/>
                <a:cs typeface="Calibri"/>
                <a:sym typeface="Calibri"/>
              </a:rPr>
              <a:t>‹#›</a:t>
            </a:fld>
            <a:endParaRPr sz="1200">
              <a:solidFill>
                <a:srgbClr val="FFFFFF"/>
              </a:solidFill>
              <a:latin typeface="Calibri"/>
              <a:ea typeface="Calibri"/>
              <a:cs typeface="Calibri"/>
              <a:sym typeface="Calibri"/>
            </a:endParaRPr>
          </a:p>
        </p:txBody>
      </p:sp>
      <p:pic>
        <p:nvPicPr>
          <p:cNvPr id="838" name="Google Shape;838;p24"/>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839" name="Google Shape;839;p24"/>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sp>
        <p:nvSpPr>
          <p:cNvPr id="840" name="Google Shape;840;p24"/>
          <p:cNvSpPr txBox="1"/>
          <p:nvPr/>
        </p:nvSpPr>
        <p:spPr>
          <a:xfrm>
            <a:off x="3327400" y="1446213"/>
            <a:ext cx="4905375" cy="646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1"/>
                </a:solidFill>
                <a:latin typeface="Calibri"/>
                <a:ea typeface="Calibri"/>
                <a:cs typeface="Calibri"/>
                <a:sym typeface="Calibri"/>
              </a:rPr>
              <a:t>3. Produksi Job Shop : </a:t>
            </a:r>
            <a:endParaRPr/>
          </a:p>
        </p:txBody>
      </p:sp>
      <p:sp>
        <p:nvSpPr>
          <p:cNvPr id="841" name="Google Shape;841;p24"/>
          <p:cNvSpPr txBox="1"/>
          <p:nvPr/>
        </p:nvSpPr>
        <p:spPr>
          <a:xfrm>
            <a:off x="2565400" y="2241550"/>
            <a:ext cx="6781800" cy="1800225"/>
          </a:xfrm>
          <a:prstGeom prst="rect">
            <a:avLst/>
          </a:prstGeom>
          <a:noFill/>
          <a:ln>
            <a:noFill/>
          </a:ln>
        </p:spPr>
        <p:txBody>
          <a:bodyPr anchorCtr="0" anchor="t" bIns="45700" lIns="91425" spcFirstLastPara="1" rIns="91425" wrap="square" tIns="45700">
            <a:spAutoFit/>
          </a:bodyPr>
          <a:lstStyle/>
          <a:p>
            <a:pPr indent="-152400" lvl="0" marL="0" marR="0" rtl="0" algn="l">
              <a:spcBef>
                <a:spcPts val="0"/>
              </a:spcBef>
              <a:spcAft>
                <a:spcPts val="0"/>
              </a:spcAft>
              <a:buClr>
                <a:schemeClr val="dk1"/>
              </a:buClr>
              <a:buSzPts val="2400"/>
              <a:buFont typeface="Comic Sans MS"/>
              <a:buChar char="•"/>
            </a:pPr>
            <a:r>
              <a:rPr lang="en-US" sz="2400">
                <a:solidFill>
                  <a:schemeClr val="dk1"/>
                </a:solidFill>
                <a:latin typeface="Calibri"/>
                <a:ea typeface="Calibri"/>
                <a:cs typeface="Calibri"/>
                <a:sym typeface="Calibri"/>
              </a:rPr>
              <a:t>Tingkat produksi rendah, </a:t>
            </a:r>
            <a:endParaRPr/>
          </a:p>
          <a:p>
            <a:pPr indent="-152400" lvl="0" marL="0" marR="0" rtl="0" algn="l">
              <a:spcBef>
                <a:spcPts val="600"/>
              </a:spcBef>
              <a:spcAft>
                <a:spcPts val="0"/>
              </a:spcAft>
              <a:buClr>
                <a:schemeClr val="dk1"/>
              </a:buClr>
              <a:buSzPts val="2400"/>
              <a:buFont typeface="Comic Sans MS"/>
              <a:buChar char="•"/>
            </a:pPr>
            <a:r>
              <a:rPr lang="en-US" sz="2400">
                <a:solidFill>
                  <a:schemeClr val="dk1"/>
                </a:solidFill>
                <a:latin typeface="Calibri"/>
                <a:ea typeface="Calibri"/>
                <a:cs typeface="Calibri"/>
                <a:sym typeface="Calibri"/>
              </a:rPr>
              <a:t>Peralatan mempunyai fungsi umum,</a:t>
            </a:r>
            <a:endParaRPr/>
          </a:p>
          <a:p>
            <a:pPr indent="-152400" lvl="0" marL="0" marR="0" rtl="0" algn="l">
              <a:spcBef>
                <a:spcPts val="600"/>
              </a:spcBef>
              <a:spcAft>
                <a:spcPts val="0"/>
              </a:spcAft>
              <a:buClr>
                <a:schemeClr val="dk1"/>
              </a:buClr>
              <a:buSzPts val="2400"/>
              <a:buFont typeface="Comic Sans MS"/>
              <a:buChar char="•"/>
            </a:pPr>
            <a:r>
              <a:rPr lang="en-US" sz="2400">
                <a:solidFill>
                  <a:schemeClr val="dk1"/>
                </a:solidFill>
                <a:latin typeface="Calibri"/>
                <a:ea typeface="Calibri"/>
                <a:cs typeface="Calibri"/>
                <a:sym typeface="Calibri"/>
              </a:rPr>
              <a:t>Keahlian yang diperlukan tenaga kerja cukup tinggi, </a:t>
            </a:r>
            <a:endParaRPr/>
          </a:p>
          <a:p>
            <a:pPr indent="-152400" lvl="0" marL="0" marR="0" rtl="0" algn="l">
              <a:spcBef>
                <a:spcPts val="600"/>
              </a:spcBef>
              <a:spcAft>
                <a:spcPts val="0"/>
              </a:spcAft>
              <a:buClr>
                <a:schemeClr val="dk1"/>
              </a:buClr>
              <a:buSzPts val="2400"/>
              <a:buFont typeface="Comic Sans MS"/>
              <a:buChar char="•"/>
            </a:pPr>
            <a:r>
              <a:rPr lang="en-US" sz="2400">
                <a:solidFill>
                  <a:schemeClr val="dk1"/>
                </a:solidFill>
                <a:latin typeface="Calibri"/>
                <a:ea typeface="Calibri"/>
                <a:cs typeface="Calibri"/>
                <a:sym typeface="Calibri"/>
              </a:rPr>
              <a:t>Biasanya membuat berdasarkan pesanan. </a:t>
            </a:r>
            <a:endParaRPr/>
          </a:p>
        </p:txBody>
      </p:sp>
      <p:pic>
        <p:nvPicPr>
          <p:cNvPr id="842" name="Google Shape;842;p24"/>
          <p:cNvPicPr preferRelativeResize="0"/>
          <p:nvPr/>
        </p:nvPicPr>
        <p:blipFill rotWithShape="1">
          <a:blip r:embed="rId6">
            <a:alphaModFix/>
          </a:blip>
          <a:srcRect b="0" l="0" r="0" t="0"/>
          <a:stretch/>
        </p:blipFill>
        <p:spPr>
          <a:xfrm>
            <a:off x="381000" y="4192588"/>
            <a:ext cx="2489200" cy="2163762"/>
          </a:xfrm>
          <a:prstGeom prst="rect">
            <a:avLst/>
          </a:prstGeom>
          <a:noFill/>
          <a:ln>
            <a:noFill/>
          </a:ln>
        </p:spPr>
      </p:pic>
      <p:pic>
        <p:nvPicPr>
          <p:cNvPr id="843" name="Google Shape;843;p24"/>
          <p:cNvPicPr preferRelativeResize="0"/>
          <p:nvPr/>
        </p:nvPicPr>
        <p:blipFill rotWithShape="1">
          <a:blip r:embed="rId7">
            <a:alphaModFix/>
          </a:blip>
          <a:srcRect b="0" l="0" r="0" t="0"/>
          <a:stretch/>
        </p:blipFill>
        <p:spPr>
          <a:xfrm>
            <a:off x="3765550" y="4560888"/>
            <a:ext cx="4467225" cy="1482725"/>
          </a:xfrm>
          <a:prstGeom prst="rect">
            <a:avLst/>
          </a:prstGeom>
          <a:noFill/>
          <a:ln>
            <a:noFill/>
          </a:ln>
        </p:spPr>
      </p:pic>
      <p:pic>
        <p:nvPicPr>
          <p:cNvPr id="844" name="Google Shape;844;p24"/>
          <p:cNvPicPr preferRelativeResize="0"/>
          <p:nvPr/>
        </p:nvPicPr>
        <p:blipFill rotWithShape="1">
          <a:blip r:embed="rId8">
            <a:alphaModFix/>
          </a:blip>
          <a:srcRect b="0" l="0" r="0" t="0"/>
          <a:stretch/>
        </p:blipFill>
        <p:spPr>
          <a:xfrm>
            <a:off x="8839200" y="4192588"/>
            <a:ext cx="2971800" cy="189388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pic>
        <p:nvPicPr>
          <p:cNvPr descr="Man shows something on laptop" id="850" name="Google Shape;850;p25"/>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851" name="Google Shape;851;p25"/>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sz="3300">
                <a:solidFill>
                  <a:srgbClr val="3F3F3F"/>
                </a:solidFill>
              </a:rPr>
              <a:t>Klasifikasi Sistem Manufaktur  berdasarkan </a:t>
            </a:r>
            <a:br>
              <a:rPr b="1" lang="en-US" sz="3300">
                <a:solidFill>
                  <a:srgbClr val="3F3F3F"/>
                </a:solidFill>
              </a:rPr>
            </a:br>
            <a:r>
              <a:rPr b="1" lang="en-US" sz="3300">
                <a:solidFill>
                  <a:srgbClr val="3F3F3F"/>
                </a:solidFill>
              </a:rPr>
              <a:t>Aliran Produksi :</a:t>
            </a:r>
            <a:endParaRPr b="1" sz="3300">
              <a:solidFill>
                <a:srgbClr val="3F3F3F"/>
              </a:solidFill>
            </a:endParaRPr>
          </a:p>
        </p:txBody>
      </p:sp>
      <p:sp>
        <p:nvSpPr>
          <p:cNvPr id="852" name="Google Shape;85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853" name="Google Shape;85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lang="en-US" sz="1200">
                <a:solidFill>
                  <a:srgbClr val="FFFFFF"/>
                </a:solidFill>
                <a:latin typeface="Calibri"/>
                <a:ea typeface="Calibri"/>
                <a:cs typeface="Calibri"/>
                <a:sym typeface="Calibri"/>
              </a:rPr>
              <a:t>‹#›</a:t>
            </a:fld>
            <a:endParaRPr sz="1200">
              <a:solidFill>
                <a:srgbClr val="FFFFFF"/>
              </a:solidFill>
              <a:latin typeface="Calibri"/>
              <a:ea typeface="Calibri"/>
              <a:cs typeface="Calibri"/>
              <a:sym typeface="Calibri"/>
            </a:endParaRPr>
          </a:p>
        </p:txBody>
      </p:sp>
      <p:pic>
        <p:nvPicPr>
          <p:cNvPr id="854" name="Google Shape;854;p25"/>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855" name="Google Shape;855;p25"/>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sp>
        <p:nvSpPr>
          <p:cNvPr id="856" name="Google Shape;856;p25"/>
          <p:cNvSpPr txBox="1"/>
          <p:nvPr/>
        </p:nvSpPr>
        <p:spPr>
          <a:xfrm>
            <a:off x="177800" y="1497013"/>
            <a:ext cx="4905375" cy="646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1"/>
                </a:solidFill>
                <a:latin typeface="Calibri"/>
                <a:ea typeface="Calibri"/>
                <a:cs typeface="Calibri"/>
                <a:sym typeface="Calibri"/>
              </a:rPr>
              <a:t>1. Job Shop : </a:t>
            </a:r>
            <a:endParaRPr/>
          </a:p>
        </p:txBody>
      </p:sp>
      <p:pic>
        <p:nvPicPr>
          <p:cNvPr id="857" name="Google Shape;857;p25"/>
          <p:cNvPicPr preferRelativeResize="0"/>
          <p:nvPr/>
        </p:nvPicPr>
        <p:blipFill rotWithShape="1">
          <a:blip r:embed="rId6">
            <a:alphaModFix/>
          </a:blip>
          <a:srcRect b="0" l="0" r="0" t="0"/>
          <a:stretch/>
        </p:blipFill>
        <p:spPr>
          <a:xfrm>
            <a:off x="301625" y="2252663"/>
            <a:ext cx="5794375" cy="1836737"/>
          </a:xfrm>
          <a:prstGeom prst="rect">
            <a:avLst/>
          </a:prstGeom>
          <a:noFill/>
          <a:ln>
            <a:noFill/>
          </a:ln>
        </p:spPr>
      </p:pic>
      <p:sp>
        <p:nvSpPr>
          <p:cNvPr id="858" name="Google Shape;858;p25"/>
          <p:cNvSpPr txBox="1"/>
          <p:nvPr/>
        </p:nvSpPr>
        <p:spPr>
          <a:xfrm>
            <a:off x="3327400" y="4305300"/>
            <a:ext cx="4905375"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1"/>
                </a:solidFill>
                <a:latin typeface="Calibri"/>
                <a:ea typeface="Calibri"/>
                <a:cs typeface="Calibri"/>
                <a:sym typeface="Calibri"/>
              </a:rPr>
              <a:t>3. Flow Shop : </a:t>
            </a:r>
            <a:endParaRPr/>
          </a:p>
        </p:txBody>
      </p:sp>
      <p:pic>
        <p:nvPicPr>
          <p:cNvPr id="859" name="Google Shape;859;p25"/>
          <p:cNvPicPr preferRelativeResize="0"/>
          <p:nvPr/>
        </p:nvPicPr>
        <p:blipFill rotWithShape="1">
          <a:blip r:embed="rId7">
            <a:alphaModFix/>
          </a:blip>
          <a:srcRect b="0" l="0" r="0" t="0"/>
          <a:stretch/>
        </p:blipFill>
        <p:spPr>
          <a:xfrm>
            <a:off x="3276600" y="5045075"/>
            <a:ext cx="8077200" cy="892175"/>
          </a:xfrm>
          <a:prstGeom prst="rect">
            <a:avLst/>
          </a:prstGeom>
          <a:noFill/>
          <a:ln>
            <a:noFill/>
          </a:ln>
        </p:spPr>
      </p:pic>
      <p:sp>
        <p:nvSpPr>
          <p:cNvPr id="860" name="Google Shape;860;p25"/>
          <p:cNvSpPr txBox="1"/>
          <p:nvPr/>
        </p:nvSpPr>
        <p:spPr>
          <a:xfrm>
            <a:off x="6958013" y="1590675"/>
            <a:ext cx="4905375" cy="2308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1"/>
                </a:solidFill>
                <a:latin typeface="Calibri"/>
                <a:ea typeface="Calibri"/>
                <a:cs typeface="Calibri"/>
                <a:sym typeface="Calibri"/>
              </a:rPr>
              <a:t>2. Fixed Site (Project) :</a:t>
            </a:r>
            <a:endParaRPr/>
          </a:p>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a:p>
            <a:pPr indent="0" lvl="0" marL="0" marR="0" rtl="0" algn="l">
              <a:spcBef>
                <a:spcPts val="0"/>
              </a:spcBef>
              <a:spcAft>
                <a:spcPts val="0"/>
              </a:spcAft>
              <a:buNone/>
            </a:pPr>
            <a:r>
              <a:rPr lang="en-US" sz="3600">
                <a:solidFill>
                  <a:schemeClr val="dk1"/>
                </a:solidFill>
                <a:latin typeface="Calibri"/>
                <a:ea typeface="Calibri"/>
                <a:cs typeface="Calibri"/>
                <a:sym typeface="Calibri"/>
              </a:rPr>
              <a:t>Sesuai dengan produknya.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pic>
        <p:nvPicPr>
          <p:cNvPr descr="Man shows something on laptop" id="866" name="Google Shape;866;p26"/>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867" name="Google Shape;867;p26"/>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a:solidFill>
                  <a:srgbClr val="3F3F3F"/>
                </a:solidFill>
              </a:rPr>
              <a:t>Flow Shop :</a:t>
            </a:r>
            <a:endParaRPr b="1">
              <a:solidFill>
                <a:srgbClr val="3F3F3F"/>
              </a:solidFill>
            </a:endParaRPr>
          </a:p>
        </p:txBody>
      </p:sp>
      <p:sp>
        <p:nvSpPr>
          <p:cNvPr id="868" name="Google Shape;868;p26"/>
          <p:cNvSpPr txBox="1"/>
          <p:nvPr>
            <p:ph idx="1" type="body"/>
          </p:nvPr>
        </p:nvSpPr>
        <p:spPr>
          <a:xfrm>
            <a:off x="446088" y="1812925"/>
            <a:ext cx="11207750" cy="40878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80000"/>
              </a:lnSpc>
              <a:spcBef>
                <a:spcPts val="0"/>
              </a:spcBef>
              <a:spcAft>
                <a:spcPts val="0"/>
              </a:spcAft>
              <a:buClr>
                <a:srgbClr val="0432FF"/>
              </a:buClr>
              <a:buSzPts val="3200"/>
              <a:buFont typeface="Comic Sans MS"/>
              <a:buChar char="•"/>
            </a:pPr>
            <a:r>
              <a:rPr b="1" i="1" lang="en-US" sz="3200">
                <a:solidFill>
                  <a:srgbClr val="0432FF"/>
                </a:solidFill>
                <a:latin typeface="Calibri"/>
                <a:ea typeface="Calibri"/>
                <a:cs typeface="Calibri"/>
                <a:sym typeface="Calibri"/>
              </a:rPr>
              <a:t>Small-Batch Line Flow</a:t>
            </a:r>
            <a:r>
              <a:rPr lang="en-US" sz="3200">
                <a:latin typeface="Calibri"/>
                <a:ea typeface="Calibri"/>
                <a:cs typeface="Calibri"/>
                <a:sym typeface="Calibri"/>
              </a:rPr>
              <a:t>, mempunyai semua karakter </a:t>
            </a:r>
            <a:r>
              <a:rPr i="1" lang="en-US" sz="3200">
                <a:latin typeface="Calibri"/>
                <a:ea typeface="Calibri"/>
                <a:cs typeface="Calibri"/>
                <a:sym typeface="Calibri"/>
              </a:rPr>
              <a:t>flow shop</a:t>
            </a:r>
            <a:r>
              <a:rPr lang="en-US" sz="3200">
                <a:latin typeface="Calibri"/>
                <a:ea typeface="Calibri"/>
                <a:cs typeface="Calibri"/>
                <a:sym typeface="Calibri"/>
              </a:rPr>
              <a:t>, tetapi tidak semua memproses produk yang sama secara terus menerus. Memproses beberapa produk dengan ukuran batch kecil, dengan kebutuhan setup per batch. Digunakan ketika biaya proses bisa dipertimbangkan, permintaan part rendah, dan non-diskrit. Contohnya adalah farmasi.</a:t>
            </a:r>
            <a:endParaRPr/>
          </a:p>
          <a:p>
            <a:pPr indent="-228600" lvl="0" marL="228600" rtl="0" algn="l">
              <a:lnSpc>
                <a:spcPct val="80000"/>
              </a:lnSpc>
              <a:spcBef>
                <a:spcPts val="550"/>
              </a:spcBef>
              <a:spcAft>
                <a:spcPts val="0"/>
              </a:spcAft>
              <a:buClr>
                <a:srgbClr val="0432FF"/>
              </a:buClr>
              <a:buSzPts val="3200"/>
              <a:buFont typeface="Comic Sans MS"/>
              <a:buChar char="•"/>
            </a:pPr>
            <a:r>
              <a:rPr b="1" i="1" lang="en-US" sz="3200">
                <a:solidFill>
                  <a:srgbClr val="0432FF"/>
                </a:solidFill>
                <a:latin typeface="Calibri"/>
                <a:ea typeface="Calibri"/>
                <a:cs typeface="Calibri"/>
                <a:sym typeface="Calibri"/>
              </a:rPr>
              <a:t>Large-Batch</a:t>
            </a:r>
            <a:r>
              <a:rPr b="1" lang="en-US" sz="3200">
                <a:solidFill>
                  <a:srgbClr val="0432FF"/>
                </a:solidFill>
                <a:latin typeface="Calibri"/>
                <a:ea typeface="Calibri"/>
                <a:cs typeface="Calibri"/>
                <a:sym typeface="Calibri"/>
              </a:rPr>
              <a:t> (</a:t>
            </a:r>
            <a:r>
              <a:rPr b="1" i="1" lang="en-US" sz="3200">
                <a:solidFill>
                  <a:srgbClr val="0432FF"/>
                </a:solidFill>
                <a:latin typeface="Calibri"/>
                <a:ea typeface="Calibri"/>
                <a:cs typeface="Calibri"/>
                <a:sym typeface="Calibri"/>
              </a:rPr>
              <a:t>Repetitive</a:t>
            </a:r>
            <a:r>
              <a:rPr b="1" lang="en-US" sz="3200">
                <a:solidFill>
                  <a:srgbClr val="0432FF"/>
                </a:solidFill>
                <a:latin typeface="Calibri"/>
                <a:ea typeface="Calibri"/>
                <a:cs typeface="Calibri"/>
                <a:sym typeface="Calibri"/>
              </a:rPr>
              <a:t>) </a:t>
            </a:r>
            <a:r>
              <a:rPr b="1" i="1" lang="en-US" sz="3200">
                <a:solidFill>
                  <a:srgbClr val="0432FF"/>
                </a:solidFill>
                <a:latin typeface="Calibri"/>
                <a:ea typeface="Calibri"/>
                <a:cs typeface="Calibri"/>
                <a:sym typeface="Calibri"/>
              </a:rPr>
              <a:t>Line Flow</a:t>
            </a:r>
            <a:r>
              <a:rPr lang="en-US" sz="3200">
                <a:latin typeface="Calibri"/>
                <a:ea typeface="Calibri"/>
                <a:cs typeface="Calibri"/>
                <a:sym typeface="Calibri"/>
              </a:rPr>
              <a:t>, memproduksi produk diskrit dalam volume besar tetapi tidak kontinu. </a:t>
            </a:r>
            <a:endParaRPr/>
          </a:p>
          <a:p>
            <a:pPr indent="-228600" lvl="0" marL="228600" rtl="0" algn="l">
              <a:lnSpc>
                <a:spcPct val="80000"/>
              </a:lnSpc>
              <a:spcBef>
                <a:spcPts val="500"/>
              </a:spcBef>
              <a:spcAft>
                <a:spcPts val="0"/>
              </a:spcAft>
              <a:buClr>
                <a:srgbClr val="0432FF"/>
              </a:buClr>
              <a:buSzPts val="3200"/>
              <a:buFont typeface="Comic Sans MS"/>
              <a:buChar char="•"/>
            </a:pPr>
            <a:r>
              <a:rPr b="1" i="1" lang="en-US" sz="3200">
                <a:solidFill>
                  <a:srgbClr val="0432FF"/>
                </a:solidFill>
                <a:latin typeface="Calibri"/>
                <a:ea typeface="Calibri"/>
                <a:cs typeface="Calibri"/>
                <a:sym typeface="Calibri"/>
              </a:rPr>
              <a:t>Continuous Line Flow</a:t>
            </a:r>
            <a:r>
              <a:rPr b="1" lang="en-US" sz="3200">
                <a:solidFill>
                  <a:srgbClr val="0432FF"/>
                </a:solidFill>
                <a:latin typeface="Calibri"/>
                <a:ea typeface="Calibri"/>
                <a:cs typeface="Calibri"/>
                <a:sym typeface="Calibri"/>
              </a:rPr>
              <a:t> </a:t>
            </a:r>
            <a:r>
              <a:rPr lang="en-US" sz="3200">
                <a:latin typeface="Calibri"/>
                <a:ea typeface="Calibri"/>
                <a:cs typeface="Calibri"/>
                <a:sym typeface="Calibri"/>
              </a:rPr>
              <a:t>merefer pada proses kontinu dari fluida, bedak, logam, dan lain-lain. Biasa digunakan pada industri gula, minyak, dan logam lainnya.</a:t>
            </a:r>
            <a:r>
              <a:rPr lang="en-US">
                <a:latin typeface="Calibri"/>
                <a:ea typeface="Calibri"/>
                <a:cs typeface="Calibri"/>
                <a:sym typeface="Calibri"/>
              </a:rPr>
              <a:t>  </a:t>
            </a:r>
            <a:endParaRPr/>
          </a:p>
          <a:p>
            <a:pPr indent="0" lvl="0" marL="0" rtl="0" algn="l">
              <a:lnSpc>
                <a:spcPct val="90000"/>
              </a:lnSpc>
              <a:spcBef>
                <a:spcPts val="1000"/>
              </a:spcBef>
              <a:spcAft>
                <a:spcPts val="0"/>
              </a:spcAft>
              <a:buClr>
                <a:schemeClr val="dk1"/>
              </a:buClr>
              <a:buSzPts val="3200"/>
              <a:buFont typeface="Arial"/>
              <a:buNone/>
            </a:pPr>
            <a:r>
              <a:t/>
            </a:r>
            <a:endParaRPr sz="3200"/>
          </a:p>
        </p:txBody>
      </p:sp>
      <p:sp>
        <p:nvSpPr>
          <p:cNvPr id="869" name="Google Shape;86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870" name="Google Shape;87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lang="en-US" sz="1200">
                <a:solidFill>
                  <a:srgbClr val="FFFFFF"/>
                </a:solidFill>
                <a:latin typeface="Calibri"/>
                <a:ea typeface="Calibri"/>
                <a:cs typeface="Calibri"/>
                <a:sym typeface="Calibri"/>
              </a:rPr>
              <a:t>‹#›</a:t>
            </a:fld>
            <a:endParaRPr sz="1200">
              <a:solidFill>
                <a:srgbClr val="FFFFFF"/>
              </a:solidFill>
              <a:latin typeface="Calibri"/>
              <a:ea typeface="Calibri"/>
              <a:cs typeface="Calibri"/>
              <a:sym typeface="Calibri"/>
            </a:endParaRPr>
          </a:p>
        </p:txBody>
      </p:sp>
      <p:pic>
        <p:nvPicPr>
          <p:cNvPr id="871" name="Google Shape;871;p26"/>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872" name="Google Shape;872;p26"/>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pic>
        <p:nvPicPr>
          <p:cNvPr descr="Man shows something on laptop" id="878" name="Google Shape;878;p27"/>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879" name="Google Shape;879;p27"/>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sz="3300">
                <a:solidFill>
                  <a:srgbClr val="3F3F3F"/>
                </a:solidFill>
              </a:rPr>
              <a:t>Karakteristik Proses :</a:t>
            </a:r>
            <a:endParaRPr b="1" sz="3300">
              <a:solidFill>
                <a:srgbClr val="3F3F3F"/>
              </a:solidFill>
            </a:endParaRPr>
          </a:p>
        </p:txBody>
      </p:sp>
      <p:sp>
        <p:nvSpPr>
          <p:cNvPr id="880" name="Google Shape;880;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881" name="Google Shape;881;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lang="en-US" sz="1200">
                <a:solidFill>
                  <a:srgbClr val="FFFFFF"/>
                </a:solidFill>
                <a:latin typeface="Calibri"/>
                <a:ea typeface="Calibri"/>
                <a:cs typeface="Calibri"/>
                <a:sym typeface="Calibri"/>
              </a:rPr>
              <a:t>‹#›</a:t>
            </a:fld>
            <a:endParaRPr sz="1200">
              <a:solidFill>
                <a:srgbClr val="FFFFFF"/>
              </a:solidFill>
              <a:latin typeface="Calibri"/>
              <a:ea typeface="Calibri"/>
              <a:cs typeface="Calibri"/>
              <a:sym typeface="Calibri"/>
            </a:endParaRPr>
          </a:p>
        </p:txBody>
      </p:sp>
      <p:pic>
        <p:nvPicPr>
          <p:cNvPr id="882" name="Google Shape;882;p27"/>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883" name="Google Shape;883;p27"/>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grpSp>
        <p:nvGrpSpPr>
          <p:cNvPr id="884" name="Google Shape;884;p27"/>
          <p:cNvGrpSpPr/>
          <p:nvPr/>
        </p:nvGrpSpPr>
        <p:grpSpPr>
          <a:xfrm>
            <a:off x="539750" y="1547813"/>
            <a:ext cx="11248171" cy="4804041"/>
            <a:chOff x="432" y="864"/>
            <a:chExt cx="4847" cy="2591"/>
          </a:xfrm>
        </p:grpSpPr>
        <p:sp>
          <p:nvSpPr>
            <p:cNvPr id="885" name="Google Shape;885;p27"/>
            <p:cNvSpPr/>
            <p:nvPr/>
          </p:nvSpPr>
          <p:spPr>
            <a:xfrm>
              <a:off x="432" y="864"/>
              <a:ext cx="786" cy="5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886" name="Google Shape;886;p27"/>
            <p:cNvSpPr/>
            <p:nvPr/>
          </p:nvSpPr>
          <p:spPr>
            <a:xfrm>
              <a:off x="1220" y="864"/>
              <a:ext cx="818" cy="563"/>
            </a:xfrm>
            <a:prstGeom prst="rect">
              <a:avLst/>
            </a:prstGeom>
            <a:noFill/>
            <a:ln>
              <a:noFill/>
            </a:ln>
          </p:spPr>
          <p:txBody>
            <a:bodyPr anchorCtr="0" anchor="t" bIns="46800" lIns="90000" spcFirstLastPara="1" rIns="90000" wrap="square" tIns="46800">
              <a:noAutofit/>
            </a:bodyPr>
            <a:lstStyle/>
            <a:p>
              <a:pPr indent="-339725" lvl="0" marL="342900" marR="0" rtl="0" algn="ctr">
                <a:spcBef>
                  <a:spcPts val="0"/>
                </a:spcBef>
                <a:spcAft>
                  <a:spcPts val="0"/>
                </a:spcAft>
                <a:buNone/>
              </a:pPr>
              <a:r>
                <a:rPr b="1" lang="en-US" sz="1600">
                  <a:solidFill>
                    <a:srgbClr val="00B200"/>
                  </a:solidFill>
                  <a:latin typeface="Calibri"/>
                  <a:ea typeface="Calibri"/>
                  <a:cs typeface="Calibri"/>
                  <a:sym typeface="Calibri"/>
                </a:rPr>
                <a:t>Job Shop</a:t>
              </a:r>
              <a:endParaRPr/>
            </a:p>
          </p:txBody>
        </p:sp>
        <p:sp>
          <p:nvSpPr>
            <p:cNvPr id="887" name="Google Shape;887;p27"/>
            <p:cNvSpPr/>
            <p:nvPr/>
          </p:nvSpPr>
          <p:spPr>
            <a:xfrm>
              <a:off x="2040" y="864"/>
              <a:ext cx="817" cy="563"/>
            </a:xfrm>
            <a:prstGeom prst="rect">
              <a:avLst/>
            </a:prstGeom>
            <a:noFill/>
            <a:ln>
              <a:noFill/>
            </a:ln>
          </p:spPr>
          <p:txBody>
            <a:bodyPr anchorCtr="0" anchor="t" bIns="46800" lIns="90000" spcFirstLastPara="1" rIns="90000" wrap="square" tIns="46800">
              <a:noAutofit/>
            </a:bodyPr>
            <a:lstStyle/>
            <a:p>
              <a:pPr indent="-339725" lvl="0" marL="342900" marR="0" rtl="0" algn="ctr">
                <a:spcBef>
                  <a:spcPts val="0"/>
                </a:spcBef>
                <a:spcAft>
                  <a:spcPts val="0"/>
                </a:spcAft>
                <a:buNone/>
              </a:pPr>
              <a:r>
                <a:rPr b="1" lang="en-US" sz="1600">
                  <a:solidFill>
                    <a:srgbClr val="00B200"/>
                  </a:solidFill>
                  <a:latin typeface="Calibri"/>
                  <a:ea typeface="Calibri"/>
                  <a:cs typeface="Calibri"/>
                  <a:sym typeface="Calibri"/>
                </a:rPr>
                <a:t>Batch Flow</a:t>
              </a:r>
              <a:endParaRPr/>
            </a:p>
          </p:txBody>
        </p:sp>
        <p:sp>
          <p:nvSpPr>
            <p:cNvPr id="888" name="Google Shape;888;p27"/>
            <p:cNvSpPr/>
            <p:nvPr/>
          </p:nvSpPr>
          <p:spPr>
            <a:xfrm>
              <a:off x="2859" y="864"/>
              <a:ext cx="818" cy="563"/>
            </a:xfrm>
            <a:prstGeom prst="rect">
              <a:avLst/>
            </a:prstGeom>
            <a:noFill/>
            <a:ln>
              <a:noFill/>
            </a:ln>
          </p:spPr>
          <p:txBody>
            <a:bodyPr anchorCtr="0" anchor="t" bIns="46800" lIns="90000" spcFirstLastPara="1" rIns="90000" wrap="square" tIns="46800">
              <a:noAutofit/>
            </a:bodyPr>
            <a:lstStyle/>
            <a:p>
              <a:pPr indent="-339725" lvl="0" marL="342900" marR="0" rtl="0" algn="ctr">
                <a:spcBef>
                  <a:spcPts val="0"/>
                </a:spcBef>
                <a:spcAft>
                  <a:spcPts val="0"/>
                </a:spcAft>
                <a:buNone/>
              </a:pPr>
              <a:r>
                <a:rPr b="1" lang="en-US" sz="1600">
                  <a:solidFill>
                    <a:srgbClr val="00B200"/>
                  </a:solidFill>
                  <a:latin typeface="Calibri"/>
                  <a:ea typeface="Calibri"/>
                  <a:cs typeface="Calibri"/>
                  <a:sym typeface="Calibri"/>
                </a:rPr>
                <a:t>Small-Batch Line Flow </a:t>
              </a:r>
              <a:endParaRPr/>
            </a:p>
          </p:txBody>
        </p:sp>
        <p:sp>
          <p:nvSpPr>
            <p:cNvPr id="889" name="Google Shape;889;p27"/>
            <p:cNvSpPr/>
            <p:nvPr/>
          </p:nvSpPr>
          <p:spPr>
            <a:xfrm>
              <a:off x="3679" y="864"/>
              <a:ext cx="817" cy="563"/>
            </a:xfrm>
            <a:prstGeom prst="rect">
              <a:avLst/>
            </a:prstGeom>
            <a:noFill/>
            <a:ln>
              <a:noFill/>
            </a:ln>
          </p:spPr>
          <p:txBody>
            <a:bodyPr anchorCtr="0" anchor="t" bIns="46800" lIns="90000" spcFirstLastPara="1" rIns="90000" wrap="square" tIns="46800">
              <a:noAutofit/>
            </a:bodyPr>
            <a:lstStyle/>
            <a:p>
              <a:pPr indent="-339725" lvl="0" marL="342900" marR="0" rtl="0" algn="ctr">
                <a:spcBef>
                  <a:spcPts val="0"/>
                </a:spcBef>
                <a:spcAft>
                  <a:spcPts val="0"/>
                </a:spcAft>
                <a:buNone/>
              </a:pPr>
              <a:r>
                <a:rPr b="1" lang="en-US" sz="1600">
                  <a:solidFill>
                    <a:srgbClr val="00B200"/>
                  </a:solidFill>
                  <a:latin typeface="Calibri"/>
                  <a:ea typeface="Calibri"/>
                  <a:cs typeface="Calibri"/>
                  <a:sym typeface="Calibri"/>
                </a:rPr>
                <a:t>Large-Batch (Repetitive)</a:t>
              </a:r>
              <a:endParaRPr/>
            </a:p>
          </p:txBody>
        </p:sp>
        <p:sp>
          <p:nvSpPr>
            <p:cNvPr id="890" name="Google Shape;890;p27"/>
            <p:cNvSpPr/>
            <p:nvPr/>
          </p:nvSpPr>
          <p:spPr>
            <a:xfrm>
              <a:off x="4499" y="864"/>
              <a:ext cx="778" cy="563"/>
            </a:xfrm>
            <a:prstGeom prst="rect">
              <a:avLst/>
            </a:prstGeom>
            <a:noFill/>
            <a:ln>
              <a:noFill/>
            </a:ln>
          </p:spPr>
          <p:txBody>
            <a:bodyPr anchorCtr="0" anchor="t" bIns="46800" lIns="90000" spcFirstLastPara="1" rIns="90000" wrap="square" tIns="46800">
              <a:noAutofit/>
            </a:bodyPr>
            <a:lstStyle/>
            <a:p>
              <a:pPr indent="-339725" lvl="0" marL="342900" marR="0" rtl="0" algn="ctr">
                <a:spcBef>
                  <a:spcPts val="0"/>
                </a:spcBef>
                <a:spcAft>
                  <a:spcPts val="0"/>
                </a:spcAft>
                <a:buNone/>
              </a:pPr>
              <a:r>
                <a:rPr b="1" lang="en-US" sz="1600">
                  <a:solidFill>
                    <a:srgbClr val="00B200"/>
                  </a:solidFill>
                  <a:latin typeface="Calibri"/>
                  <a:ea typeface="Calibri"/>
                  <a:cs typeface="Calibri"/>
                  <a:sym typeface="Calibri"/>
                </a:rPr>
                <a:t>Continuous</a:t>
              </a:r>
              <a:endParaRPr/>
            </a:p>
          </p:txBody>
        </p:sp>
        <p:sp>
          <p:nvSpPr>
            <p:cNvPr id="891" name="Google Shape;891;p27"/>
            <p:cNvSpPr/>
            <p:nvPr/>
          </p:nvSpPr>
          <p:spPr>
            <a:xfrm>
              <a:off x="432" y="1429"/>
              <a:ext cx="786" cy="403"/>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Kelebihan</a:t>
              </a:r>
              <a:endParaRPr/>
            </a:p>
          </p:txBody>
        </p:sp>
        <p:sp>
          <p:nvSpPr>
            <p:cNvPr id="892" name="Google Shape;892;p27"/>
            <p:cNvSpPr/>
            <p:nvPr/>
          </p:nvSpPr>
          <p:spPr>
            <a:xfrm>
              <a:off x="1220" y="1429"/>
              <a:ext cx="818" cy="403"/>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Kualitas tinggi</a:t>
              </a:r>
              <a:endParaRPr/>
            </a:p>
          </p:txBody>
        </p:sp>
        <p:sp>
          <p:nvSpPr>
            <p:cNvPr id="893" name="Google Shape;893;p27"/>
            <p:cNvSpPr/>
            <p:nvPr/>
          </p:nvSpPr>
          <p:spPr>
            <a:xfrm>
              <a:off x="2040" y="1429"/>
              <a:ext cx="817" cy="403"/>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Kualitas tinggi</a:t>
              </a:r>
              <a:endParaRPr/>
            </a:p>
          </p:txBody>
        </p:sp>
        <p:sp>
          <p:nvSpPr>
            <p:cNvPr id="894" name="Google Shape;894;p27"/>
            <p:cNvSpPr/>
            <p:nvPr/>
          </p:nvSpPr>
          <p:spPr>
            <a:xfrm>
              <a:off x="2859" y="1429"/>
              <a:ext cx="818" cy="403"/>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Kualitas tinggi</a:t>
              </a:r>
              <a:endParaRPr/>
            </a:p>
          </p:txBody>
        </p:sp>
        <p:sp>
          <p:nvSpPr>
            <p:cNvPr id="895" name="Google Shape;895;p27"/>
            <p:cNvSpPr/>
            <p:nvPr/>
          </p:nvSpPr>
          <p:spPr>
            <a:xfrm>
              <a:off x="3679" y="1429"/>
              <a:ext cx="817" cy="403"/>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Biaya bersaing</a:t>
              </a:r>
              <a:endParaRPr/>
            </a:p>
          </p:txBody>
        </p:sp>
        <p:sp>
          <p:nvSpPr>
            <p:cNvPr id="896" name="Google Shape;896;p27"/>
            <p:cNvSpPr/>
            <p:nvPr/>
          </p:nvSpPr>
          <p:spPr>
            <a:xfrm>
              <a:off x="4499" y="1429"/>
              <a:ext cx="778" cy="403"/>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Biaya rendah</a:t>
              </a:r>
              <a:endParaRPr/>
            </a:p>
          </p:txBody>
        </p:sp>
        <p:sp>
          <p:nvSpPr>
            <p:cNvPr id="897" name="Google Shape;897;p27"/>
            <p:cNvSpPr/>
            <p:nvPr/>
          </p:nvSpPr>
          <p:spPr>
            <a:xfrm>
              <a:off x="432" y="1833"/>
              <a:ext cx="786" cy="404"/>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Variasi</a:t>
              </a:r>
              <a:endParaRPr/>
            </a:p>
          </p:txBody>
        </p:sp>
        <p:sp>
          <p:nvSpPr>
            <p:cNvPr id="898" name="Google Shape;898;p27"/>
            <p:cNvSpPr/>
            <p:nvPr/>
          </p:nvSpPr>
          <p:spPr>
            <a:xfrm>
              <a:off x="1220" y="1833"/>
              <a:ext cx="818" cy="404"/>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Fleksibilitas tinggi</a:t>
              </a:r>
              <a:endParaRPr/>
            </a:p>
          </p:txBody>
        </p:sp>
        <p:sp>
          <p:nvSpPr>
            <p:cNvPr id="899" name="Google Shape;899;p27"/>
            <p:cNvSpPr/>
            <p:nvPr/>
          </p:nvSpPr>
          <p:spPr>
            <a:xfrm>
              <a:off x="2040" y="1833"/>
              <a:ext cx="817" cy="404"/>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Fleksibilitas sedang</a:t>
              </a:r>
              <a:endParaRPr/>
            </a:p>
          </p:txBody>
        </p:sp>
        <p:sp>
          <p:nvSpPr>
            <p:cNvPr id="900" name="Google Shape;900;p27"/>
            <p:cNvSpPr/>
            <p:nvPr/>
          </p:nvSpPr>
          <p:spPr>
            <a:xfrm>
              <a:off x="2859" y="1833"/>
              <a:ext cx="818" cy="404"/>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Fleksibilitas sedang</a:t>
              </a:r>
              <a:endParaRPr/>
            </a:p>
          </p:txBody>
        </p:sp>
        <p:sp>
          <p:nvSpPr>
            <p:cNvPr id="901" name="Google Shape;901;p27"/>
            <p:cNvSpPr/>
            <p:nvPr/>
          </p:nvSpPr>
          <p:spPr>
            <a:xfrm>
              <a:off x="3679" y="1833"/>
              <a:ext cx="817" cy="404"/>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Fleksibilitas rendah</a:t>
              </a:r>
              <a:endParaRPr/>
            </a:p>
          </p:txBody>
        </p:sp>
        <p:sp>
          <p:nvSpPr>
            <p:cNvPr id="902" name="Google Shape;902;p27"/>
            <p:cNvSpPr/>
            <p:nvPr/>
          </p:nvSpPr>
          <p:spPr>
            <a:xfrm>
              <a:off x="4499" y="1833"/>
              <a:ext cx="778" cy="404"/>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Standard</a:t>
              </a:r>
              <a:endParaRPr/>
            </a:p>
          </p:txBody>
        </p:sp>
        <p:sp>
          <p:nvSpPr>
            <p:cNvPr id="903" name="Google Shape;903;p27"/>
            <p:cNvSpPr/>
            <p:nvPr/>
          </p:nvSpPr>
          <p:spPr>
            <a:xfrm>
              <a:off x="432" y="2239"/>
              <a:ext cx="786" cy="403"/>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Implikasi</a:t>
              </a:r>
              <a:endParaRPr/>
            </a:p>
          </p:txBody>
        </p:sp>
        <p:sp>
          <p:nvSpPr>
            <p:cNvPr id="904" name="Google Shape;904;p27"/>
            <p:cNvSpPr/>
            <p:nvPr/>
          </p:nvSpPr>
          <p:spPr>
            <a:xfrm>
              <a:off x="1220" y="2239"/>
              <a:ext cx="818" cy="403"/>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Biaya tinggi</a:t>
              </a:r>
              <a:endParaRPr/>
            </a:p>
          </p:txBody>
        </p:sp>
        <p:sp>
          <p:nvSpPr>
            <p:cNvPr id="905" name="Google Shape;905;p27"/>
            <p:cNvSpPr/>
            <p:nvPr/>
          </p:nvSpPr>
          <p:spPr>
            <a:xfrm>
              <a:off x="2040" y="2239"/>
              <a:ext cx="817" cy="403"/>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Biaya tinggi</a:t>
              </a:r>
              <a:endParaRPr/>
            </a:p>
          </p:txBody>
        </p:sp>
        <p:sp>
          <p:nvSpPr>
            <p:cNvPr id="906" name="Google Shape;906;p27"/>
            <p:cNvSpPr/>
            <p:nvPr/>
          </p:nvSpPr>
          <p:spPr>
            <a:xfrm>
              <a:off x="2859" y="2239"/>
              <a:ext cx="818" cy="403"/>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Biaya sedang</a:t>
              </a:r>
              <a:endParaRPr/>
            </a:p>
          </p:txBody>
        </p:sp>
        <p:sp>
          <p:nvSpPr>
            <p:cNvPr id="907" name="Google Shape;907;p27"/>
            <p:cNvSpPr/>
            <p:nvPr/>
          </p:nvSpPr>
          <p:spPr>
            <a:xfrm>
              <a:off x="3679" y="2239"/>
              <a:ext cx="817" cy="403"/>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Otomasi</a:t>
              </a:r>
              <a:endParaRPr/>
            </a:p>
          </p:txBody>
        </p:sp>
        <p:sp>
          <p:nvSpPr>
            <p:cNvPr id="908" name="Google Shape;908;p27"/>
            <p:cNvSpPr/>
            <p:nvPr/>
          </p:nvSpPr>
          <p:spPr>
            <a:xfrm>
              <a:off x="4499" y="2239"/>
              <a:ext cx="778" cy="403"/>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Otomasi</a:t>
              </a:r>
              <a:endParaRPr/>
            </a:p>
          </p:txBody>
        </p:sp>
        <p:sp>
          <p:nvSpPr>
            <p:cNvPr id="909" name="Google Shape;909;p27"/>
            <p:cNvSpPr/>
            <p:nvPr/>
          </p:nvSpPr>
          <p:spPr>
            <a:xfrm>
              <a:off x="432" y="2644"/>
              <a:ext cx="786" cy="404"/>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Permesinan</a:t>
              </a:r>
              <a:endParaRPr/>
            </a:p>
          </p:txBody>
        </p:sp>
        <p:sp>
          <p:nvSpPr>
            <p:cNvPr id="910" name="Google Shape;910;p27"/>
            <p:cNvSpPr/>
            <p:nvPr/>
          </p:nvSpPr>
          <p:spPr>
            <a:xfrm>
              <a:off x="1220" y="2644"/>
              <a:ext cx="818" cy="404"/>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Berfungsi umum</a:t>
              </a:r>
              <a:endParaRPr/>
            </a:p>
          </p:txBody>
        </p:sp>
        <p:sp>
          <p:nvSpPr>
            <p:cNvPr id="911" name="Google Shape;911;p27"/>
            <p:cNvSpPr/>
            <p:nvPr/>
          </p:nvSpPr>
          <p:spPr>
            <a:xfrm>
              <a:off x="2040" y="2644"/>
              <a:ext cx="817" cy="404"/>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Berfungsi umum</a:t>
              </a:r>
              <a:endParaRPr/>
            </a:p>
          </p:txBody>
        </p:sp>
        <p:sp>
          <p:nvSpPr>
            <p:cNvPr id="912" name="Google Shape;912;p27"/>
            <p:cNvSpPr/>
            <p:nvPr/>
          </p:nvSpPr>
          <p:spPr>
            <a:xfrm>
              <a:off x="2859" y="2644"/>
              <a:ext cx="818" cy="404"/>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Berfungsi umum</a:t>
              </a:r>
              <a:endParaRPr/>
            </a:p>
          </p:txBody>
        </p:sp>
        <p:sp>
          <p:nvSpPr>
            <p:cNvPr id="913" name="Google Shape;913;p27"/>
            <p:cNvSpPr/>
            <p:nvPr/>
          </p:nvSpPr>
          <p:spPr>
            <a:xfrm>
              <a:off x="3679" y="2644"/>
              <a:ext cx="817" cy="404"/>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Berfungsi khusus</a:t>
              </a:r>
              <a:endParaRPr/>
            </a:p>
          </p:txBody>
        </p:sp>
        <p:sp>
          <p:nvSpPr>
            <p:cNvPr id="914" name="Google Shape;914;p27"/>
            <p:cNvSpPr/>
            <p:nvPr/>
          </p:nvSpPr>
          <p:spPr>
            <a:xfrm>
              <a:off x="4499" y="2644"/>
              <a:ext cx="778" cy="404"/>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Berfungsi khusus</a:t>
              </a:r>
              <a:endParaRPr/>
            </a:p>
          </p:txBody>
        </p:sp>
        <p:sp>
          <p:nvSpPr>
            <p:cNvPr id="915" name="Google Shape;915;p27"/>
            <p:cNvSpPr/>
            <p:nvPr/>
          </p:nvSpPr>
          <p:spPr>
            <a:xfrm>
              <a:off x="432" y="3050"/>
              <a:ext cx="786" cy="403"/>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Strategi</a:t>
              </a:r>
              <a:endParaRPr/>
            </a:p>
          </p:txBody>
        </p:sp>
        <p:sp>
          <p:nvSpPr>
            <p:cNvPr id="916" name="Google Shape;916;p27"/>
            <p:cNvSpPr/>
            <p:nvPr/>
          </p:nvSpPr>
          <p:spPr>
            <a:xfrm>
              <a:off x="1220" y="3050"/>
              <a:ext cx="818" cy="403"/>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Make to Order</a:t>
              </a:r>
              <a:endParaRPr/>
            </a:p>
          </p:txBody>
        </p:sp>
        <p:sp>
          <p:nvSpPr>
            <p:cNvPr id="917" name="Google Shape;917;p27"/>
            <p:cNvSpPr/>
            <p:nvPr/>
          </p:nvSpPr>
          <p:spPr>
            <a:xfrm>
              <a:off x="2040" y="3050"/>
              <a:ext cx="817" cy="403"/>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Assemble to Order</a:t>
              </a:r>
              <a:endParaRPr/>
            </a:p>
          </p:txBody>
        </p:sp>
        <p:sp>
          <p:nvSpPr>
            <p:cNvPr id="918" name="Google Shape;918;p27"/>
            <p:cNvSpPr/>
            <p:nvPr/>
          </p:nvSpPr>
          <p:spPr>
            <a:xfrm>
              <a:off x="2859" y="3050"/>
              <a:ext cx="818" cy="403"/>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Assemble to Order</a:t>
              </a:r>
              <a:endParaRPr/>
            </a:p>
          </p:txBody>
        </p:sp>
        <p:sp>
          <p:nvSpPr>
            <p:cNvPr id="919" name="Google Shape;919;p27"/>
            <p:cNvSpPr/>
            <p:nvPr/>
          </p:nvSpPr>
          <p:spPr>
            <a:xfrm>
              <a:off x="3679" y="3050"/>
              <a:ext cx="817" cy="403"/>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Make to Stock</a:t>
              </a:r>
              <a:endParaRPr/>
            </a:p>
          </p:txBody>
        </p:sp>
        <p:sp>
          <p:nvSpPr>
            <p:cNvPr id="920" name="Google Shape;920;p27"/>
            <p:cNvSpPr/>
            <p:nvPr/>
          </p:nvSpPr>
          <p:spPr>
            <a:xfrm>
              <a:off x="4499" y="3050"/>
              <a:ext cx="778" cy="403"/>
            </a:xfrm>
            <a:prstGeom prst="rect">
              <a:avLst/>
            </a:prstGeom>
            <a:noFill/>
            <a:ln>
              <a:noFill/>
            </a:ln>
          </p:spPr>
          <p:txBody>
            <a:bodyPr anchorCtr="0" anchor="t" bIns="46800" lIns="90000" spcFirstLastPara="1" rIns="90000" wrap="square" tIns="46800">
              <a:noAutofit/>
            </a:bodyPr>
            <a:lstStyle/>
            <a:p>
              <a:pPr indent="-339725" lvl="0" marL="342900" marR="0" rtl="0" algn="just">
                <a:spcBef>
                  <a:spcPts val="0"/>
                </a:spcBef>
                <a:spcAft>
                  <a:spcPts val="0"/>
                </a:spcAft>
                <a:buNone/>
              </a:pPr>
              <a:r>
                <a:rPr lang="en-US" sz="1600">
                  <a:solidFill>
                    <a:srgbClr val="000000"/>
                  </a:solidFill>
                  <a:latin typeface="Calibri"/>
                  <a:ea typeface="Calibri"/>
                  <a:cs typeface="Calibri"/>
                  <a:sym typeface="Calibri"/>
                </a:rPr>
                <a:t>Make to Stock</a:t>
              </a:r>
              <a:endParaRPr/>
            </a:p>
          </p:txBody>
        </p:sp>
        <p:cxnSp>
          <p:nvCxnSpPr>
            <p:cNvPr id="921" name="Google Shape;921;p27"/>
            <p:cNvCxnSpPr/>
            <p:nvPr/>
          </p:nvCxnSpPr>
          <p:spPr>
            <a:xfrm>
              <a:off x="1220" y="864"/>
              <a:ext cx="0" cy="2589"/>
            </a:xfrm>
            <a:prstGeom prst="straightConnector1">
              <a:avLst/>
            </a:prstGeom>
            <a:noFill/>
            <a:ln cap="sq" cmpd="sng" w="12600">
              <a:solidFill>
                <a:srgbClr val="000000"/>
              </a:solidFill>
              <a:prstDash val="solid"/>
              <a:miter lim="800000"/>
              <a:headEnd len="med" w="med" type="none"/>
              <a:tailEnd len="med" w="med" type="none"/>
            </a:ln>
          </p:spPr>
        </p:cxnSp>
        <p:cxnSp>
          <p:nvCxnSpPr>
            <p:cNvPr id="922" name="Google Shape;922;p27"/>
            <p:cNvCxnSpPr/>
            <p:nvPr/>
          </p:nvCxnSpPr>
          <p:spPr>
            <a:xfrm>
              <a:off x="2040" y="864"/>
              <a:ext cx="0" cy="2589"/>
            </a:xfrm>
            <a:prstGeom prst="straightConnector1">
              <a:avLst/>
            </a:prstGeom>
            <a:noFill/>
            <a:ln cap="sq" cmpd="sng" w="12600">
              <a:solidFill>
                <a:srgbClr val="000000"/>
              </a:solidFill>
              <a:prstDash val="solid"/>
              <a:miter lim="800000"/>
              <a:headEnd len="med" w="med" type="none"/>
              <a:tailEnd len="med" w="med" type="none"/>
            </a:ln>
          </p:spPr>
        </p:cxnSp>
        <p:cxnSp>
          <p:nvCxnSpPr>
            <p:cNvPr id="923" name="Google Shape;923;p27"/>
            <p:cNvCxnSpPr/>
            <p:nvPr/>
          </p:nvCxnSpPr>
          <p:spPr>
            <a:xfrm>
              <a:off x="2859" y="864"/>
              <a:ext cx="0" cy="2589"/>
            </a:xfrm>
            <a:prstGeom prst="straightConnector1">
              <a:avLst/>
            </a:prstGeom>
            <a:noFill/>
            <a:ln cap="sq" cmpd="sng" w="12600">
              <a:solidFill>
                <a:srgbClr val="000000"/>
              </a:solidFill>
              <a:prstDash val="solid"/>
              <a:miter lim="800000"/>
              <a:headEnd len="med" w="med" type="none"/>
              <a:tailEnd len="med" w="med" type="none"/>
            </a:ln>
          </p:spPr>
        </p:cxnSp>
        <p:cxnSp>
          <p:nvCxnSpPr>
            <p:cNvPr id="924" name="Google Shape;924;p27"/>
            <p:cNvCxnSpPr/>
            <p:nvPr/>
          </p:nvCxnSpPr>
          <p:spPr>
            <a:xfrm>
              <a:off x="3679" y="864"/>
              <a:ext cx="0" cy="2589"/>
            </a:xfrm>
            <a:prstGeom prst="straightConnector1">
              <a:avLst/>
            </a:prstGeom>
            <a:noFill/>
            <a:ln cap="sq" cmpd="sng" w="12600">
              <a:solidFill>
                <a:srgbClr val="000000"/>
              </a:solidFill>
              <a:prstDash val="solid"/>
              <a:miter lim="800000"/>
              <a:headEnd len="med" w="med" type="none"/>
              <a:tailEnd len="med" w="med" type="none"/>
            </a:ln>
          </p:spPr>
        </p:cxnSp>
        <p:cxnSp>
          <p:nvCxnSpPr>
            <p:cNvPr id="925" name="Google Shape;925;p27"/>
            <p:cNvCxnSpPr/>
            <p:nvPr/>
          </p:nvCxnSpPr>
          <p:spPr>
            <a:xfrm>
              <a:off x="4499" y="864"/>
              <a:ext cx="0" cy="2589"/>
            </a:xfrm>
            <a:prstGeom prst="straightConnector1">
              <a:avLst/>
            </a:prstGeom>
            <a:noFill/>
            <a:ln cap="sq" cmpd="sng" w="12600">
              <a:solidFill>
                <a:srgbClr val="000000"/>
              </a:solidFill>
              <a:prstDash val="solid"/>
              <a:miter lim="800000"/>
              <a:headEnd len="med" w="med" type="none"/>
              <a:tailEnd len="med" w="med" type="none"/>
            </a:ln>
          </p:spPr>
        </p:cxnSp>
        <p:cxnSp>
          <p:nvCxnSpPr>
            <p:cNvPr id="926" name="Google Shape;926;p27"/>
            <p:cNvCxnSpPr/>
            <p:nvPr/>
          </p:nvCxnSpPr>
          <p:spPr>
            <a:xfrm>
              <a:off x="432" y="1429"/>
              <a:ext cx="4845" cy="0"/>
            </a:xfrm>
            <a:prstGeom prst="straightConnector1">
              <a:avLst/>
            </a:prstGeom>
            <a:noFill/>
            <a:ln cap="sq" cmpd="sng" w="12600">
              <a:solidFill>
                <a:srgbClr val="000000"/>
              </a:solidFill>
              <a:prstDash val="solid"/>
              <a:miter lim="800000"/>
              <a:headEnd len="med" w="med" type="none"/>
              <a:tailEnd len="med" w="med" type="none"/>
            </a:ln>
          </p:spPr>
        </p:cxnSp>
        <p:cxnSp>
          <p:nvCxnSpPr>
            <p:cNvPr id="927" name="Google Shape;927;p27"/>
            <p:cNvCxnSpPr/>
            <p:nvPr/>
          </p:nvCxnSpPr>
          <p:spPr>
            <a:xfrm>
              <a:off x="432" y="1833"/>
              <a:ext cx="4845" cy="0"/>
            </a:xfrm>
            <a:prstGeom prst="straightConnector1">
              <a:avLst/>
            </a:prstGeom>
            <a:noFill/>
            <a:ln cap="sq" cmpd="sng" w="12600">
              <a:solidFill>
                <a:srgbClr val="000000"/>
              </a:solidFill>
              <a:prstDash val="solid"/>
              <a:miter lim="800000"/>
              <a:headEnd len="med" w="med" type="none"/>
              <a:tailEnd len="med" w="med" type="none"/>
            </a:ln>
          </p:spPr>
        </p:cxnSp>
        <p:cxnSp>
          <p:nvCxnSpPr>
            <p:cNvPr id="928" name="Google Shape;928;p27"/>
            <p:cNvCxnSpPr/>
            <p:nvPr/>
          </p:nvCxnSpPr>
          <p:spPr>
            <a:xfrm>
              <a:off x="432" y="2239"/>
              <a:ext cx="4845" cy="0"/>
            </a:xfrm>
            <a:prstGeom prst="straightConnector1">
              <a:avLst/>
            </a:prstGeom>
            <a:noFill/>
            <a:ln cap="sq" cmpd="sng" w="12600">
              <a:solidFill>
                <a:srgbClr val="000000"/>
              </a:solidFill>
              <a:prstDash val="solid"/>
              <a:miter lim="800000"/>
              <a:headEnd len="med" w="med" type="none"/>
              <a:tailEnd len="med" w="med" type="none"/>
            </a:ln>
          </p:spPr>
        </p:cxnSp>
        <p:cxnSp>
          <p:nvCxnSpPr>
            <p:cNvPr id="929" name="Google Shape;929;p27"/>
            <p:cNvCxnSpPr/>
            <p:nvPr/>
          </p:nvCxnSpPr>
          <p:spPr>
            <a:xfrm>
              <a:off x="432" y="2644"/>
              <a:ext cx="4845" cy="0"/>
            </a:xfrm>
            <a:prstGeom prst="straightConnector1">
              <a:avLst/>
            </a:prstGeom>
            <a:noFill/>
            <a:ln cap="sq" cmpd="sng" w="12600">
              <a:solidFill>
                <a:srgbClr val="000000"/>
              </a:solidFill>
              <a:prstDash val="solid"/>
              <a:miter lim="800000"/>
              <a:headEnd len="med" w="med" type="none"/>
              <a:tailEnd len="med" w="med" type="none"/>
            </a:ln>
          </p:spPr>
        </p:cxnSp>
        <p:cxnSp>
          <p:nvCxnSpPr>
            <p:cNvPr id="930" name="Google Shape;930;p27"/>
            <p:cNvCxnSpPr/>
            <p:nvPr/>
          </p:nvCxnSpPr>
          <p:spPr>
            <a:xfrm>
              <a:off x="432" y="3050"/>
              <a:ext cx="4845" cy="0"/>
            </a:xfrm>
            <a:prstGeom prst="straightConnector1">
              <a:avLst/>
            </a:prstGeom>
            <a:noFill/>
            <a:ln cap="sq" cmpd="sng" w="12600">
              <a:solidFill>
                <a:srgbClr val="000000"/>
              </a:solidFill>
              <a:prstDash val="solid"/>
              <a:miter lim="800000"/>
              <a:headEnd len="med" w="med" type="none"/>
              <a:tailEnd len="med" w="med" type="none"/>
            </a:ln>
          </p:spPr>
        </p:cxnSp>
        <p:cxnSp>
          <p:nvCxnSpPr>
            <p:cNvPr id="931" name="Google Shape;931;p27"/>
            <p:cNvCxnSpPr/>
            <p:nvPr/>
          </p:nvCxnSpPr>
          <p:spPr>
            <a:xfrm>
              <a:off x="432" y="864"/>
              <a:ext cx="0" cy="2589"/>
            </a:xfrm>
            <a:prstGeom prst="straightConnector1">
              <a:avLst/>
            </a:prstGeom>
            <a:noFill/>
            <a:ln cap="sq" cmpd="sng" w="12600">
              <a:solidFill>
                <a:srgbClr val="000000"/>
              </a:solidFill>
              <a:prstDash val="solid"/>
              <a:miter lim="800000"/>
              <a:headEnd len="med" w="med" type="none"/>
              <a:tailEnd len="med" w="med" type="none"/>
            </a:ln>
          </p:spPr>
        </p:cxnSp>
        <p:cxnSp>
          <p:nvCxnSpPr>
            <p:cNvPr id="932" name="Google Shape;932;p27"/>
            <p:cNvCxnSpPr/>
            <p:nvPr/>
          </p:nvCxnSpPr>
          <p:spPr>
            <a:xfrm>
              <a:off x="5279" y="864"/>
              <a:ext cx="0" cy="2589"/>
            </a:xfrm>
            <a:prstGeom prst="straightConnector1">
              <a:avLst/>
            </a:prstGeom>
            <a:noFill/>
            <a:ln cap="sq" cmpd="sng" w="12600">
              <a:solidFill>
                <a:srgbClr val="000000"/>
              </a:solidFill>
              <a:prstDash val="solid"/>
              <a:miter lim="800000"/>
              <a:headEnd len="med" w="med" type="none"/>
              <a:tailEnd len="med" w="med" type="none"/>
            </a:ln>
          </p:spPr>
        </p:cxnSp>
        <p:cxnSp>
          <p:nvCxnSpPr>
            <p:cNvPr id="933" name="Google Shape;933;p27"/>
            <p:cNvCxnSpPr/>
            <p:nvPr/>
          </p:nvCxnSpPr>
          <p:spPr>
            <a:xfrm>
              <a:off x="432" y="864"/>
              <a:ext cx="4845" cy="0"/>
            </a:xfrm>
            <a:prstGeom prst="straightConnector1">
              <a:avLst/>
            </a:prstGeom>
            <a:noFill/>
            <a:ln cap="sq" cmpd="sng" w="12600">
              <a:solidFill>
                <a:srgbClr val="000000"/>
              </a:solidFill>
              <a:prstDash val="solid"/>
              <a:miter lim="800000"/>
              <a:headEnd len="med" w="med" type="none"/>
              <a:tailEnd len="med" w="med" type="none"/>
            </a:ln>
          </p:spPr>
        </p:cxnSp>
        <p:cxnSp>
          <p:nvCxnSpPr>
            <p:cNvPr id="934" name="Google Shape;934;p27"/>
            <p:cNvCxnSpPr/>
            <p:nvPr/>
          </p:nvCxnSpPr>
          <p:spPr>
            <a:xfrm>
              <a:off x="432" y="3455"/>
              <a:ext cx="4845" cy="0"/>
            </a:xfrm>
            <a:prstGeom prst="straightConnector1">
              <a:avLst/>
            </a:prstGeom>
            <a:noFill/>
            <a:ln cap="sq" cmpd="sng" w="12600">
              <a:solidFill>
                <a:srgbClr val="000000"/>
              </a:solidFill>
              <a:prstDash val="solid"/>
              <a:miter lim="800000"/>
              <a:headEnd len="med" w="med" type="none"/>
              <a:tailEnd len="med" w="med" type="none"/>
            </a:ln>
          </p:spPr>
        </p:cxn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pic>
        <p:nvPicPr>
          <p:cNvPr descr="Man shows something on laptop" id="940" name="Google Shape;940;p28"/>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941" name="Google Shape;941;p28"/>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sz="3300">
                <a:solidFill>
                  <a:srgbClr val="3F3F3F"/>
                </a:solidFill>
              </a:rPr>
              <a:t>Klasifikasi Sistem Manufaktur  berdasarkan </a:t>
            </a:r>
            <a:br>
              <a:rPr b="1" lang="en-US" sz="3300">
                <a:solidFill>
                  <a:srgbClr val="3F3F3F"/>
                </a:solidFill>
              </a:rPr>
            </a:br>
            <a:r>
              <a:rPr b="1" lang="en-US" sz="3300">
                <a:solidFill>
                  <a:srgbClr val="3F3F3F"/>
                </a:solidFill>
              </a:rPr>
              <a:t>Tata Letak (Layout) :</a:t>
            </a:r>
            <a:endParaRPr b="1" sz="3300">
              <a:solidFill>
                <a:srgbClr val="3F3F3F"/>
              </a:solidFill>
            </a:endParaRPr>
          </a:p>
        </p:txBody>
      </p:sp>
      <p:sp>
        <p:nvSpPr>
          <p:cNvPr id="942" name="Google Shape;94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943" name="Google Shape;94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lang="en-US" sz="1200">
                <a:solidFill>
                  <a:srgbClr val="FFFFFF"/>
                </a:solidFill>
                <a:latin typeface="Calibri"/>
                <a:ea typeface="Calibri"/>
                <a:cs typeface="Calibri"/>
                <a:sym typeface="Calibri"/>
              </a:rPr>
              <a:t>‹#›</a:t>
            </a:fld>
            <a:endParaRPr sz="1200">
              <a:solidFill>
                <a:srgbClr val="FFFFFF"/>
              </a:solidFill>
              <a:latin typeface="Calibri"/>
              <a:ea typeface="Calibri"/>
              <a:cs typeface="Calibri"/>
              <a:sym typeface="Calibri"/>
            </a:endParaRPr>
          </a:p>
        </p:txBody>
      </p:sp>
      <p:pic>
        <p:nvPicPr>
          <p:cNvPr id="944" name="Google Shape;944;p28"/>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945" name="Google Shape;945;p28"/>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sp>
        <p:nvSpPr>
          <p:cNvPr id="946" name="Google Shape;946;p28"/>
          <p:cNvSpPr txBox="1"/>
          <p:nvPr/>
        </p:nvSpPr>
        <p:spPr>
          <a:xfrm>
            <a:off x="177800" y="1497013"/>
            <a:ext cx="4905375" cy="646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1"/>
                </a:solidFill>
                <a:latin typeface="Calibri"/>
                <a:ea typeface="Calibri"/>
                <a:cs typeface="Calibri"/>
                <a:sym typeface="Calibri"/>
              </a:rPr>
              <a:t>1. Fixed Position: </a:t>
            </a:r>
            <a:endParaRPr/>
          </a:p>
        </p:txBody>
      </p:sp>
      <p:sp>
        <p:nvSpPr>
          <p:cNvPr id="947" name="Google Shape;947;p28"/>
          <p:cNvSpPr txBox="1"/>
          <p:nvPr/>
        </p:nvSpPr>
        <p:spPr>
          <a:xfrm>
            <a:off x="3502025" y="3973513"/>
            <a:ext cx="4905375" cy="646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1"/>
                </a:solidFill>
                <a:latin typeface="Calibri"/>
                <a:ea typeface="Calibri"/>
                <a:cs typeface="Calibri"/>
                <a:sym typeface="Calibri"/>
              </a:rPr>
              <a:t>3. Product Flow : </a:t>
            </a:r>
            <a:endParaRPr/>
          </a:p>
        </p:txBody>
      </p:sp>
      <p:sp>
        <p:nvSpPr>
          <p:cNvPr id="948" name="Google Shape;948;p28"/>
          <p:cNvSpPr txBox="1"/>
          <p:nvPr/>
        </p:nvSpPr>
        <p:spPr>
          <a:xfrm>
            <a:off x="6958013" y="1590675"/>
            <a:ext cx="4905375" cy="64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1"/>
                </a:solidFill>
                <a:latin typeface="Calibri"/>
                <a:ea typeface="Calibri"/>
                <a:cs typeface="Calibri"/>
                <a:sym typeface="Calibri"/>
              </a:rPr>
              <a:t>2. Process :</a:t>
            </a:r>
            <a:endParaRPr/>
          </a:p>
        </p:txBody>
      </p:sp>
      <p:pic>
        <p:nvPicPr>
          <p:cNvPr id="949" name="Google Shape;949;p28"/>
          <p:cNvPicPr preferRelativeResize="0"/>
          <p:nvPr>
            <p:ph idx="1" type="body"/>
          </p:nvPr>
        </p:nvPicPr>
        <p:blipFill rotWithShape="1">
          <a:blip r:embed="rId6">
            <a:alphaModFix/>
          </a:blip>
          <a:srcRect b="59099" l="0" r="0" t="0"/>
          <a:stretch/>
        </p:blipFill>
        <p:spPr>
          <a:xfrm>
            <a:off x="682625" y="2179638"/>
            <a:ext cx="3101975" cy="2030412"/>
          </a:xfrm>
          <a:prstGeom prst="rect">
            <a:avLst/>
          </a:prstGeom>
          <a:noFill/>
          <a:ln>
            <a:noFill/>
          </a:ln>
        </p:spPr>
      </p:pic>
      <p:pic>
        <p:nvPicPr>
          <p:cNvPr id="950" name="Google Shape;950;p28"/>
          <p:cNvPicPr preferRelativeResize="0"/>
          <p:nvPr/>
        </p:nvPicPr>
        <p:blipFill rotWithShape="1">
          <a:blip r:embed="rId6">
            <a:alphaModFix/>
          </a:blip>
          <a:srcRect b="31761" l="0" r="0" t="40900"/>
          <a:stretch/>
        </p:blipFill>
        <p:spPr>
          <a:xfrm>
            <a:off x="6880225" y="2432050"/>
            <a:ext cx="4473575" cy="1558925"/>
          </a:xfrm>
          <a:prstGeom prst="rect">
            <a:avLst/>
          </a:prstGeom>
          <a:noFill/>
          <a:ln>
            <a:noFill/>
          </a:ln>
        </p:spPr>
      </p:pic>
      <p:pic>
        <p:nvPicPr>
          <p:cNvPr id="951" name="Google Shape;951;p28"/>
          <p:cNvPicPr preferRelativeResize="0"/>
          <p:nvPr/>
        </p:nvPicPr>
        <p:blipFill rotWithShape="1">
          <a:blip r:embed="rId6">
            <a:alphaModFix/>
          </a:blip>
          <a:srcRect b="0" l="0" r="0" t="68283"/>
          <a:stretch/>
        </p:blipFill>
        <p:spPr>
          <a:xfrm>
            <a:off x="2235200" y="4619625"/>
            <a:ext cx="5562600" cy="129698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pic>
        <p:nvPicPr>
          <p:cNvPr descr="Man shows something on laptop" id="957" name="Google Shape;957;p29"/>
          <p:cNvPicPr preferRelativeResize="0"/>
          <p:nvPr>
            <p:ph idx="2" type="pic"/>
          </p:nvPr>
        </p:nvPicPr>
        <p:blipFill rotWithShape="1">
          <a:blip r:embed="rId3">
            <a:alphaModFix/>
          </a:blip>
          <a:srcRect b="0" l="0" r="0" t="0"/>
          <a:stretch/>
        </p:blipFill>
        <p:spPr>
          <a:xfrm>
            <a:off x="0" y="0"/>
            <a:ext cx="12204700" cy="6413500"/>
          </a:xfrm>
          <a:prstGeom prst="rect">
            <a:avLst/>
          </a:prstGeom>
          <a:noFill/>
          <a:ln>
            <a:noFill/>
          </a:ln>
        </p:spPr>
      </p:pic>
      <p:sp>
        <p:nvSpPr>
          <p:cNvPr id="958" name="Google Shape;958;p29"/>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a:solidFill>
                  <a:srgbClr val="3F3F3F"/>
                </a:solidFill>
              </a:rPr>
              <a:t>Kesimpulan :</a:t>
            </a:r>
            <a:endParaRPr b="1">
              <a:solidFill>
                <a:srgbClr val="3F3F3F"/>
              </a:solidFill>
            </a:endParaRPr>
          </a:p>
        </p:txBody>
      </p:sp>
      <p:sp>
        <p:nvSpPr>
          <p:cNvPr id="959" name="Google Shape;959;p29"/>
          <p:cNvSpPr txBox="1"/>
          <p:nvPr>
            <p:ph idx="1" type="body"/>
          </p:nvPr>
        </p:nvSpPr>
        <p:spPr>
          <a:xfrm>
            <a:off x="446088" y="1812925"/>
            <a:ext cx="11207750" cy="40878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3200"/>
              <a:buFont typeface="Comic Sans MS"/>
              <a:buChar char="•"/>
            </a:pPr>
            <a:r>
              <a:rPr lang="en-US" sz="3200">
                <a:latin typeface="Calibri"/>
                <a:ea typeface="Calibri"/>
                <a:cs typeface="Calibri"/>
                <a:sym typeface="Calibri"/>
              </a:rPr>
              <a:t>Setiap jenis sistem produksi memerlukan proses perencanaan dan pengendalian yang berbeda.</a:t>
            </a:r>
            <a:endParaRPr/>
          </a:p>
          <a:p>
            <a:pPr indent="-228600" lvl="0" marL="228600" rtl="0" algn="l">
              <a:lnSpc>
                <a:spcPct val="90000"/>
              </a:lnSpc>
              <a:spcBef>
                <a:spcPts val="600"/>
              </a:spcBef>
              <a:spcAft>
                <a:spcPts val="0"/>
              </a:spcAft>
              <a:buClr>
                <a:schemeClr val="dk1"/>
              </a:buClr>
              <a:buSzPts val="3200"/>
              <a:buFont typeface="Comic Sans MS"/>
              <a:buChar char="•"/>
            </a:pPr>
            <a:r>
              <a:rPr lang="en-US" sz="3200">
                <a:latin typeface="Calibri"/>
                <a:ea typeface="Calibri"/>
                <a:cs typeface="Calibri"/>
                <a:sym typeface="Calibri"/>
              </a:rPr>
              <a:t>Setiap jenis sistem manufaktur mempunyai kelebihan dan kekurangan.</a:t>
            </a:r>
            <a:endParaRPr/>
          </a:p>
          <a:p>
            <a:pPr indent="-228600" lvl="0" marL="228600" rtl="0" algn="l">
              <a:lnSpc>
                <a:spcPct val="90000"/>
              </a:lnSpc>
              <a:spcBef>
                <a:spcPts val="600"/>
              </a:spcBef>
              <a:spcAft>
                <a:spcPts val="0"/>
              </a:spcAft>
              <a:buClr>
                <a:schemeClr val="dk1"/>
              </a:buClr>
              <a:buSzPts val="3200"/>
              <a:buFont typeface="Comic Sans MS"/>
              <a:buChar char="•"/>
            </a:pPr>
            <a:r>
              <a:rPr lang="en-US" sz="3200">
                <a:latin typeface="Calibri"/>
                <a:ea typeface="Calibri"/>
                <a:cs typeface="Calibri"/>
                <a:sym typeface="Calibri"/>
              </a:rPr>
              <a:t>Perencanaan dan pengendalian produksi bertujuan agar aktivitas produksi berjalan seefektif dan seefisien mungkin.</a:t>
            </a:r>
            <a:endParaRPr/>
          </a:p>
          <a:p>
            <a:pPr indent="-228600" lvl="0" marL="228600" rtl="0" algn="l">
              <a:lnSpc>
                <a:spcPct val="90000"/>
              </a:lnSpc>
              <a:spcBef>
                <a:spcPts val="600"/>
              </a:spcBef>
              <a:spcAft>
                <a:spcPts val="0"/>
              </a:spcAft>
              <a:buClr>
                <a:schemeClr val="dk1"/>
              </a:buClr>
              <a:buSzPts val="3200"/>
              <a:buFont typeface="Comic Sans MS"/>
              <a:buChar char="•"/>
            </a:pPr>
            <a:r>
              <a:rPr lang="en-US" sz="3200">
                <a:latin typeface="Calibri"/>
                <a:ea typeface="Calibri"/>
                <a:cs typeface="Calibri"/>
                <a:sym typeface="Calibri"/>
              </a:rPr>
              <a:t>Sistem manufaktur mempunyai pengertian yang lebih luas daripada sistem produksi.</a:t>
            </a:r>
            <a:endParaRPr/>
          </a:p>
          <a:p>
            <a:pPr indent="-228600" lvl="0" marL="228600" rtl="0" algn="l">
              <a:lnSpc>
                <a:spcPct val="80000"/>
              </a:lnSpc>
              <a:spcBef>
                <a:spcPts val="500"/>
              </a:spcBef>
              <a:spcAft>
                <a:spcPts val="0"/>
              </a:spcAft>
              <a:buClr>
                <a:schemeClr val="dk1"/>
              </a:buClr>
              <a:buSzPts val="3200"/>
              <a:buFont typeface="Comic Sans MS"/>
              <a:buChar char="•"/>
            </a:pPr>
            <a:r>
              <a:rPr lang="en-US" sz="3200">
                <a:latin typeface="Calibri"/>
                <a:ea typeface="Calibri"/>
                <a:cs typeface="Calibri"/>
                <a:sym typeface="Calibri"/>
              </a:rPr>
              <a:t>Biasa digunakan pada industri gula, minyak, dan logam lainnya.</a:t>
            </a:r>
            <a:r>
              <a:rPr lang="en-US">
                <a:latin typeface="Calibri"/>
                <a:ea typeface="Calibri"/>
                <a:cs typeface="Calibri"/>
                <a:sym typeface="Calibri"/>
              </a:rPr>
              <a:t>  </a:t>
            </a:r>
            <a:endParaRPr/>
          </a:p>
          <a:p>
            <a:pPr indent="0" lvl="0" marL="0" rtl="0" algn="l">
              <a:lnSpc>
                <a:spcPct val="90000"/>
              </a:lnSpc>
              <a:spcBef>
                <a:spcPts val="1000"/>
              </a:spcBef>
              <a:spcAft>
                <a:spcPts val="0"/>
              </a:spcAft>
              <a:buClr>
                <a:schemeClr val="dk1"/>
              </a:buClr>
              <a:buSzPts val="3200"/>
              <a:buFont typeface="Arial"/>
              <a:buNone/>
            </a:pPr>
            <a:r>
              <a:t/>
            </a:r>
            <a:endParaRPr sz="3200"/>
          </a:p>
        </p:txBody>
      </p:sp>
      <p:sp>
        <p:nvSpPr>
          <p:cNvPr id="960" name="Google Shape;96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961" name="Google Shape;96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lang="en-US" sz="1200">
                <a:solidFill>
                  <a:srgbClr val="FFFFFF"/>
                </a:solidFill>
                <a:latin typeface="Calibri"/>
                <a:ea typeface="Calibri"/>
                <a:cs typeface="Calibri"/>
                <a:sym typeface="Calibri"/>
              </a:rPr>
              <a:t>‹#›</a:t>
            </a:fld>
            <a:endParaRPr sz="1200">
              <a:solidFill>
                <a:srgbClr val="FFFFFF"/>
              </a:solidFill>
              <a:latin typeface="Calibri"/>
              <a:ea typeface="Calibri"/>
              <a:cs typeface="Calibri"/>
              <a:sym typeface="Calibri"/>
            </a:endParaRPr>
          </a:p>
        </p:txBody>
      </p:sp>
      <p:pic>
        <p:nvPicPr>
          <p:cNvPr id="962" name="Google Shape;962;p29"/>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963" name="Google Shape;963;p29"/>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pic>
        <p:nvPicPr>
          <p:cNvPr descr="Man shows something on laptop" id="969" name="Google Shape;969;p30"/>
          <p:cNvPicPr preferRelativeResize="0"/>
          <p:nvPr>
            <p:ph idx="2" type="pic"/>
          </p:nvPr>
        </p:nvPicPr>
        <p:blipFill rotWithShape="1">
          <a:blip r:embed="rId3">
            <a:alphaModFix/>
          </a:blip>
          <a:srcRect b="0" l="0" r="0" t="0"/>
          <a:stretch/>
        </p:blipFill>
        <p:spPr>
          <a:xfrm>
            <a:off x="107950" y="307975"/>
            <a:ext cx="12204700" cy="6413500"/>
          </a:xfrm>
          <a:prstGeom prst="rect">
            <a:avLst/>
          </a:prstGeom>
          <a:noFill/>
          <a:ln>
            <a:noFill/>
          </a:ln>
        </p:spPr>
      </p:pic>
      <p:sp>
        <p:nvSpPr>
          <p:cNvPr id="970" name="Google Shape;970;p30"/>
          <p:cNvSpPr txBox="1"/>
          <p:nvPr>
            <p:ph type="title"/>
          </p:nvPr>
        </p:nvSpPr>
        <p:spPr>
          <a:xfrm>
            <a:off x="0" y="0"/>
            <a:ext cx="12192000" cy="1296988"/>
          </a:xfrm>
          <a:prstGeom prst="rect">
            <a:avLst/>
          </a:prstGeom>
          <a:solidFill>
            <a:srgbClr val="B3C6E7">
              <a:alpha val="49803"/>
            </a:srgbClr>
          </a:solidFill>
          <a:ln>
            <a:noFill/>
          </a:ln>
        </p:spPr>
        <p:txBody>
          <a:bodyPr anchorCtr="0" anchor="ctr" bIns="45700" lIns="684000" spcFirstLastPara="1" rIns="91425" wrap="square" tIns="108000">
            <a:normAutofit/>
          </a:bodyPr>
          <a:lstStyle/>
          <a:p>
            <a:pPr indent="0" lvl="0" marL="0" rtl="0" algn="l">
              <a:lnSpc>
                <a:spcPct val="90000"/>
              </a:lnSpc>
              <a:spcBef>
                <a:spcPts val="0"/>
              </a:spcBef>
              <a:spcAft>
                <a:spcPts val="0"/>
              </a:spcAft>
              <a:buNone/>
            </a:pPr>
            <a:r>
              <a:rPr b="1" lang="en-US">
                <a:solidFill>
                  <a:srgbClr val="3F3F3F"/>
                </a:solidFill>
              </a:rPr>
              <a:t>Tugas :</a:t>
            </a:r>
            <a:endParaRPr b="1">
              <a:solidFill>
                <a:srgbClr val="3F3F3F"/>
              </a:solidFill>
            </a:endParaRPr>
          </a:p>
        </p:txBody>
      </p:sp>
      <p:sp>
        <p:nvSpPr>
          <p:cNvPr id="971" name="Google Shape;971;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Pengantar Industri Otomotif (PIO)</a:t>
            </a:r>
            <a:endParaRPr/>
          </a:p>
        </p:txBody>
      </p:sp>
      <p:sp>
        <p:nvSpPr>
          <p:cNvPr id="972" name="Google Shape;97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lang="en-US" sz="1200">
                <a:solidFill>
                  <a:srgbClr val="FFFFFF"/>
                </a:solidFill>
                <a:latin typeface="Calibri"/>
                <a:ea typeface="Calibri"/>
                <a:cs typeface="Calibri"/>
                <a:sym typeface="Calibri"/>
              </a:rPr>
              <a:t>‹#›</a:t>
            </a:fld>
            <a:endParaRPr sz="1200">
              <a:solidFill>
                <a:srgbClr val="FFFFFF"/>
              </a:solidFill>
              <a:latin typeface="Calibri"/>
              <a:ea typeface="Calibri"/>
              <a:cs typeface="Calibri"/>
              <a:sym typeface="Calibri"/>
            </a:endParaRPr>
          </a:p>
        </p:txBody>
      </p:sp>
      <p:pic>
        <p:nvPicPr>
          <p:cNvPr id="973" name="Google Shape;973;p30"/>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974" name="Google Shape;974;p30"/>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sp>
        <p:nvSpPr>
          <p:cNvPr id="975" name="Google Shape;975;p30"/>
          <p:cNvSpPr txBox="1"/>
          <p:nvPr>
            <p:ph idx="1" type="body"/>
          </p:nvPr>
        </p:nvSpPr>
        <p:spPr>
          <a:xfrm>
            <a:off x="317669" y="1314461"/>
            <a:ext cx="11556662" cy="870806"/>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Cari Riwaya hidup + Foto, Konsep keilmuan yg ditemukan dan aplikasinya di bidang Teknik Industri apa dari tokoh-tokoh di bawah ini :</a:t>
            </a:r>
            <a:endParaRPr/>
          </a:p>
        </p:txBody>
      </p:sp>
      <p:graphicFrame>
        <p:nvGraphicFramePr>
          <p:cNvPr id="976" name="Google Shape;976;p30"/>
          <p:cNvGraphicFramePr/>
          <p:nvPr/>
        </p:nvGraphicFramePr>
        <p:xfrm>
          <a:off x="317670" y="2231188"/>
          <a:ext cx="3000000" cy="3000000"/>
        </p:xfrm>
        <a:graphic>
          <a:graphicData uri="http://schemas.openxmlformats.org/drawingml/2006/table">
            <a:tbl>
              <a:tblPr bandRow="1" firstRow="1">
                <a:noFill/>
                <a:tableStyleId>{292D6408-4200-4D1F-94EE-6CFA0FCB0BF6}</a:tableStyleId>
              </a:tblPr>
              <a:tblGrid>
                <a:gridCol w="466350"/>
                <a:gridCol w="1752100"/>
              </a:tblGrid>
              <a:tr h="312000">
                <a:tc gridSpan="2">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Scientific Management</a:t>
                      </a:r>
                      <a:endParaRPr/>
                    </a:p>
                  </a:txBody>
                  <a:tcPr marT="45725" marB="45725" marR="91450" marL="91450"/>
                </a:tc>
                <a:tc hMerge="1"/>
              </a:tr>
              <a:tr h="312000">
                <a:tc>
                  <a:txBody>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No</a:t>
                      </a:r>
                      <a:endParaRPr/>
                    </a:p>
                  </a:txBody>
                  <a:tcPr marT="45725" marB="45725" marR="91450" marL="91450"/>
                </a:tc>
                <a:tc>
                  <a:txBody>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Nama</a:t>
                      </a:r>
                      <a:endParaRPr/>
                    </a:p>
                  </a:txBody>
                  <a:tcPr marT="45725" marB="45725" marR="91450" marL="91450"/>
                </a:tc>
              </a:tr>
              <a:tr h="312000">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1</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Adam Smith</a:t>
                      </a:r>
                      <a:endParaRPr/>
                    </a:p>
                  </a:txBody>
                  <a:tcPr marT="45725" marB="45725" marR="91450" marL="91450"/>
                </a:tc>
              </a:tr>
              <a:tr h="312000">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2</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Eli Whitney</a:t>
                      </a:r>
                      <a:endParaRPr/>
                    </a:p>
                  </a:txBody>
                  <a:tcPr marT="45725" marB="45725" marR="91450" marL="91450"/>
                </a:tc>
              </a:tr>
              <a:tr h="312000">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3</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F. Taylor</a:t>
                      </a:r>
                      <a:endParaRPr/>
                    </a:p>
                  </a:txBody>
                  <a:tcPr marT="45725" marB="45725" marR="91450" marL="91450"/>
                </a:tc>
              </a:tr>
              <a:tr h="494750">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4</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Frank &amp; Lilian Gilbreth</a:t>
                      </a:r>
                      <a:endParaRPr/>
                    </a:p>
                  </a:txBody>
                  <a:tcPr marT="45725" marB="45725" marR="91450" marL="91450"/>
                </a:tc>
              </a:tr>
              <a:tr h="312000">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5</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C. Babbage</a:t>
                      </a:r>
                      <a:endParaRPr/>
                    </a:p>
                  </a:txBody>
                  <a:tcPr marT="45725" marB="45725" marR="91450" marL="91450"/>
                </a:tc>
              </a:tr>
              <a:tr h="312000">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6</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Gantt</a:t>
                      </a:r>
                      <a:endParaRPr/>
                    </a:p>
                  </a:txBody>
                  <a:tcPr marT="45725" marB="45725" marR="91450" marL="91450"/>
                </a:tc>
              </a:tr>
              <a:tr h="312000">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7</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Barnes</a:t>
                      </a:r>
                      <a:endParaRPr/>
                    </a:p>
                  </a:txBody>
                  <a:tcPr marT="45725" marB="45725" marR="91450" marL="91450"/>
                </a:tc>
              </a:tr>
              <a:tr h="312000">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8</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Muther &amp; Apple</a:t>
                      </a:r>
                      <a:endParaRPr/>
                    </a:p>
                  </a:txBody>
                  <a:tcPr marT="45725" marB="45725" marR="91450" marL="91450"/>
                </a:tc>
              </a:tr>
              <a:tr h="312000">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9</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Shewhard</a:t>
                      </a:r>
                      <a:endParaRPr sz="1400">
                        <a:solidFill>
                          <a:schemeClr val="dk1"/>
                        </a:solidFill>
                        <a:latin typeface="Calibri"/>
                        <a:ea typeface="Calibri"/>
                        <a:cs typeface="Calibri"/>
                        <a:sym typeface="Calibri"/>
                      </a:endParaRPr>
                    </a:p>
                  </a:txBody>
                  <a:tcPr marT="45725" marB="45725" marR="91450" marL="91450"/>
                </a:tc>
              </a:tr>
            </a:tbl>
          </a:graphicData>
        </a:graphic>
      </p:graphicFrame>
      <p:graphicFrame>
        <p:nvGraphicFramePr>
          <p:cNvPr id="977" name="Google Shape;977;p30"/>
          <p:cNvGraphicFramePr/>
          <p:nvPr/>
        </p:nvGraphicFramePr>
        <p:xfrm>
          <a:off x="2620351" y="2231188"/>
          <a:ext cx="3000000" cy="3000000"/>
        </p:xfrm>
        <a:graphic>
          <a:graphicData uri="http://schemas.openxmlformats.org/drawingml/2006/table">
            <a:tbl>
              <a:tblPr bandRow="1" firstRow="1">
                <a:noFill/>
                <a:tableStyleId>{0157BEA7-82FA-4515-A05D-2D9F716986CC}</a:tableStyleId>
              </a:tblPr>
              <a:tblGrid>
                <a:gridCol w="466350"/>
                <a:gridCol w="1752100"/>
              </a:tblGrid>
              <a:tr h="269250">
                <a:tc gridSpan="2">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Administrative Management</a:t>
                      </a:r>
                      <a:endParaRPr/>
                    </a:p>
                  </a:txBody>
                  <a:tcPr marT="45725" marB="45725" marR="91450" marL="91450"/>
                </a:tc>
                <a:tc hMerge="1"/>
              </a:tr>
              <a:tr h="269250">
                <a:tc>
                  <a:txBody>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No</a:t>
                      </a:r>
                      <a:endParaRPr/>
                    </a:p>
                  </a:txBody>
                  <a:tcPr marT="45725" marB="45725" marR="91450" marL="91450"/>
                </a:tc>
                <a:tc>
                  <a:txBody>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Nama</a:t>
                      </a:r>
                      <a:endParaRPr/>
                    </a:p>
                  </a:txBody>
                  <a:tcPr marT="45725" marB="45725" marR="91450" marL="91450"/>
                </a:tc>
              </a:tr>
              <a:tr h="269250">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1</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Henry Fayol</a:t>
                      </a:r>
                      <a:endParaRPr/>
                    </a:p>
                  </a:txBody>
                  <a:tcPr marT="45725" marB="45725" marR="91450" marL="91450"/>
                </a:tc>
              </a:tr>
              <a:tr h="269250">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2</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Rensis Likert</a:t>
                      </a:r>
                      <a:endParaRPr/>
                    </a:p>
                  </a:txBody>
                  <a:tcPr marT="45725" marB="45725" marR="91450" marL="91450"/>
                </a:tc>
              </a:tr>
              <a:tr h="269250">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3</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Robert Owen</a:t>
                      </a:r>
                      <a:endParaRPr/>
                    </a:p>
                  </a:txBody>
                  <a:tcPr marT="45725" marB="45725" marR="91450" marL="91450"/>
                </a:tc>
              </a:tr>
              <a:tr h="269250">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4</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Max Weber</a:t>
                      </a:r>
                      <a:endParaRPr/>
                    </a:p>
                  </a:txBody>
                  <a:tcPr marT="45725" marB="45725" marR="91450" marL="91450"/>
                </a:tc>
              </a:tr>
              <a:tr h="269250">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5</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Edger Schein</a:t>
                      </a:r>
                      <a:endParaRPr/>
                    </a:p>
                  </a:txBody>
                  <a:tcPr marT="45725" marB="45725" marR="91450" marL="91450"/>
                </a:tc>
              </a:tr>
            </a:tbl>
          </a:graphicData>
        </a:graphic>
      </p:graphicFrame>
      <p:graphicFrame>
        <p:nvGraphicFramePr>
          <p:cNvPr id="978" name="Google Shape;978;p30"/>
          <p:cNvGraphicFramePr/>
          <p:nvPr/>
        </p:nvGraphicFramePr>
        <p:xfrm>
          <a:off x="4923033" y="2254005"/>
          <a:ext cx="3000000" cy="3000000"/>
        </p:xfrm>
        <a:graphic>
          <a:graphicData uri="http://schemas.openxmlformats.org/drawingml/2006/table">
            <a:tbl>
              <a:tblPr bandRow="1" firstRow="1">
                <a:noFill/>
                <a:tableStyleId>{292D6408-4200-4D1F-94EE-6CFA0FCB0BF6}</a:tableStyleId>
              </a:tblPr>
              <a:tblGrid>
                <a:gridCol w="466350"/>
                <a:gridCol w="1752100"/>
              </a:tblGrid>
              <a:tr h="495200">
                <a:tc gridSpan="2">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Human Relations &amp; Behavior Management</a:t>
                      </a:r>
                      <a:endParaRPr/>
                    </a:p>
                  </a:txBody>
                  <a:tcPr marT="45725" marB="45725" marR="91450" marL="91450"/>
                </a:tc>
                <a:tc hMerge="1"/>
              </a:tr>
              <a:tr h="293475">
                <a:tc>
                  <a:txBody>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No</a:t>
                      </a:r>
                      <a:endParaRPr/>
                    </a:p>
                  </a:txBody>
                  <a:tcPr marT="45725" marB="45725" marR="91450" marL="91450"/>
                </a:tc>
                <a:tc>
                  <a:txBody>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Nama</a:t>
                      </a:r>
                      <a:endParaRPr/>
                    </a:p>
                  </a:txBody>
                  <a:tcPr marT="45725" marB="45725" marR="91450" marL="91450"/>
                </a:tc>
              </a:tr>
              <a:tr h="293475">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1</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Elton Mayo</a:t>
                      </a:r>
                      <a:endParaRPr/>
                    </a:p>
                  </a:txBody>
                  <a:tcPr marT="45725" marB="45725" marR="91450" marL="91450"/>
                </a:tc>
              </a:tr>
              <a:tr h="293475">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2</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Barnard</a:t>
                      </a:r>
                      <a:endParaRPr/>
                    </a:p>
                  </a:txBody>
                  <a:tcPr marT="45725" marB="45725" marR="91450" marL="91450"/>
                </a:tc>
              </a:tr>
              <a:tr h="293475">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3</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F.ollet</a:t>
                      </a:r>
                      <a:endParaRPr sz="1400">
                        <a:solidFill>
                          <a:schemeClr val="dk1"/>
                        </a:solidFill>
                        <a:latin typeface="Calibri"/>
                        <a:ea typeface="Calibri"/>
                        <a:cs typeface="Calibri"/>
                        <a:sym typeface="Calibri"/>
                      </a:endParaRPr>
                    </a:p>
                  </a:txBody>
                  <a:tcPr marT="45725" marB="45725" marR="91450" marL="91450"/>
                </a:tc>
              </a:tr>
              <a:tr h="293475">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4</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Maslow</a:t>
                      </a:r>
                      <a:endParaRPr/>
                    </a:p>
                  </a:txBody>
                  <a:tcPr marT="45725" marB="45725" marR="91450" marL="91450"/>
                </a:tc>
              </a:tr>
              <a:tr h="293475">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5</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Ouchi</a:t>
                      </a:r>
                      <a:endParaRPr sz="1400">
                        <a:solidFill>
                          <a:schemeClr val="dk1"/>
                        </a:solidFill>
                        <a:latin typeface="Calibri"/>
                        <a:ea typeface="Calibri"/>
                        <a:cs typeface="Calibri"/>
                        <a:sym typeface="Calibri"/>
                      </a:endParaRPr>
                    </a:p>
                  </a:txBody>
                  <a:tcPr marT="45725" marB="45725" marR="91450" marL="91450"/>
                </a:tc>
              </a:tr>
              <a:tr h="293475">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6</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Oliver Sheldon</a:t>
                      </a:r>
                      <a:endParaRPr/>
                    </a:p>
                  </a:txBody>
                  <a:tcPr marT="45725" marB="45725" marR="91450" marL="91450"/>
                </a:tc>
              </a:tr>
              <a:tr h="293475">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7</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McGregor</a:t>
                      </a:r>
                      <a:endParaRPr/>
                    </a:p>
                  </a:txBody>
                  <a:tcPr marT="45725" marB="45725" marR="91450" marL="91450"/>
                </a:tc>
              </a:tr>
              <a:tr h="293475">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8</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Hugo Munsterberg</a:t>
                      </a:r>
                      <a:endParaRPr/>
                    </a:p>
                  </a:txBody>
                  <a:tcPr marT="45725" marB="45725" marR="91450" marL="91450"/>
                </a:tc>
              </a:tr>
              <a:tr h="293475">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9</a:t>
                      </a:r>
                      <a:endParaRPr/>
                    </a:p>
                  </a:txBody>
                  <a:tcPr marT="45725" marB="45725" marR="91450" marL="91450"/>
                </a:tc>
                <a:tc>
                  <a:txBody>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Chris Argyris</a:t>
                      </a:r>
                      <a:endParaRPr/>
                    </a:p>
                  </a:txBody>
                  <a:tcPr marT="45725" marB="45725" marR="91450" marL="91450"/>
                </a:tc>
              </a:tr>
            </a:tbl>
          </a:graphicData>
        </a:graphic>
      </p:graphicFrame>
      <p:graphicFrame>
        <p:nvGraphicFramePr>
          <p:cNvPr id="979" name="Google Shape;979;p30"/>
          <p:cNvGraphicFramePr/>
          <p:nvPr/>
        </p:nvGraphicFramePr>
        <p:xfrm>
          <a:off x="7249434" y="2258811"/>
          <a:ext cx="3000000" cy="3000000"/>
        </p:xfrm>
        <a:graphic>
          <a:graphicData uri="http://schemas.openxmlformats.org/drawingml/2006/table">
            <a:tbl>
              <a:tblPr bandRow="1" firstRow="1">
                <a:noFill/>
                <a:tableStyleId>{0157BEA7-82FA-4515-A05D-2D9F716986CC}</a:tableStyleId>
              </a:tblPr>
              <a:tblGrid>
                <a:gridCol w="423700"/>
                <a:gridCol w="1591875"/>
              </a:tblGrid>
              <a:tr h="238475">
                <a:tc gridSpan="2">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Management Science</a:t>
                      </a:r>
                      <a:endParaRPr/>
                    </a:p>
                  </a:txBody>
                  <a:tcPr marT="45725" marB="45725" marR="91450" marL="91450"/>
                </a:tc>
                <a:tc hMerge="1"/>
              </a:tr>
              <a:tr h="261350">
                <a:tc>
                  <a:txBody>
                    <a:bodyPr/>
                    <a:lstStyle/>
                    <a:p>
                      <a:pPr indent="0" lvl="0" marL="0" marR="0" rtl="0" algn="ctr">
                        <a:spcBef>
                          <a:spcPts val="0"/>
                        </a:spcBef>
                        <a:spcAft>
                          <a:spcPts val="0"/>
                        </a:spcAft>
                        <a:buNone/>
                      </a:pPr>
                      <a:r>
                        <a:rPr b="1" lang="en-US" sz="1200">
                          <a:solidFill>
                            <a:schemeClr val="dk1"/>
                          </a:solidFill>
                          <a:latin typeface="Calibri"/>
                          <a:ea typeface="Calibri"/>
                          <a:cs typeface="Calibri"/>
                          <a:sym typeface="Calibri"/>
                        </a:rPr>
                        <a:t>No</a:t>
                      </a:r>
                      <a:endParaRPr/>
                    </a:p>
                  </a:txBody>
                  <a:tcPr marT="45725" marB="45725" marR="91450" marL="91450"/>
                </a:tc>
                <a:tc>
                  <a:txBody>
                    <a:bodyPr/>
                    <a:lstStyle/>
                    <a:p>
                      <a:pPr indent="0" lvl="0" marL="0" marR="0" rtl="0" algn="ctr">
                        <a:spcBef>
                          <a:spcPts val="0"/>
                        </a:spcBef>
                        <a:spcAft>
                          <a:spcPts val="0"/>
                        </a:spcAft>
                        <a:buNone/>
                      </a:pPr>
                      <a:r>
                        <a:rPr b="1" lang="en-US" sz="1200">
                          <a:solidFill>
                            <a:schemeClr val="dk1"/>
                          </a:solidFill>
                          <a:latin typeface="Calibri"/>
                          <a:ea typeface="Calibri"/>
                          <a:cs typeface="Calibri"/>
                          <a:sym typeface="Calibri"/>
                        </a:rPr>
                        <a:t>Nama</a:t>
                      </a:r>
                      <a:endParaRPr/>
                    </a:p>
                  </a:txBody>
                  <a:tcPr marT="45725" marB="45725" marR="91450" marL="91450"/>
                </a:tc>
              </a:tr>
              <a:tr h="261350">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1</a:t>
                      </a:r>
                      <a:endParaRPr/>
                    </a:p>
                  </a:txBody>
                  <a:tcPr marT="45725" marB="45725" marR="91450" marL="91450"/>
                </a:tc>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Harold W. Kuhn</a:t>
                      </a:r>
                      <a:endParaRPr/>
                    </a:p>
                  </a:txBody>
                  <a:tcPr marT="45725" marB="45725" marR="91450" marL="91450"/>
                </a:tc>
              </a:tr>
              <a:tr h="261350">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2</a:t>
                      </a:r>
                      <a:endParaRPr/>
                    </a:p>
                  </a:txBody>
                  <a:tcPr marT="45725" marB="45725" marR="91450" marL="91450"/>
                </a:tc>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Thomas L. Saaty</a:t>
                      </a:r>
                      <a:endParaRPr sz="1200">
                        <a:solidFill>
                          <a:schemeClr val="dk1"/>
                        </a:solidFill>
                        <a:latin typeface="Calibri"/>
                        <a:ea typeface="Calibri"/>
                        <a:cs typeface="Calibri"/>
                        <a:sym typeface="Calibri"/>
                      </a:endParaRPr>
                    </a:p>
                  </a:txBody>
                  <a:tcPr marT="45725" marB="45725" marR="91450" marL="91450"/>
                </a:tc>
              </a:tr>
              <a:tr h="261350">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3</a:t>
                      </a:r>
                      <a:endParaRPr/>
                    </a:p>
                  </a:txBody>
                  <a:tcPr marT="45725" marB="45725" marR="91450" marL="91450"/>
                </a:tc>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John D.C. Little</a:t>
                      </a:r>
                      <a:endParaRPr/>
                    </a:p>
                  </a:txBody>
                  <a:tcPr marT="45725" marB="45725" marR="91450" marL="91450"/>
                </a:tc>
              </a:tr>
              <a:tr h="261350">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4</a:t>
                      </a:r>
                      <a:endParaRPr/>
                    </a:p>
                  </a:txBody>
                  <a:tcPr marT="45725" marB="45725" marR="91450" marL="91450"/>
                </a:tc>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George B. Dantzig</a:t>
                      </a:r>
                      <a:endParaRPr/>
                    </a:p>
                  </a:txBody>
                  <a:tcPr marT="45725" marB="45725" marR="91450" marL="91450"/>
                </a:tc>
              </a:tr>
              <a:tr h="261350">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5</a:t>
                      </a:r>
                      <a:endParaRPr/>
                    </a:p>
                  </a:txBody>
                  <a:tcPr marT="45725" marB="45725" marR="91450" marL="91450"/>
                </a:tc>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Richard E. Bellman</a:t>
                      </a:r>
                      <a:endParaRPr/>
                    </a:p>
                  </a:txBody>
                  <a:tcPr marT="45725" marB="45725" marR="91450" marL="91450"/>
                </a:tc>
              </a:tr>
              <a:tr h="261350">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6</a:t>
                      </a:r>
                      <a:endParaRPr/>
                    </a:p>
                  </a:txBody>
                  <a:tcPr marT="45725" marB="45725" marR="91450" marL="91450"/>
                </a:tc>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Andrey Markov</a:t>
                      </a:r>
                      <a:endParaRPr/>
                    </a:p>
                  </a:txBody>
                  <a:tcPr marT="45725" marB="45725" marR="91450" marL="91450"/>
                </a:tc>
              </a:tr>
            </a:tbl>
          </a:graphicData>
        </a:graphic>
      </p:graphicFrame>
      <p:graphicFrame>
        <p:nvGraphicFramePr>
          <p:cNvPr id="980" name="Google Shape;980;p30"/>
          <p:cNvGraphicFramePr/>
          <p:nvPr/>
        </p:nvGraphicFramePr>
        <p:xfrm>
          <a:off x="9372948" y="2264714"/>
          <a:ext cx="3000000" cy="3000000"/>
        </p:xfrm>
        <a:graphic>
          <a:graphicData uri="http://schemas.openxmlformats.org/drawingml/2006/table">
            <a:tbl>
              <a:tblPr bandRow="1" firstRow="1">
                <a:noFill/>
                <a:tableStyleId>{0157BEA7-82FA-4515-A05D-2D9F716986CC}</a:tableStyleId>
              </a:tblPr>
              <a:tblGrid>
                <a:gridCol w="423700"/>
                <a:gridCol w="1591875"/>
              </a:tblGrid>
              <a:tr h="238475">
                <a:tc gridSpan="2">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Aplikasi Sistem</a:t>
                      </a:r>
                      <a:endParaRPr sz="1200">
                        <a:solidFill>
                          <a:schemeClr val="dk1"/>
                        </a:solidFill>
                        <a:latin typeface="Calibri"/>
                        <a:ea typeface="Calibri"/>
                        <a:cs typeface="Calibri"/>
                        <a:sym typeface="Calibri"/>
                      </a:endParaRPr>
                    </a:p>
                  </a:txBody>
                  <a:tcPr marT="45725" marB="45725" marR="91450" marL="91450"/>
                </a:tc>
                <a:tc hMerge="1"/>
              </a:tr>
              <a:tr h="261350">
                <a:tc>
                  <a:txBody>
                    <a:bodyPr/>
                    <a:lstStyle/>
                    <a:p>
                      <a:pPr indent="0" lvl="0" marL="0" marR="0" rtl="0" algn="ctr">
                        <a:spcBef>
                          <a:spcPts val="0"/>
                        </a:spcBef>
                        <a:spcAft>
                          <a:spcPts val="0"/>
                        </a:spcAft>
                        <a:buNone/>
                      </a:pPr>
                      <a:r>
                        <a:rPr b="1" lang="en-US" sz="1200">
                          <a:solidFill>
                            <a:schemeClr val="dk1"/>
                          </a:solidFill>
                          <a:latin typeface="Calibri"/>
                          <a:ea typeface="Calibri"/>
                          <a:cs typeface="Calibri"/>
                          <a:sym typeface="Calibri"/>
                        </a:rPr>
                        <a:t>No</a:t>
                      </a:r>
                      <a:endParaRPr/>
                    </a:p>
                  </a:txBody>
                  <a:tcPr marT="45725" marB="45725" marR="91450" marL="91450"/>
                </a:tc>
                <a:tc>
                  <a:txBody>
                    <a:bodyPr/>
                    <a:lstStyle/>
                    <a:p>
                      <a:pPr indent="0" lvl="0" marL="0" marR="0" rtl="0" algn="ctr">
                        <a:spcBef>
                          <a:spcPts val="0"/>
                        </a:spcBef>
                        <a:spcAft>
                          <a:spcPts val="0"/>
                        </a:spcAft>
                        <a:buNone/>
                      </a:pPr>
                      <a:r>
                        <a:rPr b="1" lang="en-US" sz="1200">
                          <a:solidFill>
                            <a:schemeClr val="dk1"/>
                          </a:solidFill>
                          <a:latin typeface="Calibri"/>
                          <a:ea typeface="Calibri"/>
                          <a:cs typeface="Calibri"/>
                          <a:sym typeface="Calibri"/>
                        </a:rPr>
                        <a:t>Nama</a:t>
                      </a:r>
                      <a:endParaRPr/>
                    </a:p>
                  </a:txBody>
                  <a:tcPr marT="45725" marB="45725" marR="91450" marL="91450"/>
                </a:tc>
              </a:tr>
              <a:tr h="261350">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1</a:t>
                      </a:r>
                      <a:endParaRPr/>
                    </a:p>
                  </a:txBody>
                  <a:tcPr marT="45725" marB="45725" marR="91450" marL="91450"/>
                </a:tc>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Peter Sange</a:t>
                      </a:r>
                      <a:endParaRPr sz="1200">
                        <a:solidFill>
                          <a:schemeClr val="dk1"/>
                        </a:solidFill>
                        <a:latin typeface="Calibri"/>
                        <a:ea typeface="Calibri"/>
                        <a:cs typeface="Calibri"/>
                        <a:sym typeface="Calibri"/>
                      </a:endParaRPr>
                    </a:p>
                  </a:txBody>
                  <a:tcPr marT="45725" marB="45725" marR="91450" marL="91450"/>
                </a:tc>
              </a:tr>
              <a:tr h="261350">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2</a:t>
                      </a:r>
                      <a:endParaRPr/>
                    </a:p>
                  </a:txBody>
                  <a:tcPr marT="45725" marB="45725" marR="91450" marL="91450"/>
                </a:tc>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Peter Chackland</a:t>
                      </a:r>
                      <a:endParaRPr sz="1200">
                        <a:solidFill>
                          <a:schemeClr val="dk1"/>
                        </a:solidFill>
                        <a:latin typeface="Calibri"/>
                        <a:ea typeface="Calibri"/>
                        <a:cs typeface="Calibri"/>
                        <a:sym typeface="Calibri"/>
                      </a:endParaRPr>
                    </a:p>
                  </a:txBody>
                  <a:tcPr marT="45725" marB="45725" marR="91450" marL="91450"/>
                </a:tc>
              </a:tr>
              <a:tr h="261350">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3</a:t>
                      </a:r>
                      <a:endParaRPr/>
                    </a:p>
                  </a:txBody>
                  <a:tcPr marT="45725" marB="45725" marR="91450" marL="91450"/>
                </a:tc>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Kaoru Ishikawa</a:t>
                      </a:r>
                      <a:endParaRPr/>
                    </a:p>
                  </a:txBody>
                  <a:tcPr marT="45725" marB="45725" marR="91450" marL="91450"/>
                </a:tc>
              </a:tr>
              <a:tr h="261350">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4</a:t>
                      </a:r>
                      <a:endParaRPr/>
                    </a:p>
                  </a:txBody>
                  <a:tcPr marT="45725" marB="45725" marR="91450" marL="91450"/>
                </a:tc>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W. Edward Deming</a:t>
                      </a:r>
                      <a:endParaRPr/>
                    </a:p>
                  </a:txBody>
                  <a:tcPr marT="45725" marB="45725" marR="91450" marL="91450"/>
                </a:tc>
              </a:tr>
              <a:tr h="261350">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5</a:t>
                      </a:r>
                      <a:endParaRPr/>
                    </a:p>
                  </a:txBody>
                  <a:tcPr marT="45725" marB="45725" marR="91450" marL="91450"/>
                </a:tc>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Genichi Taguchi</a:t>
                      </a:r>
                      <a:endParaRPr/>
                    </a:p>
                  </a:txBody>
                  <a:tcPr marT="45725" marB="45725" marR="91450" marL="91450"/>
                </a:tc>
              </a:tr>
              <a:tr h="261350">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6</a:t>
                      </a:r>
                      <a:endParaRPr/>
                    </a:p>
                  </a:txBody>
                  <a:tcPr marT="45725" marB="45725" marR="91450" marL="91450"/>
                </a:tc>
                <a:tc>
                  <a:txBody>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Alex Osborn</a:t>
                      </a:r>
                      <a:endParaRPr/>
                    </a:p>
                  </a:txBody>
                  <a:tcPr marT="45725" marB="45725" marR="91450" marL="91450"/>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pic>
        <p:nvPicPr>
          <p:cNvPr id="985" name="Google Shape;985;p31"/>
          <p:cNvPicPr preferRelativeResize="0"/>
          <p:nvPr>
            <p:ph idx="2" type="pic"/>
          </p:nvPr>
        </p:nvPicPr>
        <p:blipFill rotWithShape="1">
          <a:blip r:embed="rId3">
            <a:alphaModFix/>
          </a:blip>
          <a:srcRect b="15004" l="0" r="0" t="15004"/>
          <a:stretch/>
        </p:blipFill>
        <p:spPr>
          <a:xfrm>
            <a:off x="0" y="0"/>
            <a:ext cx="12192000" cy="6408000"/>
          </a:xfrm>
          <a:prstGeom prst="rect">
            <a:avLst/>
          </a:prstGeom>
          <a:noFill/>
          <a:ln>
            <a:noFill/>
          </a:ln>
        </p:spPr>
      </p:pic>
      <p:sp>
        <p:nvSpPr>
          <p:cNvPr id="986" name="Google Shape;986;p31"/>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p>
            <a:pPr indent="0" lvl="0" marL="0" rtl="0" algn="l">
              <a:lnSpc>
                <a:spcPct val="90000"/>
              </a:lnSpc>
              <a:spcBef>
                <a:spcPts val="0"/>
              </a:spcBef>
              <a:spcAft>
                <a:spcPts val="0"/>
              </a:spcAft>
              <a:buNone/>
            </a:pPr>
            <a:r>
              <a:t/>
            </a:r>
            <a:endParaRPr/>
          </a:p>
        </p:txBody>
      </p:sp>
      <p:sp>
        <p:nvSpPr>
          <p:cNvPr id="987" name="Google Shape;987;p31"/>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988" name="Google Shape;988;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TEACH A COURSE</a:t>
            </a:r>
            <a:endParaRPr/>
          </a:p>
        </p:txBody>
      </p:sp>
      <p:sp>
        <p:nvSpPr>
          <p:cNvPr id="989" name="Google Shape;989;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pic>
        <p:nvPicPr>
          <p:cNvPr id="994" name="Google Shape;994;p32"/>
          <p:cNvPicPr preferRelativeResize="0"/>
          <p:nvPr>
            <p:ph idx="2" type="pic"/>
          </p:nvPr>
        </p:nvPicPr>
        <p:blipFill rotWithShape="1">
          <a:blip r:embed="rId3">
            <a:alphaModFix/>
          </a:blip>
          <a:srcRect b="15004" l="0" r="0" t="15004"/>
          <a:stretch/>
        </p:blipFill>
        <p:spPr>
          <a:xfrm>
            <a:off x="0" y="0"/>
            <a:ext cx="12192000" cy="6408000"/>
          </a:xfrm>
          <a:prstGeom prst="rect">
            <a:avLst/>
          </a:prstGeom>
          <a:noFill/>
          <a:ln>
            <a:noFill/>
          </a:ln>
        </p:spPr>
      </p:pic>
      <p:sp>
        <p:nvSpPr>
          <p:cNvPr id="995" name="Google Shape;995;p32"/>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p>
            <a:pPr indent="0" lvl="0" marL="0" rtl="0" algn="l">
              <a:lnSpc>
                <a:spcPct val="90000"/>
              </a:lnSpc>
              <a:spcBef>
                <a:spcPts val="0"/>
              </a:spcBef>
              <a:spcAft>
                <a:spcPts val="0"/>
              </a:spcAft>
              <a:buNone/>
            </a:pPr>
            <a:r>
              <a:t/>
            </a:r>
            <a:endParaRPr/>
          </a:p>
        </p:txBody>
      </p:sp>
      <p:sp>
        <p:nvSpPr>
          <p:cNvPr id="996" name="Google Shape;996;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TEACH A COURSE</a:t>
            </a:r>
            <a:endParaRPr/>
          </a:p>
        </p:txBody>
      </p:sp>
      <p:sp>
        <p:nvSpPr>
          <p:cNvPr id="997" name="Google Shape;99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pic>
        <p:nvPicPr>
          <p:cNvPr id="1002" name="Google Shape;1002;p33"/>
          <p:cNvPicPr preferRelativeResize="0"/>
          <p:nvPr>
            <p:ph idx="2" type="pic"/>
          </p:nvPr>
        </p:nvPicPr>
        <p:blipFill rotWithShape="1">
          <a:blip r:embed="rId3">
            <a:alphaModFix/>
          </a:blip>
          <a:srcRect b="15004" l="0" r="0" t="15004"/>
          <a:stretch/>
        </p:blipFill>
        <p:spPr>
          <a:xfrm>
            <a:off x="0" y="0"/>
            <a:ext cx="12192000" cy="6408000"/>
          </a:xfrm>
          <a:prstGeom prst="rect">
            <a:avLst/>
          </a:prstGeom>
          <a:noFill/>
          <a:ln>
            <a:noFill/>
          </a:ln>
        </p:spPr>
      </p:pic>
      <p:sp>
        <p:nvSpPr>
          <p:cNvPr id="1003" name="Google Shape;1003;p33"/>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p>
            <a:pPr indent="0" lvl="0" marL="0" rtl="0" algn="l">
              <a:lnSpc>
                <a:spcPct val="90000"/>
              </a:lnSpc>
              <a:spcBef>
                <a:spcPts val="0"/>
              </a:spcBef>
              <a:spcAft>
                <a:spcPts val="0"/>
              </a:spcAft>
              <a:buNone/>
            </a:pPr>
            <a:r>
              <a:t/>
            </a:r>
            <a:endParaRPr/>
          </a:p>
        </p:txBody>
      </p:sp>
      <p:sp>
        <p:nvSpPr>
          <p:cNvPr id="1004" name="Google Shape;1004;p33"/>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1005" name="Google Shape;1005;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TEACH A COURSE</a:t>
            </a:r>
            <a:endParaRPr/>
          </a:p>
        </p:txBody>
      </p:sp>
      <p:sp>
        <p:nvSpPr>
          <p:cNvPr id="1006" name="Google Shape;1006;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pic>
        <p:nvPicPr>
          <p:cNvPr id="1011" name="Google Shape;1011;p34"/>
          <p:cNvPicPr preferRelativeResize="0"/>
          <p:nvPr>
            <p:ph idx="2" type="pic"/>
          </p:nvPr>
        </p:nvPicPr>
        <p:blipFill rotWithShape="1">
          <a:blip r:embed="rId3">
            <a:alphaModFix/>
          </a:blip>
          <a:srcRect b="15004" l="0" r="0" t="15004"/>
          <a:stretch/>
        </p:blipFill>
        <p:spPr>
          <a:xfrm>
            <a:off x="0" y="0"/>
            <a:ext cx="12192000" cy="6408000"/>
          </a:xfrm>
          <a:prstGeom prst="rect">
            <a:avLst/>
          </a:prstGeom>
          <a:noFill/>
          <a:ln>
            <a:noFill/>
          </a:ln>
        </p:spPr>
      </p:pic>
      <p:sp>
        <p:nvSpPr>
          <p:cNvPr id="1012" name="Google Shape;1012;p34"/>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p>
            <a:pPr indent="0" lvl="0" marL="0" rtl="0" algn="l">
              <a:lnSpc>
                <a:spcPct val="90000"/>
              </a:lnSpc>
              <a:spcBef>
                <a:spcPts val="0"/>
              </a:spcBef>
              <a:spcAft>
                <a:spcPts val="0"/>
              </a:spcAft>
              <a:buNone/>
            </a:pPr>
            <a:r>
              <a:t/>
            </a:r>
            <a:endParaRPr/>
          </a:p>
        </p:txBody>
      </p:sp>
      <p:sp>
        <p:nvSpPr>
          <p:cNvPr id="1013" name="Google Shape;1013;p34"/>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1014" name="Google Shape;1014;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TEACH A COURSE</a:t>
            </a:r>
            <a:endParaRPr/>
          </a:p>
        </p:txBody>
      </p:sp>
      <p:sp>
        <p:nvSpPr>
          <p:cNvPr id="1015" name="Google Shape;1015;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pic>
        <p:nvPicPr>
          <p:cNvPr id="1020" name="Google Shape;1020;p35"/>
          <p:cNvPicPr preferRelativeResize="0"/>
          <p:nvPr>
            <p:ph idx="2" type="pic"/>
          </p:nvPr>
        </p:nvPicPr>
        <p:blipFill rotWithShape="1">
          <a:blip r:embed="rId3">
            <a:alphaModFix/>
          </a:blip>
          <a:srcRect b="15004" l="0" r="0" t="15004"/>
          <a:stretch/>
        </p:blipFill>
        <p:spPr>
          <a:xfrm>
            <a:off x="0" y="0"/>
            <a:ext cx="12192000" cy="6408000"/>
          </a:xfrm>
          <a:prstGeom prst="rect">
            <a:avLst/>
          </a:prstGeom>
          <a:noFill/>
          <a:ln>
            <a:noFill/>
          </a:ln>
        </p:spPr>
      </p:pic>
      <p:sp>
        <p:nvSpPr>
          <p:cNvPr id="1021" name="Google Shape;1021;p35"/>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p>
            <a:pPr indent="0" lvl="0" marL="0" rtl="0" algn="l">
              <a:lnSpc>
                <a:spcPct val="90000"/>
              </a:lnSpc>
              <a:spcBef>
                <a:spcPts val="0"/>
              </a:spcBef>
              <a:spcAft>
                <a:spcPts val="0"/>
              </a:spcAft>
              <a:buNone/>
            </a:pPr>
            <a:r>
              <a:t/>
            </a:r>
            <a:endParaRPr/>
          </a:p>
        </p:txBody>
      </p:sp>
      <p:sp>
        <p:nvSpPr>
          <p:cNvPr id="1022" name="Google Shape;1022;p35"/>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1023" name="Google Shape;1023;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TEACH A COURSE</a:t>
            </a:r>
            <a:endParaRPr/>
          </a:p>
        </p:txBody>
      </p:sp>
      <p:sp>
        <p:nvSpPr>
          <p:cNvPr id="1024" name="Google Shape;1024;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36"/>
          <p:cNvSpPr/>
          <p:nvPr>
            <p:ph idx="2" type="pic"/>
          </p:nvPr>
        </p:nvSpPr>
        <p:spPr>
          <a:xfrm>
            <a:off x="0" y="0"/>
            <a:ext cx="12192000" cy="6408000"/>
          </a:xfrm>
          <a:prstGeom prst="rect">
            <a:avLst/>
          </a:prstGeom>
          <a:noFill/>
          <a:ln>
            <a:noFill/>
          </a:ln>
        </p:spPr>
      </p:sp>
      <p:sp>
        <p:nvSpPr>
          <p:cNvPr id="1030" name="Google Shape;1030;p36"/>
          <p:cNvSpPr txBox="1"/>
          <p:nvPr>
            <p:ph type="title"/>
          </p:nvPr>
        </p:nvSpPr>
        <p:spPr>
          <a:xfrm>
            <a:off x="0" y="0"/>
            <a:ext cx="12192000" cy="1296537"/>
          </a:xfrm>
          <a:prstGeom prst="rect">
            <a:avLst/>
          </a:prstGeom>
          <a:solidFill>
            <a:srgbClr val="B3C6E7">
              <a:alpha val="49803"/>
            </a:srgbClr>
          </a:solidFill>
          <a:ln>
            <a:noFill/>
          </a:ln>
        </p:spPr>
        <p:txBody>
          <a:bodyPr anchorCtr="0" anchor="ctr" bIns="45700" lIns="684000" spcFirstLastPara="1" rIns="91425" wrap="square" tIns="108000">
            <a:noAutofit/>
          </a:bodyPr>
          <a:lstStyle/>
          <a:p>
            <a:pPr indent="0" lvl="0" marL="0" rtl="0" algn="l">
              <a:lnSpc>
                <a:spcPct val="90000"/>
              </a:lnSpc>
              <a:spcBef>
                <a:spcPts val="0"/>
              </a:spcBef>
              <a:spcAft>
                <a:spcPts val="0"/>
              </a:spcAft>
              <a:buNone/>
            </a:pPr>
            <a:r>
              <a:t/>
            </a:r>
            <a:endParaRPr/>
          </a:p>
        </p:txBody>
      </p:sp>
      <p:sp>
        <p:nvSpPr>
          <p:cNvPr id="1031" name="Google Shape;1031;p36"/>
          <p:cNvSpPr txBox="1"/>
          <p:nvPr>
            <p:ph idx="1" type="body"/>
          </p:nvPr>
        </p:nvSpPr>
        <p:spPr>
          <a:xfrm>
            <a:off x="747981" y="1812759"/>
            <a:ext cx="10905457" cy="4088418"/>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1032" name="Google Shape;103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TEACH A COURSE</a:t>
            </a:r>
            <a:endParaRPr/>
          </a:p>
        </p:txBody>
      </p:sp>
      <p:sp>
        <p:nvSpPr>
          <p:cNvPr id="1033" name="Google Shape;103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37"/>
          <p:cNvSpPr txBox="1"/>
          <p:nvPr>
            <p:ph type="title"/>
          </p:nvPr>
        </p:nvSpPr>
        <p:spPr>
          <a:xfrm>
            <a:off x="1096963" y="4892675"/>
            <a:ext cx="10113962" cy="744538"/>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None/>
            </a:pPr>
            <a:r>
              <a:rPr lang="en-US"/>
              <a:t>Thank You!</a:t>
            </a:r>
            <a:endParaRPr/>
          </a:p>
        </p:txBody>
      </p:sp>
      <p:pic>
        <p:nvPicPr>
          <p:cNvPr id="1040" name="Google Shape;1040;p37"/>
          <p:cNvPicPr preferRelativeResize="0"/>
          <p:nvPr>
            <p:ph idx="2" type="pic"/>
          </p:nvPr>
        </p:nvPicPr>
        <p:blipFill rotWithShape="1">
          <a:blip r:embed="rId3">
            <a:alphaModFix/>
          </a:blip>
          <a:srcRect b="23474" l="0" r="0" t="23474"/>
          <a:stretch/>
        </p:blipFill>
        <p:spPr>
          <a:xfrm>
            <a:off x="0" y="439738"/>
            <a:ext cx="10696575" cy="4016375"/>
          </a:xfrm>
          <a:prstGeom prst="rect">
            <a:avLst/>
          </a:prstGeom>
          <a:noFill/>
          <a:ln>
            <a:noFill/>
          </a:ln>
        </p:spPr>
      </p:pic>
      <p:sp>
        <p:nvSpPr>
          <p:cNvPr id="1041" name="Google Shape;1041;p37"/>
          <p:cNvSpPr txBox="1"/>
          <p:nvPr>
            <p:ph idx="1" type="body"/>
          </p:nvPr>
        </p:nvSpPr>
        <p:spPr>
          <a:xfrm>
            <a:off x="1096963" y="5808663"/>
            <a:ext cx="10113962" cy="609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600"/>
              <a:buNone/>
            </a:pPr>
            <a:r>
              <a:t/>
            </a:r>
            <a:endParaRPr/>
          </a:p>
        </p:txBody>
      </p:sp>
      <p:pic>
        <p:nvPicPr>
          <p:cNvPr id="1042" name="Google Shape;1042;p37"/>
          <p:cNvPicPr preferRelativeResize="0"/>
          <p:nvPr/>
        </p:nvPicPr>
        <p:blipFill rotWithShape="1">
          <a:blip r:embed="rId4">
            <a:alphaModFix/>
          </a:blip>
          <a:srcRect b="0" l="0" r="0" t="0"/>
          <a:stretch/>
        </p:blipFill>
        <p:spPr>
          <a:xfrm>
            <a:off x="8232775" y="250825"/>
            <a:ext cx="2574925" cy="776288"/>
          </a:xfrm>
          <a:prstGeom prst="rect">
            <a:avLst/>
          </a:prstGeom>
          <a:noFill/>
          <a:ln>
            <a:noFill/>
          </a:ln>
        </p:spPr>
      </p:pic>
      <p:pic>
        <p:nvPicPr>
          <p:cNvPr id="1043" name="Google Shape;1043;p37"/>
          <p:cNvPicPr preferRelativeResize="0"/>
          <p:nvPr/>
        </p:nvPicPr>
        <p:blipFill rotWithShape="1">
          <a:blip r:embed="rId5">
            <a:alphaModFix/>
          </a:blip>
          <a:srcRect b="0" l="0" r="0" t="0"/>
          <a:stretch/>
        </p:blipFill>
        <p:spPr>
          <a:xfrm>
            <a:off x="11022013" y="106363"/>
            <a:ext cx="1062037" cy="11842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2021-02-19T02:52:20Z</dcterms:created>
  <dc:creator>Fredy Sumasto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